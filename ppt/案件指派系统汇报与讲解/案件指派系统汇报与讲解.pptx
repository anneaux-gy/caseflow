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Default Extension="png" ContentType="image/png"/>
  <Override PartName="/ppt/slides/slide3.xml" ContentType="application/vnd.openxmlformats-officedocument.presentationml.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s/charts/chart1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15" Type="http://schemas.openxmlformats.org/officeDocument/2006/relationships/slide" Target="slides/slide15.xml" /><Relationship Id="rId3" Type="http://schemas.openxmlformats.org/officeDocument/2006/relationships/slide" Target="slides/slide3.xml" /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Relationship Id="rId18" Type="http://schemas.openxmlformats.org/officeDocument/2006/relationships/presProps" Target="presProps.xml" /><Relationship Id="rId1" Type="http://schemas.openxmlformats.org/officeDocument/2006/relationships/slide" Target="slides/slide1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6" Type="http://schemas.openxmlformats.org/officeDocument/2006/relationships/slide" Target="slides/slide16.xml" /><Relationship Id="rId13" Type="http://schemas.openxmlformats.org/officeDocument/2006/relationships/slide" Target="slides/slide13.xml" /><Relationship Id="rId14" Type="http://schemas.openxmlformats.org/officeDocument/2006/relationships/slide" Target="slides/slide14.xml" /><Relationship Id="rId17" Type="http://schemas.openxmlformats.org/officeDocument/2006/relationships/notesMaster" Target="notesMasters/notesMaster1.xml" /><Relationship Id="rId19" Type="http://schemas.openxmlformats.org/officeDocument/2006/relationships/tableStyles" Target="tableStyles.xml" /><Relationship Id="rId2" Type="http://schemas.openxmlformats.org/officeDocument/2006/relationships/slide" Target="slides/slide2.xml" /><Relationship Id="rId20" Type="http://schemas.openxmlformats.org/officeDocument/2006/relationships/viewProps" Target="viewProps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2.svg" /><Relationship Id="rId1" Type="http://schemas.openxmlformats.org/officeDocument/2006/relationships/image" Target="media/image1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2.sv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4.svg" /><Relationship Id="rId1" Type="http://schemas.openxmlformats.org/officeDocument/2006/relationships/image" Target="media/image23.png" /><Relationship Id="rId3" Type="http://schemas.openxmlformats.org/officeDocument/2006/relationships/image" Target="media/image2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4" Type="http://schemas.openxmlformats.org/officeDocument/2006/relationships/image" Target="media/image27.svg" /><Relationship Id="rId1" Type="http://schemas.openxmlformats.org/officeDocument/2006/relationships/image" Target="media/image24.svg" /><Relationship Id="rId2" Type="http://schemas.openxmlformats.org/officeDocument/2006/relationships/image" Target="media/image25.svg" /><Relationship Id="rId3" Type="http://schemas.openxmlformats.org/officeDocument/2006/relationships/image" Target="media/image26.svg" /><Relationship Id="rId5" Type="http://schemas.openxmlformats.org/officeDocument/2006/relationships/image" Target="media/image28.svg" /><Relationship Id="rId6" Type="http://schemas.openxmlformats.org/officeDocument/2006/relationships/image" Target="media/image29.svg" /><Relationship Id="rId7" Type="http://schemas.openxmlformats.org/officeDocument/2006/relationships/image" Target="media/image23.png" /></Relationships>
</file>

<file path=ppt/slides/_rels/slide5.xml.rels><?xml version="1.0" encoding="UTF-8" standalone="yes"?><Relationships xmlns="http://schemas.openxmlformats.org/package/2006/relationships"><Relationship Id="rId4" Type="http://schemas.openxmlformats.org/officeDocument/2006/relationships/image" Target="media/image33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0.svg" /><Relationship Id="rId2" Type="http://schemas.openxmlformats.org/officeDocument/2006/relationships/image" Target="media/image31.svg" /><Relationship Id="rId3" Type="http://schemas.openxmlformats.org/officeDocument/2006/relationships/image" Target="media/image32.svg" /><Relationship Id="rId5" Type="http://schemas.openxmlformats.org/officeDocument/2006/relationships/image" Target="media/image14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4.png" /><Relationship Id="rId2" Type="http://schemas.openxmlformats.org/officeDocument/2006/relationships/image" Target="media/image4.svg" /><Relationship Id="rId3" Type="http://schemas.openxmlformats.org/officeDocument/2006/relationships/image" Target="media/image2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5.svg" /><Relationship Id="rId2" Type="http://schemas.openxmlformats.org/officeDocument/2006/relationships/image" Target="media/image36.svg" /><Relationship Id="rId3" Type="http://schemas.openxmlformats.org/officeDocument/2006/relationships/image" Target="media/image37.svg" /><Relationship Id="rId4" Type="http://schemas.openxmlformats.org/officeDocument/2006/relationships/image" Target="media/image38.png" /></Relationships>
</file>

<file path=ppt/slides/_rels/slide8.xml.rels><?xml version="1.0" encoding="UTF-8" standalone="yes"?><Relationships xmlns="http://schemas.openxmlformats.org/package/2006/relationships"><Relationship Id="rId2" Type="http://schemas.openxmlformats.org/officeDocument/2006/relationships/image" Target="media/image27.svg" /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40.png" /><Relationship Id="rId1" Type="http://schemas.openxmlformats.org/officeDocument/2006/relationships/image" Target="media/image39.svg" /><Relationship Id="rId4" Type="http://schemas.openxmlformats.org/officeDocument/2006/relationships/image" Target="media/image18.svg" /></Relationships>
</file>

<file path=ppt/slides/_rels/slide9.xml.rels><?xml version="1.0" encoding="UTF-8" standalone="yes"?><Relationships xmlns="http://schemas.openxmlformats.org/package/2006/relationships"><Relationship Id="rId3" Type="http://schemas.openxmlformats.org/officeDocument/2006/relationships/image" Target="media/image42.svg" /><Relationship Id="rId0" Type="http://schemas.openxmlformats.org/officeDocument/2006/relationships/chart" Target="charts/chart1.xml" /><Relationship Id="rId1" Type="http://schemas.openxmlformats.org/officeDocument/2006/relationships/slideLayout" Target="../slideLayouts/slideLayout1.xml" /><Relationship Id="rId2" Type="http://schemas.openxmlformats.org/officeDocument/2006/relationships/image" Target="media/image41.svg" /><Relationship Id="rId4" Type="http://schemas.openxmlformats.org/officeDocument/2006/relationships/image" Target="media/image43.svg" /><Relationship Id="rId5" Type="http://schemas.openxmlformats.org/officeDocument/2006/relationships/image" Target="media/image2.sv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png" /><Relationship Id="rId2" Type="http://schemas.openxmlformats.org/officeDocument/2006/relationships/image" Target="media/image4.svg" /><Relationship Id="rId3" Type="http://schemas.openxmlformats.org/officeDocument/2006/relationships/image" Target="media/image2.svg" /></Relationships>
</file>

<file path=ppt/slides/_rels/slide11.xml.rels><?xml version="1.0" encoding="UTF-8" standalone="yes"?><Relationships xmlns="http://schemas.openxmlformats.org/package/2006/relationships"><Relationship Id="rId2" Type="http://schemas.openxmlformats.org/officeDocument/2006/relationships/image" Target="media/image6.svg" /><Relationship Id="rId0" Type="http://schemas.openxmlformats.org/officeDocument/2006/relationships/slideLayout" Target="../slideLayouts/slideLayout1.xml" /><Relationship Id="rId4" Type="http://schemas.openxmlformats.org/officeDocument/2006/relationships/image" Target="media/image8.png" /><Relationship Id="rId1" Type="http://schemas.openxmlformats.org/officeDocument/2006/relationships/image" Target="media/image5.svg" /><Relationship Id="rId3" Type="http://schemas.openxmlformats.org/officeDocument/2006/relationships/image" Target="media/image7.sv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9.svg" /><Relationship Id="rId3" Type="http://schemas.openxmlformats.org/officeDocument/2006/relationships/image" Target="media/image11.svg" /><Relationship Id="rId2" Type="http://schemas.openxmlformats.org/officeDocument/2006/relationships/image" Target="media/image10.svg" /><Relationship Id="rId4" Type="http://schemas.openxmlformats.org/officeDocument/2006/relationships/image" Target="media/image12.sv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3.svg" /><Relationship Id="rId2" Type="http://schemas.openxmlformats.org/officeDocument/2006/relationships/image" Target="media/image14.svg" /><Relationship Id="rId3" Type="http://schemas.openxmlformats.org/officeDocument/2006/relationships/image" Target="media/image15.png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16.pn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4.svg" /><Relationship Id="rId3" Type="http://schemas.openxmlformats.org/officeDocument/2006/relationships/image" Target="media/image2.svg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4" Type="http://schemas.openxmlformats.org/officeDocument/2006/relationships/image" Target="media/image19.svg" /><Relationship Id="rId2" Type="http://schemas.openxmlformats.org/officeDocument/2006/relationships/image" Target="media/image16.png" /><Relationship Id="rId1" Type="http://schemas.openxmlformats.org/officeDocument/2006/relationships/image" Target="media/image17.svg" /><Relationship Id="rId3" Type="http://schemas.openxmlformats.org/officeDocument/2006/relationships/image" Target="media/image18.svg" /><Relationship Id="rId5" Type="http://schemas.openxmlformats.org/officeDocument/2006/relationships/image" Target="media/image20.svg" /></Relationships>
</file>

<file path=ppt/slides/_rels/slide16.xml.rels><?xml version="1.0" encoding="UTF-8" standalone="yes"?><Relationships xmlns="http://schemas.openxmlformats.org/package/2006/relationships"><Relationship Id="rId2" Type="http://schemas.openxmlformats.org/officeDocument/2006/relationships/image" Target="media/image2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1.svg" /></Relationships>
</file>

<file path=ppt/slides/charts/chart1.xml><?xml version="1.0" encoding="utf-8"?>
<c:chartSpace xmlns:a="http://schemas.openxmlformats.org/drawingml/2006/main" xmlns:c="http://schemas.openxmlformats.org/drawingml/2006/chart">
  <c:chart>
    <c:plotArea>
      <c:barChart>
        <c:barDir val="bar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天数</c:v>
                </c:pt>
              </c:strCache>
            </c:strRef>
          </c:tx>
          <c:spPr>
            <a:solidFill>
              <a:srgbClr val="C8A45C"/>
            </a:solidFill>
          </c:spPr>
          <c:dLbls>
            <c:txPr>
              <a:bodyPr/>
              <a:p>
                <a:pPr>
                  <a:defRPr sz="750">
                    <a:solidFill>
                      <a:srgbClr val="FFFFFF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5"/>
                <c:pt idx="0">
                  <c:v>简易程序</c:v>
                </c:pt>
                <c:pt idx="1">
                  <c:v>一般程序</c:v>
                </c:pt>
                <c:pt idx="2">
                  <c:v>调查取证</c:v>
                </c:pt>
                <c:pt idx="3">
                  <c:v>办案期限</c:v>
                </c:pt>
                <c:pt idx="4">
                  <c:v>延期上限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3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60</c:v>
                </c:pt>
              </c:numCache>
            </c:numRef>
          </c:val>
        </c:ser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8FB0D9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l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8FB0D9"/>
                </a:solidFill>
              </a:defRPr>
            </a:pPr>
          </a:p>
        </c:txPr>
        <c:crossAx val="89736801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dispBlanksAs val="gap"/>
  </c:chart>
</c:chartSpace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 style={{ width: 1280, height: 720, position: 'relative', background: 'linear-gradient(135deg, #12294A 0%, #1B4A8C 100%)', overflow: 'hidden' }}&gt;&#10;    {/* 背景装饰：右侧警徽光环 */}&#10;    &lt;Box style={{ position: 'absolute', right: -120, top: -80, width: 620, height: 620, borderRadius: 310, background: 'radial-gradient(circle, rgba(200,164,92,0.20) 0%, rgba(200,164,92,0) 70%)' }} /&gt;&#10;    &lt;Box style={{ position: 'absolute', right: 60, bottom: -60, width: 360, height: 360, borderRadius: 180, background: 'rgba(46,107,176,0.35)' }} /&gt;&#10;    &lt;svg width={1280} height={720} viewBox='0 0 1280 720' style={{ position: 'absolute', left: 0, top: 0 }}&gt;&#10;        &lt;g fill='none' stroke='#C8A45C' strokeWidth='1' opacity='0.18'&gt;&#10;            &lt;circle cx='1050' cy='330' r='210' /&gt;&#10;            &lt;circle cx='1050' cy='330' r='265' /&gt;&#10;            &lt;circle cx='1050' cy='330' r='320' /&gt;&#10;        &lt;/g&gt;&#10;        &lt;g stroke='#FFFFFF' strokeWidth='1' opacity='0.06'&gt;&#10;            &lt;line x1='0' y1='180' x2='1280' y2='180' /&gt;&#10;            &lt;line x1='0' y1='540' x2='1280' y2='540' /&gt;&#10;        &lt;/g&gt;&#10;    &lt;/svg&gt;&#10;    {/* 警徽印记 L3 */}&#10;    &lt;Box style={{ position: 'absolute', left: 96, top: 118, flexDirection: 'row', alignItems: 'center', gap: 16 }}&gt;&#10;        &lt;Box style={{ width: 54, height: 54, borderRadius: 27, border: '2px solid #C8A45C', justifyContent: 'center', alignItems: 'center' }}&gt;&#10;            &lt;FAIcon name='shield' style={{ fill: '#C8A45C', width: 28, height: 28 }} /&gt;&#10;        &lt;/Box&gt;&#10;        &lt;Box style={{ width: 3, height: 34, background: '#C8A45C' }} /&gt;&#10;        &lt;Text style={{ fontSize: 20, color: '#C8A45C', letterSpacing: 4 }}&gt;POLICE CASE FLOW&lt;/Text&gt;&#10;    &lt;/Box&gt;&#10;    {/* 主标题 */}&#10;    &lt;Box style={{ position: 'absolute', left: 96, top: 236, width: 760, flexDirection: 'column' }}&gt;&#10;        &lt;Text style={{ fontSize: 72, fontWeight: 'bold', color: '#FFFFFF', lineHeight: 1.16, letterSpacing: 4 }}&gt;案件指派系统&lt;/Text&gt;&#10;        &lt;Box style={{ width: 140, height: 6, background: '#C8A45C', marginTop: 26, marginBottom: 26 }} /&gt;&#10;        &lt;Text style={{ fontSize: 26, color: '#C9D6E8', lineHeight: 1.6 }}&gt;收案 · 指派 · 盯办 · 办结　全链路闭环管理&lt;/Text&gt;&#10;    &lt;/Box&gt;&#10;    {/* 底部信息 */}&#10;    &lt;Box style={{ position: 'absolute', left: 96, bottom: 96, flexDirection: 'column' }}&gt;&#10;        &lt;Text style={{ fontSize: 20, color: '#FFFFFF' }}&gt;功能汇报 ｜ 使用讲解&lt;/Text&gt;&#10;        &lt;Text style={{ fontSize: 16, color: '#8A94A6', marginTop: 10 }}&gt;案件管理中心　·　演示数据　·　2026-10&lt;/Text&gt;&#10;    &lt;/Box&gt;&#10;    &lt;Box style={{ position: 'absolute', right: 96, bottom: 96, flexDirection: 'column', alignItems: 'flex-end' }}&gt;&#10;        &lt;Text style={{ fontSize: 64, fontWeight: 'bold', color: '#FFFFFF', opacity: 0.9, lineHeight: 1 }}&gt;16&lt;/Text&gt;&#10;        &lt;Text style={{ fontSize: 14, color: '#8A94A6', marginTop: 8 }}&gt;页　·　四章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2294A"/>
              </a:gs>
              <a:gs pos="100000">
                <a:srgbClr val="1B4A8C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7429500" y="-762000"/>
            <a:ext cx="5905500" cy="5905500"/>
          </a:xfrm>
          <a:custGeom>
            <a:pathLst>
              <a:path w="620" h="620">
                <a:moveTo>
                  <a:pt x="500" y="555"/>
                </a:moveTo>
                <a:lnTo>
                  <a:pt x="495" y="558"/>
                </a:lnTo>
                <a:lnTo>
                  <a:pt x="489" y="563"/>
                </a:lnTo>
                <a:lnTo>
                  <a:pt x="483" y="567"/>
                </a:lnTo>
                <a:lnTo>
                  <a:pt x="477" y="571"/>
                </a:lnTo>
                <a:lnTo>
                  <a:pt x="471" y="575"/>
                </a:lnTo>
                <a:lnTo>
                  <a:pt x="464" y="579"/>
                </a:lnTo>
                <a:lnTo>
                  <a:pt x="458" y="583"/>
                </a:lnTo>
                <a:lnTo>
                  <a:pt x="451" y="586"/>
                </a:lnTo>
                <a:lnTo>
                  <a:pt x="444" y="589"/>
                </a:lnTo>
                <a:lnTo>
                  <a:pt x="438" y="593"/>
                </a:lnTo>
                <a:lnTo>
                  <a:pt x="431" y="596"/>
                </a:lnTo>
                <a:lnTo>
                  <a:pt x="424" y="598"/>
                </a:lnTo>
                <a:lnTo>
                  <a:pt x="417" y="601"/>
                </a:lnTo>
                <a:lnTo>
                  <a:pt x="409" y="604"/>
                </a:lnTo>
                <a:lnTo>
                  <a:pt x="402" y="606"/>
                </a:lnTo>
                <a:lnTo>
                  <a:pt x="395" y="608"/>
                </a:lnTo>
                <a:lnTo>
                  <a:pt x="387" y="610"/>
                </a:lnTo>
                <a:lnTo>
                  <a:pt x="380" y="612"/>
                </a:lnTo>
                <a:lnTo>
                  <a:pt x="372" y="614"/>
                </a:lnTo>
                <a:lnTo>
                  <a:pt x="365" y="615"/>
                </a:lnTo>
                <a:lnTo>
                  <a:pt x="357" y="616"/>
                </a:lnTo>
                <a:lnTo>
                  <a:pt x="349" y="618"/>
                </a:lnTo>
                <a:lnTo>
                  <a:pt x="342" y="618"/>
                </a:lnTo>
                <a:lnTo>
                  <a:pt x="334" y="619"/>
                </a:lnTo>
                <a:lnTo>
                  <a:pt x="326" y="620"/>
                </a:lnTo>
                <a:lnTo>
                  <a:pt x="318" y="620"/>
                </a:lnTo>
                <a:lnTo>
                  <a:pt x="310" y="620"/>
                </a:lnTo>
                <a:lnTo>
                  <a:pt x="302" y="620"/>
                </a:lnTo>
                <a:lnTo>
                  <a:pt x="294" y="620"/>
                </a:lnTo>
                <a:lnTo>
                  <a:pt x="286" y="619"/>
                </a:lnTo>
                <a:lnTo>
                  <a:pt x="278" y="618"/>
                </a:lnTo>
                <a:lnTo>
                  <a:pt x="271" y="618"/>
                </a:lnTo>
                <a:lnTo>
                  <a:pt x="263" y="616"/>
                </a:lnTo>
                <a:lnTo>
                  <a:pt x="255" y="615"/>
                </a:lnTo>
                <a:lnTo>
                  <a:pt x="248" y="614"/>
                </a:lnTo>
                <a:lnTo>
                  <a:pt x="240" y="612"/>
                </a:lnTo>
                <a:lnTo>
                  <a:pt x="233" y="610"/>
                </a:lnTo>
                <a:lnTo>
                  <a:pt x="225" y="608"/>
                </a:lnTo>
                <a:lnTo>
                  <a:pt x="218" y="606"/>
                </a:lnTo>
                <a:lnTo>
                  <a:pt x="211" y="604"/>
                </a:lnTo>
                <a:lnTo>
                  <a:pt x="203" y="601"/>
                </a:lnTo>
                <a:lnTo>
                  <a:pt x="196" y="598"/>
                </a:lnTo>
                <a:lnTo>
                  <a:pt x="189" y="596"/>
                </a:lnTo>
                <a:lnTo>
                  <a:pt x="182" y="593"/>
                </a:lnTo>
                <a:lnTo>
                  <a:pt x="176" y="589"/>
                </a:lnTo>
                <a:lnTo>
                  <a:pt x="169" y="586"/>
                </a:lnTo>
                <a:lnTo>
                  <a:pt x="162" y="583"/>
                </a:lnTo>
                <a:lnTo>
                  <a:pt x="156" y="579"/>
                </a:lnTo>
                <a:lnTo>
                  <a:pt x="149" y="575"/>
                </a:lnTo>
                <a:lnTo>
                  <a:pt x="143" y="571"/>
                </a:lnTo>
                <a:lnTo>
                  <a:pt x="137" y="567"/>
                </a:lnTo>
                <a:lnTo>
                  <a:pt x="131" y="563"/>
                </a:lnTo>
                <a:lnTo>
                  <a:pt x="125" y="558"/>
                </a:lnTo>
                <a:lnTo>
                  <a:pt x="119" y="554"/>
                </a:lnTo>
                <a:lnTo>
                  <a:pt x="113" y="549"/>
                </a:lnTo>
                <a:lnTo>
                  <a:pt x="107" y="544"/>
                </a:lnTo>
                <a:lnTo>
                  <a:pt x="102" y="539"/>
                </a:lnTo>
                <a:lnTo>
                  <a:pt x="96" y="534"/>
                </a:lnTo>
                <a:lnTo>
                  <a:pt x="91" y="529"/>
                </a:lnTo>
                <a:lnTo>
                  <a:pt x="86" y="524"/>
                </a:lnTo>
                <a:lnTo>
                  <a:pt x="81" y="518"/>
                </a:lnTo>
                <a:lnTo>
                  <a:pt x="76" y="513"/>
                </a:lnTo>
                <a:lnTo>
                  <a:pt x="71" y="507"/>
                </a:lnTo>
                <a:lnTo>
                  <a:pt x="66" y="501"/>
                </a:lnTo>
                <a:lnTo>
                  <a:pt x="62" y="495"/>
                </a:lnTo>
                <a:lnTo>
                  <a:pt x="57" y="489"/>
                </a:lnTo>
                <a:lnTo>
                  <a:pt x="53" y="483"/>
                </a:lnTo>
                <a:lnTo>
                  <a:pt x="49" y="477"/>
                </a:lnTo>
                <a:lnTo>
                  <a:pt x="45" y="471"/>
                </a:lnTo>
                <a:lnTo>
                  <a:pt x="41" y="464"/>
                </a:lnTo>
                <a:lnTo>
                  <a:pt x="37" y="458"/>
                </a:lnTo>
                <a:lnTo>
                  <a:pt x="34" y="451"/>
                </a:lnTo>
                <a:lnTo>
                  <a:pt x="31" y="444"/>
                </a:lnTo>
                <a:lnTo>
                  <a:pt x="27" y="438"/>
                </a:lnTo>
                <a:lnTo>
                  <a:pt x="24" y="431"/>
                </a:lnTo>
                <a:lnTo>
                  <a:pt x="22" y="424"/>
                </a:lnTo>
                <a:lnTo>
                  <a:pt x="19" y="417"/>
                </a:lnTo>
                <a:lnTo>
                  <a:pt x="16" y="409"/>
                </a:lnTo>
                <a:lnTo>
                  <a:pt x="14" y="402"/>
                </a:lnTo>
                <a:lnTo>
                  <a:pt x="12" y="395"/>
                </a:lnTo>
                <a:lnTo>
                  <a:pt x="10" y="387"/>
                </a:lnTo>
                <a:lnTo>
                  <a:pt x="8" y="380"/>
                </a:lnTo>
                <a:lnTo>
                  <a:pt x="6" y="372"/>
                </a:lnTo>
                <a:lnTo>
                  <a:pt x="5" y="365"/>
                </a:lnTo>
                <a:lnTo>
                  <a:pt x="4" y="357"/>
                </a:lnTo>
                <a:lnTo>
                  <a:pt x="2" y="349"/>
                </a:lnTo>
                <a:lnTo>
                  <a:pt x="2" y="342"/>
                </a:lnTo>
                <a:lnTo>
                  <a:pt x="1" y="334"/>
                </a:lnTo>
                <a:lnTo>
                  <a:pt x="0" y="326"/>
                </a:lnTo>
                <a:lnTo>
                  <a:pt x="0" y="318"/>
                </a:lnTo>
                <a:lnTo>
                  <a:pt x="0" y="310"/>
                </a:lnTo>
                <a:lnTo>
                  <a:pt x="0" y="302"/>
                </a:lnTo>
                <a:lnTo>
                  <a:pt x="0" y="294"/>
                </a:lnTo>
                <a:lnTo>
                  <a:pt x="1" y="286"/>
                </a:lnTo>
                <a:lnTo>
                  <a:pt x="2" y="278"/>
                </a:lnTo>
                <a:lnTo>
                  <a:pt x="2" y="271"/>
                </a:lnTo>
                <a:lnTo>
                  <a:pt x="4" y="263"/>
                </a:lnTo>
                <a:lnTo>
                  <a:pt x="5" y="255"/>
                </a:lnTo>
                <a:lnTo>
                  <a:pt x="6" y="248"/>
                </a:lnTo>
                <a:lnTo>
                  <a:pt x="8" y="240"/>
                </a:lnTo>
                <a:lnTo>
                  <a:pt x="10" y="233"/>
                </a:lnTo>
                <a:lnTo>
                  <a:pt x="12" y="225"/>
                </a:lnTo>
                <a:lnTo>
                  <a:pt x="14" y="218"/>
                </a:lnTo>
                <a:lnTo>
                  <a:pt x="16" y="211"/>
                </a:lnTo>
                <a:lnTo>
                  <a:pt x="19" y="203"/>
                </a:lnTo>
                <a:lnTo>
                  <a:pt x="22" y="196"/>
                </a:lnTo>
                <a:lnTo>
                  <a:pt x="24" y="189"/>
                </a:lnTo>
                <a:lnTo>
                  <a:pt x="27" y="182"/>
                </a:lnTo>
                <a:lnTo>
                  <a:pt x="31" y="176"/>
                </a:lnTo>
                <a:lnTo>
                  <a:pt x="34" y="169"/>
                </a:lnTo>
                <a:lnTo>
                  <a:pt x="37" y="162"/>
                </a:lnTo>
                <a:lnTo>
                  <a:pt x="41" y="156"/>
                </a:lnTo>
                <a:lnTo>
                  <a:pt x="45" y="149"/>
                </a:lnTo>
                <a:lnTo>
                  <a:pt x="49" y="143"/>
                </a:lnTo>
                <a:lnTo>
                  <a:pt x="53" y="137"/>
                </a:lnTo>
                <a:lnTo>
                  <a:pt x="57" y="131"/>
                </a:lnTo>
                <a:lnTo>
                  <a:pt x="62" y="125"/>
                </a:lnTo>
                <a:lnTo>
                  <a:pt x="66" y="119"/>
                </a:lnTo>
                <a:lnTo>
                  <a:pt x="71" y="113"/>
                </a:lnTo>
                <a:lnTo>
                  <a:pt x="76" y="107"/>
                </a:lnTo>
                <a:lnTo>
                  <a:pt x="81" y="102"/>
                </a:lnTo>
                <a:lnTo>
                  <a:pt x="86" y="96"/>
                </a:lnTo>
                <a:lnTo>
                  <a:pt x="91" y="91"/>
                </a:lnTo>
                <a:lnTo>
                  <a:pt x="96" y="86"/>
                </a:lnTo>
                <a:lnTo>
                  <a:pt x="102" y="81"/>
                </a:lnTo>
                <a:lnTo>
                  <a:pt x="102" y="80"/>
                </a:lnTo>
                <a:lnTo>
                  <a:pt x="500" y="80"/>
                </a:lnTo>
                <a:close/>
              </a:path>
            </a:pathLst>
          </a:custGeom>
          <a:gradFill>
            <a:gsLst>
              <a:gs pos="0">
                <a:srgbClr val="C8A45C">
                  <a:alpha val="20000"/>
                </a:srgbClr>
              </a:gs>
              <a:gs pos="70000">
                <a:srgbClr val="C8A45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8191500" y="4000500"/>
            <a:ext cx="3429000" cy="3429000"/>
          </a:xfrm>
          <a:custGeom>
            <a:pathLst>
              <a:path w="360" h="360">
                <a:moveTo>
                  <a:pt x="185" y="0"/>
                </a:moveTo>
                <a:cubicBezTo>
                  <a:pt x="255" y="2"/>
                  <a:pt x="317" y="44"/>
                  <a:pt x="345" y="109"/>
                </a:cubicBezTo>
                <a:cubicBezTo>
                  <a:pt x="373" y="173"/>
                  <a:pt x="361" y="248"/>
                  <a:pt x="314" y="300"/>
                </a:cubicBezTo>
                <a:lnTo>
                  <a:pt x="46" y="300"/>
                </a:lnTo>
                <a:cubicBezTo>
                  <a:pt x="-1" y="247"/>
                  <a:pt x="-13" y="171"/>
                  <a:pt x="16" y="107"/>
                </a:cubicBezTo>
                <a:cubicBezTo>
                  <a:pt x="45" y="42"/>
                  <a:pt x="109" y="0"/>
                  <a:pt x="180" y="0"/>
                </a:cubicBezTo>
                <a:close/>
              </a:path>
            </a:pathLst>
          </a:custGeom>
          <a:solidFill>
            <a:srgbClr val="2E6BB0">
              <a:alpha val="35000"/>
            </a:srgbClr>
          </a:solidFill>
          <a:ln/>
        </p:spPr>
        <p:txBody>
          <a:bodyPr/>
          <a:p/>
        </p:txBody>
      </p:sp>
      <p:pic>
        <p:nvPicPr>
          <p:cNvPr id="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6" name=""/>
          <p:cNvSpPr/>
          <p:nvPr/>
        </p:nvSpPr>
        <p:spPr>
          <a:xfrm rot="0" flipH="0" flipV="0">
            <a:off x="914400" y="1123950"/>
            <a:ext cx="514350" cy="514350"/>
          </a:xfrm>
          <a:prstGeom prst="roundRect">
            <a:avLst>
              <a:gd name="adj" fmla="val 50000"/>
            </a:avLst>
          </a:prstGeom>
          <a:ln w="25400">
            <a:solidFill>
              <a:srgbClr val="C8A45C"/>
            </a:solidFill>
            <a:prstDash val="solid"/>
          </a:ln>
        </p:spPr>
        <p:txBody>
          <a:bodyPr/>
          <a:p/>
        </p:txBody>
      </p:sp>
      <p:pic>
        <p:nvPicPr>
          <p:cNvPr id="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038225" y="1247775"/>
            <a:ext cx="266700" cy="266700"/>
          </a:xfrm>
          <a:prstGeom prst="rect">
            <a:avLst/>
          </a:prstGeom>
          <a:ln/>
        </p:spPr>
      </p:pic>
      <p:sp>
        <p:nvSpPr>
          <p:cNvPr id="8" name=""/>
          <p:cNvSpPr/>
          <p:nvPr/>
        </p:nvSpPr>
        <p:spPr>
          <a:xfrm rot="0" flipH="0" flipV="0">
            <a:off x="1581150" y="1219200"/>
            <a:ext cx="28575" cy="323850"/>
          </a:xfrm>
          <a:prstGeom prst="rect">
            <a:avLst/>
          </a:prstGeom>
          <a:solidFill>
            <a:srgbClr val="C8A45C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1762125" y="1266825"/>
            <a:ext cx="2409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300">
                <a:solidFill>
                  <a:srgbClr val="C8A45C"/>
                </a:solidFill>
                <a:latin typeface="Microsoft YaHei"/>
                <a:ea typeface="Microsoft YaHei"/>
              </a:rPr>
              <a:t>POLICE CASE FLOW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914400" y="2247900"/>
            <a:ext cx="7239000" cy="962025"/>
          </a:xfrm>
          <a:prstGeom prst="rect"/>
        </p:spPr>
        <p:txBody>
          <a:bodyPr wrap="none" lIns="0" tIns="0" rIns="0" bIns="0"/>
          <a:p>
            <a:pPr>
              <a:lnSpc>
                <a:spcPct val="115999"/>
              </a:lnSpc>
            </a:pPr>
            <a:r>
              <a:rPr lang="zh-CN" sz="5400" b="1" spc="300">
                <a:solidFill>
                  <a:srgbClr val="FFFFFF"/>
                </a:solidFill>
                <a:latin typeface="Microsoft YaHei"/>
                <a:ea typeface="Microsoft YaHei"/>
              </a:rPr>
              <a:t>案件指派系统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914400" y="3457575"/>
            <a:ext cx="1333500" cy="57150"/>
          </a:xfrm>
          <a:prstGeom prst="rect">
            <a:avLst/>
          </a:prstGeom>
          <a:solidFill>
            <a:srgbClr val="C8A45C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914400" y="3762375"/>
            <a:ext cx="7239000" cy="4762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950">
                <a:solidFill>
                  <a:srgbClr val="C9D6E8"/>
                </a:solidFill>
                <a:latin typeface="Microsoft YaHei"/>
                <a:ea typeface="Microsoft YaHei"/>
              </a:rPr>
              <a:t>收案</a:t>
            </a:r>
            <a:r>
              <a:rPr lang="en-US" sz="1950">
                <a:solidFill>
                  <a:srgbClr val="C9D6E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950">
                <a:solidFill>
                  <a:srgbClr val="C9D6E8"/>
                </a:solidFill>
                <a:latin typeface="Microsoft YaHei"/>
                <a:ea typeface="Microsoft YaHei"/>
              </a:rPr>
              <a:t>指派</a:t>
            </a:r>
            <a:r>
              <a:rPr lang="en-US" sz="1950">
                <a:solidFill>
                  <a:srgbClr val="C9D6E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950">
                <a:solidFill>
                  <a:srgbClr val="C9D6E8"/>
                </a:solidFill>
                <a:latin typeface="Microsoft YaHei"/>
                <a:ea typeface="Microsoft YaHei"/>
              </a:rPr>
              <a:t>盯办</a:t>
            </a:r>
            <a:r>
              <a:rPr lang="en-US" sz="1950">
                <a:solidFill>
                  <a:srgbClr val="C9D6E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950">
                <a:solidFill>
                  <a:srgbClr val="C9D6E8"/>
                </a:solidFill>
                <a:latin typeface="Microsoft YaHei"/>
                <a:ea typeface="Microsoft YaHei"/>
              </a:rPr>
              <a:t>办结　全链路闭环管理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914400" y="5429250"/>
            <a:ext cx="2809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功能汇报</a:t>
            </a:r>
            <a:r>
              <a:rPr lang="en-US" sz="1500">
                <a:solidFill>
                  <a:srgbClr val="FFFF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｜</a:t>
            </a:r>
            <a:r>
              <a:rPr lang="en-US" sz="1500">
                <a:solidFill>
                  <a:srgbClr val="FFFF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使用讲解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914400" y="5753100"/>
            <a:ext cx="2809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A94A6"/>
                </a:solidFill>
                <a:latin typeface="Microsoft YaHei"/>
                <a:ea typeface="Microsoft YaHei"/>
              </a:rPr>
              <a:t>案件管理中心　·　演示数据　·　</a:t>
            </a:r>
            <a:r>
              <a:rPr lang="en-US" sz="1200">
                <a:solidFill>
                  <a:srgbClr val="8A94A6"/>
                </a:solidFill>
                <a:latin typeface="Microsoft YaHei"/>
                <a:ea typeface="Microsoft YaHei"/>
              </a:rPr>
              <a:t>2026-10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10572750" y="5781675"/>
            <a:ext cx="704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4A6"/>
                </a:solidFill>
                <a:latin typeface="Microsoft YaHei"/>
                <a:ea typeface="Microsoft YaHei"/>
              </a:rPr>
              <a:t>页　·　四章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10525125" y="4972050"/>
            <a:ext cx="75247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16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12" name="" descr="&lt;Slide style={{ width: 1280, height: 720, position: 'relative', background: '#FFFFFF', overflow: 'hidden' }}&gt;&#10;    &lt;Box style={{ position: 'absolute', left: 0, top: 0, width: 1280, height: 8, flexDirection: 'row' }}&gt;&#10;        &lt;Box style={{ width: '55%', height: 8, background: '#1B4A8C' }} /&gt;&#10;        &lt;Box style={{ width: '25%', height: 8, background: '#2E6BB0' }} /&gt;&#10;        &lt;Box style={{ width: '20%', height: 8, background: '#C8A45C' }} /&gt;&#10;    &lt;/Box&gt;&#10;    &lt;Box style={{ position: 'absolute', left: 96, top: 66, flexDirection: 'row', alignItems: 'flex-end', gap: 24 }}&gt;&#10;        &lt;Box style={{ width: 6, height: 46, background: '#1B4A8C' }} /&gt;&#10;        &lt;Text style={{ fontSize: 34, fontWeight: 'bold', color: '#1F2733', lineHeight: 1.2 }}&gt;目录&lt;/Text&gt;&#10;        &lt;Text style={{ fontSize: 16, color: '#8A94A6', marginBottom: 6 }}&gt;CONTENTS　·　四章 16 页&lt;/Text&gt;&#10;    &lt;/Box&gt;&#10;    &lt;Box style={{ position: 'absolute', left: 96, top: 148, width: 1088, flexDirection: 'column', gap: 18 }}&gt;&#10;        &lt;Box style={{ width: '100%', height: 108, flexDirection: 'row', alignItems: 'center', background: '#F4F6F9', borderRadius: 10, border: '1px solid #E3E8F0', padding: 22 }}&gt;&#10;            &lt;Box style={{ width: 76, height: 64, borderRadius: 8, background: 'linear-gradient(135deg, #1B4A8C 0%, #2E6BB0 100%)', justifyContent: 'center', alignItems: 'center' }}&gt;&#10;                &lt;Text style={{ fontSize: 34, fontWeight: 'bold', color: '#FFFFFF', lineHeight: 1 }}&gt;01&lt;/Text&gt;&#10;            &lt;/Box&gt;&#10;            &lt;Box style={{ marginLeft: 26, flexDirection: 'column' }}&gt;&#10;                &lt;Text style={{ fontSize: 26, fontWeight: 'bold', color: '#1F2733', lineHeight: 1.3 }}&gt;系统全貌&lt;/Text&gt;&#10;                &lt;Text style={{ fontSize: 17, color: '#8A94A6', marginTop: 6 }}&gt;系统定位 · 从收到案子到办结的全链路&lt;/Text&gt;&#10;            &lt;/Box&gt;&#10;            &lt;Box style={{ marginLeft: 'auto', flexDirection: 'row', alignItems: 'center' }}&gt;&#10;                &lt;Text style={{ fontSize: 15, color: '#8A94A6', marginRight: 14 }}&gt;P03 – P05&lt;/Text&gt;&#10;                &lt;FAIcon name='chevron-right' style={{ fill: '#C8A45C', width: 20, height: 20 }} /&gt;&#10;            &lt;/Box&gt;&#10;        &lt;/Box&gt;&#10;        &lt;Box style={{ width: '100%', height: 108, flexDirection: 'row', alignItems: 'center', background: '#FFFFFF', borderRadius: 10, border: '1px solid #E3E8F0', padding: 22 }}&gt;&#10;            &lt;Box style={{ width: 76, height: 64, borderRadius: 8, background: '#1B4A8C', justifyContent: 'center', alignItems: 'center' }}&gt;&#10;                &lt;Text style={{ fontSize: 34, fontWeight: 'bold', color: '#FFFFFF', lineHeight: 1 }}&gt;02&lt;/Text&gt;&#10;            &lt;/Box&gt;&#10;            &lt;Box style={{ marginLeft: 26, flexDirection: 'column' }}&gt;&#10;                &lt;Text style={{ fontSize: 26, fontWeight: 'bold', color: '#1F2733', lineHeight: 1.3 }}&gt;核心机制&lt;/Text&gt;&#10;                &lt;Text style={{ fontSize: 17, color: '#8A94A6', marginTop: 6 }}&gt;两类案件分野 · 案件盯办 · 办理时限&lt;/Text&gt;&#10;            &lt;/Box&gt;&#10;            &lt;Box style={{ marginLeft: 'auto', flexDirection: 'row', alignItems: 'center' }}&gt;&#10;                &lt;Text style={{ fontSize: 15, color: '#8A94A6', marginRight: 14 }}&gt;P06 – P09&lt;/Text&gt;&#10;                &lt;FAIcon name='chevron-right' style={{ fill: '#C8A45C', width: 20, height: 20 }} /&gt;&#10;            &lt;/Box&gt;&#10;        &lt;/Box&gt;&#10;        &lt;Box style={{ width: '100%', height: 108, flexDirection: 'row', alignItems: 'center', background: '#F4F6F9', borderRadius: 10, border: '1px solid #E3E8F0', padding: 22 }}&gt;&#10;            &lt;Box style={{ width: 76, height: 64, borderRadius: 8, background: 'linear-gradient(135deg, #1B4A8C 0%, #2E6BB0 100%)', justifyContent: 'center', alignItems: 'center' }}&gt;&#10;                &lt;Text style={{ fontSize: 34, fontWeight: 'bold', color: '#FFFFFF', lineHeight: 1 }}&gt;03&lt;/Text&gt;&#10;            &lt;/Box&gt;&#10;            &lt;Box style={{ marginLeft: 26, flexDirection: 'column' }}&gt;&#10;                &lt;Text style={{ fontSize: 26, fontWeight: 'bold', color: '#1F2733', lineHeight: 1.3 }}&gt;协作与治理&lt;/Text&gt;&#10;                &lt;Text style={{ fontSize: 17, color: '#8A94A6', marginTop: 6 }}&gt;意见→待办闭环 · 办案阶段流转 · 权限与追溯&lt;/Text&gt;&#10;            &lt;/Box&gt;&#10;            &lt;Box style={{ marginLeft: 'auto', flexDirection: 'row', alignItems: 'center' }}&gt;&#10;                &lt;Text style={{ fontSize: 15, color: '#8A94A6', marginRight: 14 }}&gt;P10 – P13&lt;/Text&gt;&#10;                &lt;FAIcon name='chevron-right' style={{ fill: '#C8A45C', width: 20, height: 20 }} /&gt;&#10;            &lt;/Box&gt;&#10;        &lt;/Box&gt;&#10;        &lt;Box style={{ width: '100%', height: 108, flexDirection: 'row', alignItems: 'center', background: '#FFFFFF', borderRadius: 10, border: '1px solid #E3E8F0', padding: 22 }}&gt;&#10;            &lt;Box style={{ width: 76, height: 64, borderRadius: 8, background: '#1B4A8C', justifyContent: 'center', alignItems: 'center' }}&gt;&#10;                &lt;Text style={{ fontSize: 34, fontWeight: 'bold', color: '#FFFFFF', lineHeight: 1 }}&gt;04&lt;/Text&gt;&#10;            &lt;/Box&gt;&#10;            &lt;Box style={{ marginLeft: 26, flexDirection: 'column' }}&gt;&#10;                &lt;Text style={{ fontSize: 26, fontWeight: 'bold', color: '#1F2733', lineHeight: 1.3 }}&gt;使用讲解&lt;/Text&gt;&#10;                &lt;Text style={{ fontSize: 17, color: '#8A94A6', marginTop: 6 }}&gt;民警日常三件事：看红点 · 办待办 · 盯到期&lt;/Text&gt;&#10;            &lt;/Box&gt;&#10;            &lt;Box style={{ marginLeft: 'auto', flexDirection: 'row', alignItems: 'center' }}&gt;&#10;                &lt;Text style={{ fontSize: 15, color: '#8A94A6', marginRight: 14 }}&gt;P14 – P16&lt;/Text&gt;&#10;                &lt;FAIcon name='chevron-right' style={{ fill: '#C8A45C', width: 20, height: 20 }} /&gt;&#10;            &lt;/Box&gt;&#10;        &lt;/Box&gt;&#10;    &lt;/Box&gt;&#10;    &lt;Box style={{ position: 'absolute', left: 96, bottom: 54, width: 1088, flexDirection: 'row', justifyContent: 'space-between', alignItems: 'center' }}&gt;&#10;        &lt;Text style={{ fontSize: 14, color: '#8A94A6' }}&gt;案件指派系统　·　功能汇报与使用讲解&lt;/Text&gt;&#10;        &lt;Text style={{ fontSize: 14, color: '#8A94A6' }}&gt;02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4" name=""/>
          <p:cNvSpPr/>
          <p:nvPr/>
        </p:nvSpPr>
        <p:spPr>
          <a:xfrm rot="0" flipH="0" flipV="0">
            <a:off x="0" y="0"/>
            <a:ext cx="6705600" cy="76200"/>
          </a:xfrm>
          <a:prstGeom prst="rect">
            <a:avLst/>
          </a:prstGeom>
          <a:solidFill>
            <a:srgbClr val="1B4A8C"/>
          </a:solidFill>
          <a:ln/>
        </p:spPr>
        <p:txBody>
          <a:bodyPr/>
          <a:p/>
        </p:txBody>
      </p:sp>
      <p:sp>
        <p:nvSpPr>
          <p:cNvPr id="215" name=""/>
          <p:cNvSpPr/>
          <p:nvPr/>
        </p:nvSpPr>
        <p:spPr>
          <a:xfrm rot="0" flipH="0" flipV="0">
            <a:off x="6705600" y="0"/>
            <a:ext cx="3048000" cy="76200"/>
          </a:xfrm>
          <a:prstGeom prst="rect">
            <a:avLst/>
          </a:prstGeom>
          <a:solidFill>
            <a:srgbClr val="2E6BB0"/>
          </a:solidFill>
          <a:ln/>
        </p:spPr>
        <p:txBody>
          <a:bodyPr/>
          <a:p/>
        </p:txBody>
      </p:sp>
      <p:sp>
        <p:nvSpPr>
          <p:cNvPr id="216" name=""/>
          <p:cNvSpPr/>
          <p:nvPr/>
        </p:nvSpPr>
        <p:spPr>
          <a:xfrm rot="0" flipH="0" flipV="0">
            <a:off x="9753600" y="0"/>
            <a:ext cx="2438400" cy="76200"/>
          </a:xfrm>
          <a:prstGeom prst="rect">
            <a:avLst/>
          </a:prstGeom>
          <a:solidFill>
            <a:srgbClr val="C8A45C"/>
          </a:solidFill>
          <a:ln/>
        </p:spPr>
        <p:txBody>
          <a:bodyPr/>
          <a:p/>
        </p:txBody>
      </p:sp>
      <p:sp>
        <p:nvSpPr>
          <p:cNvPr id="217" name=""/>
          <p:cNvSpPr/>
          <p:nvPr/>
        </p:nvSpPr>
        <p:spPr>
          <a:xfrm rot="0" flipH="0" flipV="0">
            <a:off x="914400" y="657225"/>
            <a:ext cx="57150" cy="438150"/>
          </a:xfrm>
          <a:prstGeom prst="rect">
            <a:avLst/>
          </a:prstGeom>
          <a:solidFill>
            <a:srgbClr val="1B4A8C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1200150" y="628650"/>
            <a:ext cx="6477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F2733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2076450" y="847725"/>
            <a:ext cx="1885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A94A6"/>
                </a:solidFill>
                <a:latin typeface="Microsoft YaHei"/>
                <a:ea typeface="Microsoft YaHei"/>
              </a:rPr>
              <a:t>CONTENTS</a:t>
            </a:r>
            <a:r>
              <a:rPr lang="zh-CN" sz="1200">
                <a:solidFill>
                  <a:srgbClr val="8A94A6"/>
                </a:solidFill>
                <a:latin typeface="Microsoft YaHei"/>
                <a:ea typeface="Microsoft YaHei"/>
              </a:rPr>
              <a:t>　·　四章</a:t>
            </a:r>
            <a:r>
              <a:rPr lang="en-US" sz="1200">
                <a:solidFill>
                  <a:srgbClr val="8A94A6"/>
                </a:solidFill>
                <a:latin typeface="Microsoft YaHei"/>
                <a:ea typeface="Microsoft YaHei"/>
              </a:rPr>
              <a:t xml:space="preserve"> 16 </a:t>
            </a:r>
            <a:r>
              <a:rPr lang="zh-CN" sz="1200">
                <a:solidFill>
                  <a:srgbClr val="8A94A6"/>
                </a:solidFill>
                <a:latin typeface="Microsoft YaHei"/>
                <a:ea typeface="Microsoft YaHei"/>
              </a:rPr>
              <a:t>页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914400" y="1409700"/>
            <a:ext cx="10363200" cy="1028700"/>
          </a:xfrm>
          <a:prstGeom prst="roundRect">
            <a:avLst>
              <a:gd name="adj" fmla="val 9259"/>
            </a:avLst>
          </a:prstGeom>
          <a:solidFill>
            <a:srgbClr val="F4F6F9"/>
          </a:solidFill>
          <a:ln w="12700">
            <a:solidFill>
              <a:srgbClr val="E3E8F0"/>
            </a:solidFill>
            <a:prstDash val="solid"/>
          </a:ln>
        </p:spPr>
        <p:txBody>
          <a:bodyPr/>
          <a:p/>
        </p:txBody>
      </p:sp>
      <p:sp>
        <p:nvSpPr>
          <p:cNvPr id="221" name=""/>
          <p:cNvSpPr/>
          <p:nvPr/>
        </p:nvSpPr>
        <p:spPr>
          <a:xfrm rot="0" flipH="0" flipV="0">
            <a:off x="1123950" y="1619250"/>
            <a:ext cx="723900" cy="609600"/>
          </a:xfrm>
          <a:prstGeom prst="roundRect">
            <a:avLst>
              <a:gd name="adj" fmla="val 12500"/>
            </a:avLst>
          </a:prstGeom>
          <a:gradFill>
            <a:gsLst>
              <a:gs pos="0">
                <a:srgbClr val="1B4A8C"/>
              </a:gs>
              <a:gs pos="100000">
                <a:srgbClr val="2E6BB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1285875" y="1733550"/>
            <a:ext cx="40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2095500" y="1600200"/>
            <a:ext cx="2733675" cy="3905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950" b="1">
                <a:solidFill>
                  <a:srgbClr val="1F2733"/>
                </a:solidFill>
                <a:latin typeface="Microsoft YaHei"/>
                <a:ea typeface="Microsoft YaHei"/>
              </a:rPr>
              <a:t>系统全貌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2095500" y="2047875"/>
            <a:ext cx="2733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A94A6"/>
                </a:solidFill>
                <a:latin typeface="Microsoft YaHei"/>
                <a:ea typeface="Microsoft YaHei"/>
              </a:rPr>
              <a:t>系统定位</a:t>
            </a:r>
            <a:r>
              <a:rPr lang="en-US" sz="1275">
                <a:solidFill>
                  <a:srgbClr val="8A94A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8A94A6"/>
                </a:solidFill>
                <a:latin typeface="Microsoft YaHei"/>
                <a:ea typeface="Microsoft YaHei"/>
              </a:rPr>
              <a:t>从收到案子到办结的全链路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10067925" y="1838325"/>
            <a:ext cx="676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A94A6"/>
                </a:solidFill>
                <a:latin typeface="Microsoft YaHei"/>
                <a:ea typeface="Microsoft YaHei"/>
              </a:rPr>
              <a:t>P03 – P05</a:t>
            </a:r>
            <a:endParaRPr/>
          </a:p>
        </p:txBody>
      </p:sp>
      <p:pic>
        <p:nvPicPr>
          <p:cNvPr id="22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877550" y="1828800"/>
            <a:ext cx="190500" cy="190500"/>
          </a:xfrm>
          <a:prstGeom prst="rect">
            <a:avLst/>
          </a:prstGeom>
          <a:ln/>
        </p:spPr>
      </p:pic>
      <p:sp>
        <p:nvSpPr>
          <p:cNvPr id="227" name=""/>
          <p:cNvSpPr/>
          <p:nvPr/>
        </p:nvSpPr>
        <p:spPr>
          <a:xfrm rot="0" flipH="0" flipV="0">
            <a:off x="914400" y="2609850"/>
            <a:ext cx="1036320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  <p:txBody>
          <a:bodyPr/>
          <a:p/>
        </p:txBody>
      </p:sp>
      <p:sp>
        <p:nvSpPr>
          <p:cNvPr id="228" name=""/>
          <p:cNvSpPr/>
          <p:nvPr/>
        </p:nvSpPr>
        <p:spPr>
          <a:xfrm rot="0" flipH="0" flipV="0">
            <a:off x="1123950" y="2819400"/>
            <a:ext cx="723900" cy="609600"/>
          </a:xfrm>
          <a:prstGeom prst="roundRect">
            <a:avLst>
              <a:gd name="adj" fmla="val 12500"/>
            </a:avLst>
          </a:prstGeom>
          <a:solidFill>
            <a:srgbClr val="1B4A8C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1285875" y="2933700"/>
            <a:ext cx="40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2095500" y="2800350"/>
            <a:ext cx="2543175" cy="3905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950" b="1">
                <a:solidFill>
                  <a:srgbClr val="1F2733"/>
                </a:solidFill>
                <a:latin typeface="Microsoft YaHei"/>
                <a:ea typeface="Microsoft YaHei"/>
              </a:rPr>
              <a:t>核心机制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2095500" y="3248025"/>
            <a:ext cx="2543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A94A6"/>
                </a:solidFill>
                <a:latin typeface="Microsoft YaHei"/>
                <a:ea typeface="Microsoft YaHei"/>
              </a:rPr>
              <a:t>两类案件分野</a:t>
            </a:r>
            <a:r>
              <a:rPr lang="en-US" sz="1275">
                <a:solidFill>
                  <a:srgbClr val="8A94A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8A94A6"/>
                </a:solidFill>
                <a:latin typeface="Microsoft YaHei"/>
                <a:ea typeface="Microsoft YaHei"/>
              </a:rPr>
              <a:t>案件盯办</a:t>
            </a:r>
            <a:r>
              <a:rPr lang="en-US" sz="1275">
                <a:solidFill>
                  <a:srgbClr val="8A94A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8A94A6"/>
                </a:solidFill>
                <a:latin typeface="Microsoft YaHei"/>
                <a:ea typeface="Microsoft YaHei"/>
              </a:rPr>
              <a:t>办理时限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10067925" y="3038475"/>
            <a:ext cx="676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A94A6"/>
                </a:solidFill>
                <a:latin typeface="Microsoft YaHei"/>
                <a:ea typeface="Microsoft YaHei"/>
              </a:rPr>
              <a:t>P06 – P09</a:t>
            </a:r>
            <a:endParaRPr/>
          </a:p>
        </p:txBody>
      </p:sp>
      <p:pic>
        <p:nvPicPr>
          <p:cNvPr id="23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877550" y="3028950"/>
            <a:ext cx="190500" cy="190500"/>
          </a:xfrm>
          <a:prstGeom prst="rect">
            <a:avLst/>
          </a:prstGeom>
          <a:ln/>
        </p:spPr>
      </p:pic>
      <p:sp>
        <p:nvSpPr>
          <p:cNvPr id="234" name=""/>
          <p:cNvSpPr/>
          <p:nvPr/>
        </p:nvSpPr>
        <p:spPr>
          <a:xfrm rot="0" flipH="0" flipV="0">
            <a:off x="914400" y="3810000"/>
            <a:ext cx="10363200" cy="1028700"/>
          </a:xfrm>
          <a:prstGeom prst="roundRect">
            <a:avLst>
              <a:gd name="adj" fmla="val 9259"/>
            </a:avLst>
          </a:prstGeom>
          <a:solidFill>
            <a:srgbClr val="F4F6F9"/>
          </a:solidFill>
          <a:ln w="12700">
            <a:solidFill>
              <a:srgbClr val="E3E8F0"/>
            </a:solidFill>
            <a:prstDash val="solid"/>
          </a:ln>
        </p:spPr>
        <p:txBody>
          <a:bodyPr/>
          <a:p/>
        </p:txBody>
      </p:sp>
      <p:sp>
        <p:nvSpPr>
          <p:cNvPr id="235" name=""/>
          <p:cNvSpPr/>
          <p:nvPr/>
        </p:nvSpPr>
        <p:spPr>
          <a:xfrm rot="0" flipH="0" flipV="0">
            <a:off x="1123950" y="4019550"/>
            <a:ext cx="723900" cy="609600"/>
          </a:xfrm>
          <a:prstGeom prst="roundRect">
            <a:avLst>
              <a:gd name="adj" fmla="val 12500"/>
            </a:avLst>
          </a:prstGeom>
          <a:gradFill>
            <a:gsLst>
              <a:gs pos="0">
                <a:srgbClr val="1B4A8C"/>
              </a:gs>
              <a:gs pos="100000">
                <a:srgbClr val="2E6BB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1285875" y="4133850"/>
            <a:ext cx="40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2095500" y="4000500"/>
            <a:ext cx="3190875" cy="3905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950" b="1">
                <a:solidFill>
                  <a:srgbClr val="1F2733"/>
                </a:solidFill>
                <a:latin typeface="Microsoft YaHei"/>
                <a:ea typeface="Microsoft YaHei"/>
              </a:rPr>
              <a:t>协作与治理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2095500" y="4448175"/>
            <a:ext cx="3190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A94A6"/>
                </a:solidFill>
                <a:latin typeface="Microsoft YaHei"/>
                <a:ea typeface="Microsoft YaHei"/>
              </a:rPr>
              <a:t>意见→待办闭环</a:t>
            </a:r>
            <a:r>
              <a:rPr lang="en-US" sz="1275">
                <a:solidFill>
                  <a:srgbClr val="8A94A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8A94A6"/>
                </a:solidFill>
                <a:latin typeface="Microsoft YaHei"/>
                <a:ea typeface="Microsoft YaHei"/>
              </a:rPr>
              <a:t>办案阶段流转</a:t>
            </a:r>
            <a:r>
              <a:rPr lang="en-US" sz="1275">
                <a:solidFill>
                  <a:srgbClr val="8A94A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8A94A6"/>
                </a:solidFill>
                <a:latin typeface="Microsoft YaHei"/>
                <a:ea typeface="Microsoft YaHei"/>
              </a:rPr>
              <a:t>权限与追溯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10067925" y="4238625"/>
            <a:ext cx="676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A94A6"/>
                </a:solidFill>
                <a:latin typeface="Microsoft YaHei"/>
                <a:ea typeface="Microsoft YaHei"/>
              </a:rPr>
              <a:t>P10 – P13</a:t>
            </a:r>
            <a:endParaRPr/>
          </a:p>
        </p:txBody>
      </p:sp>
      <p:pic>
        <p:nvPicPr>
          <p:cNvPr id="24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877550" y="4229100"/>
            <a:ext cx="190500" cy="190500"/>
          </a:xfrm>
          <a:prstGeom prst="rect">
            <a:avLst/>
          </a:prstGeom>
          <a:ln/>
        </p:spPr>
      </p:pic>
      <p:sp>
        <p:nvSpPr>
          <p:cNvPr id="241" name=""/>
          <p:cNvSpPr/>
          <p:nvPr/>
        </p:nvSpPr>
        <p:spPr>
          <a:xfrm rot="0" flipH="0" flipV="0">
            <a:off x="914400" y="5010150"/>
            <a:ext cx="1036320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  <p:txBody>
          <a:bodyPr/>
          <a:p/>
        </p:txBody>
      </p:sp>
      <p:sp>
        <p:nvSpPr>
          <p:cNvPr id="242" name=""/>
          <p:cNvSpPr/>
          <p:nvPr/>
        </p:nvSpPr>
        <p:spPr>
          <a:xfrm rot="0" flipH="0" flipV="0">
            <a:off x="1123950" y="5219700"/>
            <a:ext cx="723900" cy="609600"/>
          </a:xfrm>
          <a:prstGeom prst="roundRect">
            <a:avLst>
              <a:gd name="adj" fmla="val 12500"/>
            </a:avLst>
          </a:prstGeom>
          <a:solidFill>
            <a:srgbClr val="1B4A8C"/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1285875" y="5334000"/>
            <a:ext cx="40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2095500" y="5200650"/>
            <a:ext cx="3028950" cy="3905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950" b="1">
                <a:solidFill>
                  <a:srgbClr val="1F2733"/>
                </a:solidFill>
                <a:latin typeface="Microsoft YaHei"/>
                <a:ea typeface="Microsoft YaHei"/>
              </a:rPr>
              <a:t>使用讲解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2095500" y="5648325"/>
            <a:ext cx="3028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A94A6"/>
                </a:solidFill>
                <a:latin typeface="Microsoft YaHei"/>
                <a:ea typeface="Microsoft YaHei"/>
              </a:rPr>
              <a:t>民警日常三件事：看红点</a:t>
            </a:r>
            <a:r>
              <a:rPr lang="en-US" sz="1275">
                <a:solidFill>
                  <a:srgbClr val="8A94A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8A94A6"/>
                </a:solidFill>
                <a:latin typeface="Microsoft YaHei"/>
                <a:ea typeface="Microsoft YaHei"/>
              </a:rPr>
              <a:t>办待办</a:t>
            </a:r>
            <a:r>
              <a:rPr lang="en-US" sz="1275">
                <a:solidFill>
                  <a:srgbClr val="8A94A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8A94A6"/>
                </a:solidFill>
                <a:latin typeface="Microsoft YaHei"/>
                <a:ea typeface="Microsoft YaHei"/>
              </a:rPr>
              <a:t>盯到期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10067925" y="5438775"/>
            <a:ext cx="676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A94A6"/>
                </a:solidFill>
                <a:latin typeface="Microsoft YaHei"/>
                <a:ea typeface="Microsoft YaHei"/>
              </a:rPr>
              <a:t>P14 – P16</a:t>
            </a:r>
            <a:endParaRPr/>
          </a:p>
        </p:txBody>
      </p:sp>
      <p:pic>
        <p:nvPicPr>
          <p:cNvPr id="2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877550" y="5429250"/>
            <a:ext cx="190500" cy="190500"/>
          </a:xfrm>
          <a:prstGeom prst="rect">
            <a:avLst/>
          </a:prstGeom>
          <a:ln/>
        </p:spPr>
      </p:pic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914400" y="6181725"/>
            <a:ext cx="2305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4A6"/>
                </a:solidFill>
                <a:latin typeface="Microsoft YaHei"/>
                <a:ea typeface="Microsoft YaHei"/>
              </a:rPr>
              <a:t>案件指派系统　·　功能汇报与使用讲解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10820400" y="61817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4A6"/>
                </a:solidFill>
                <a:latin typeface="Microsoft YaHei"/>
                <a:ea typeface="Microsoft YaHei"/>
              </a:rPr>
              <a:t>02 / 16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50" name="" descr="&lt;Slide style={{ width: 1280, height: 720, position: 'relative', background: '#12294A', overflow: 'hidden' }}&gt;&#10;    &lt;Image src='assets/ui-dashboard.png' style={{ position: 'absolute', left: 0, top: 0, width: 1280, height: 720, objectFit: 'cover', opacity: 0.22 }} /&gt;&#10;    &lt;Box style={{ position: 'absolute', left: 0, top: 0, width: 1280, height: 720, background: 'linear-gradient(100deg, rgba(18,41,74,0.96) 0%, rgba(27,74,140,0.86) 52%, rgba(27,74,140,0.42) 100%)' }} /&gt;&#10;    &lt;svg width={1280} height={720} viewBox='0 0 1280 720' style={{ position: 'absolute', left: 0, top: 0 }}&gt;&#10;        &lt;g fill='none' stroke='#C8A45C' strokeWidth='1' opacity='0.22'&gt;&#10;            &lt;circle cx='1040' cy='360' r='240' /&gt;&#10;            &lt;circle cx='1040' cy='360' r='300' /&gt;&#10;        &lt;/g&gt;&#10;    &lt;/svg&gt;&#10;    &lt;Box style={{ position: 'absolute', left: 96, top: 168, flexDirection: 'column' }}&gt;&#10;        &lt;Text style={{ fontSize: 20, color: '#C8A45C', letterSpacing: 6 }}&gt;PART 01&lt;/Text&gt;&#10;        &lt;Box style={{ width: 100, height: 5, background: '#C8A45C', marginTop: 22, marginBottom: 30 }} /&gt;&#10;        &lt;Text style={{ fontSize: 76, fontWeight: 'bold', color: '#FFFFFF', lineHeight: 1.14, letterSpacing: 3 }}&gt;系统全貌&lt;/Text&gt;&#10;        &lt;Text style={{ fontSize: 24, color: '#C9D6E8', marginTop: 26, letterSpacing: 1 }}&gt;一条链路管到底　·　收案 → 指派 → 盯办 → 办结&lt;/Text&gt;&#10;    &lt;/Box&gt;&#10;    &lt;Box style={{ position: 'absolute', left: 96, bottom: 76, flexDirection: 'row', alignItems: 'center', gap: 14 }}&gt;&#10;        &lt;FAIcon name='shield' style={{ fill: '#C8A45C', width: 22, height: 22 }} /&gt;&#10;        &lt;Text style={{ fontSize: 15, color: '#8A94A6' }}&gt;案件指派系统　·　功能汇报与使用讲解&lt;/Text&gt;&#10;    &lt;/Box&gt;&#10;    &lt;Text style={{ position: 'absolute', right: 96, bottom: 76, fontSize: 14, color: '#8A94A6' }}&gt;03 / 16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2294A"/>
          </a:solidFill>
          <a:ln/>
        </p:spPr>
        <p:txBody>
          <a:bodyPr/>
          <a:p/>
        </p:txBody>
      </p:sp>
      <p:pic>
        <p:nvPicPr>
          <p:cNvPr id="252" name=""/>
          <p:cNvPicPr>
            <a:picLocks noChangeAspect="1"/>
          </p:cNvPicPr>
          <p:nvPr/>
        </p:nvPicPr>
        <p:blipFill>
          <a:blip r:embed="rId1">
            <a:alphaModFix amt="22000"/>
          </a:blip>
          <a:srcRect l="0" t="5000" r="0" b="500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2294A">
                  <a:alpha val="96000"/>
                </a:srgbClr>
              </a:gs>
              <a:gs pos="52000">
                <a:srgbClr val="1B4A8C">
                  <a:alpha val="86000"/>
                </a:srgbClr>
              </a:gs>
              <a:gs pos="100000">
                <a:srgbClr val="1B4A8C">
                  <a:alpha val="42000"/>
                </a:srgbClr>
              </a:gs>
            </a:gsLst>
            <a:lin ang="600000" scaled="1"/>
          </a:gradFill>
          <a:ln/>
        </p:spPr>
        <p:txBody>
          <a:bodyPr/>
          <a:p/>
        </p:txBody>
      </p:sp>
      <p:pic>
        <p:nvPicPr>
          <p:cNvPr id="2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914400" y="1600200"/>
            <a:ext cx="5295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450">
                <a:solidFill>
                  <a:srgbClr val="C8A45C"/>
                </a:solidFill>
                <a:latin typeface="Microsoft YaHei"/>
                <a:ea typeface="Microsoft YaHei"/>
              </a:rPr>
              <a:t>PART 01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914400" y="2038350"/>
            <a:ext cx="952500" cy="47625"/>
          </a:xfrm>
          <a:prstGeom prst="rect">
            <a:avLst/>
          </a:prstGeom>
          <a:solidFill>
            <a:srgbClr val="C8A45C"/>
          </a:solidFill>
          <a:ln/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914400" y="2371725"/>
            <a:ext cx="5295900" cy="990600"/>
          </a:xfrm>
          <a:prstGeom prst="rect"/>
        </p:spPr>
        <p:txBody>
          <a:bodyPr wrap="none" lIns="0" tIns="0" rIns="0" bIns="0"/>
          <a:p>
            <a:pPr>
              <a:lnSpc>
                <a:spcPct val="113999"/>
              </a:lnSpc>
            </a:pPr>
            <a:r>
              <a:rPr lang="zh-CN" sz="5700" b="1" spc="225">
                <a:solidFill>
                  <a:srgbClr val="FFFFFF"/>
                </a:solidFill>
                <a:latin typeface="Microsoft YaHei"/>
                <a:ea typeface="Microsoft YaHei"/>
              </a:rPr>
              <a:t>系统全貌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914400" y="3609975"/>
            <a:ext cx="5295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spc="75">
                <a:solidFill>
                  <a:srgbClr val="C9D6E8"/>
                </a:solidFill>
                <a:latin typeface="Microsoft YaHei"/>
                <a:ea typeface="Microsoft YaHei"/>
              </a:rPr>
              <a:t>一条链路管到底　·　收案</a:t>
            </a:r>
            <a:r>
              <a:rPr lang="en-US" sz="1800" spc="75">
                <a:solidFill>
                  <a:srgbClr val="C9D6E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800" spc="75">
                <a:solidFill>
                  <a:srgbClr val="C9D6E8"/>
                </a:solidFill>
                <a:latin typeface="Microsoft YaHei"/>
                <a:ea typeface="Microsoft YaHei"/>
              </a:rPr>
              <a:t>指派</a:t>
            </a:r>
            <a:r>
              <a:rPr lang="en-US" sz="1800" spc="75">
                <a:solidFill>
                  <a:srgbClr val="C9D6E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800" spc="75">
                <a:solidFill>
                  <a:srgbClr val="C9D6E8"/>
                </a:solidFill>
                <a:latin typeface="Microsoft YaHei"/>
                <a:ea typeface="Microsoft YaHei"/>
              </a:rPr>
              <a:t>盯办</a:t>
            </a:r>
            <a:r>
              <a:rPr lang="en-US" sz="1800" spc="75">
                <a:solidFill>
                  <a:srgbClr val="C9D6E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800" spc="75">
                <a:solidFill>
                  <a:srgbClr val="C9D6E8"/>
                </a:solidFill>
                <a:latin typeface="Microsoft YaHei"/>
                <a:ea typeface="Microsoft YaHei"/>
              </a:rPr>
              <a:t>办结</a:t>
            </a:r>
            <a:endParaRPr/>
          </a:p>
        </p:txBody>
      </p:sp>
      <p:pic>
        <p:nvPicPr>
          <p:cNvPr id="2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914400" y="5924550"/>
            <a:ext cx="209550" cy="209550"/>
          </a:xfrm>
          <a:prstGeom prst="rect">
            <a:avLst/>
          </a:prstGeom>
          <a:ln/>
        </p:spPr>
      </p:pic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1257300" y="5943600"/>
            <a:ext cx="2466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94A6"/>
                </a:solidFill>
                <a:latin typeface="Microsoft YaHei"/>
                <a:ea typeface="Microsoft YaHei"/>
              </a:rPr>
              <a:t>案件指派系统　·　功能汇报与使用讲解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10820400" y="59721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4A6"/>
                </a:solidFill>
                <a:latin typeface="Microsoft YaHei"/>
                <a:ea typeface="Microsoft YaHei"/>
              </a:rPr>
              <a:t>03 / 16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62" name="" descr="&lt;Slide style={{ width: 1280, height: 720, position: 'relative', background: '#FFFFFF', overflow: 'hidden' }}&gt;&#10;    &lt;Box style={{ position: 'absolute', left: 0, top: 0, width: 1280, height: 8, flexDirection: 'row' }}&gt;&#10;        &lt;Box style={{ width: '55%', height: 8, background: '#1B4A8C' }} /&gt;&#10;        &lt;Box style={{ width: '25%', height: 8, background: '#2E6BB0' }} /&gt;&#10;        &lt;Box style={{ width: '20%', height: 8, background: '#C8A45C' }} /&gt;&#10;    &lt;/Box&gt;&#10;    {/* B 标题块 */}&#10;    &lt;Box style={{ position: 'absolute', left: 64, top: 40, width: 1152, height: 76, flexDirection: 'row', alignItems: 'center', gap: 20 }}&gt;&#10;        &lt;Box style={{ width: 6, height: 44, background: '#1B4A8C' }} /&gt;&#10;        &lt;Box style={{ flexDirection: 'column' }}&gt;&#10;            &lt;Text style={{ fontSize: 34, fontWeight: 'bold', color: '#1F2733', lineHeight: 1.2 }}&gt;系统定位：一条链路管到底&lt;/Text&gt;&#10;            &lt;Text style={{ fontSize: 16, color: '#8A94A6', marginTop: 6 }}&gt;把散落在表格、微信群、纸质台账里的案子，收进同一条可追踪的链路&lt;/Text&gt;&#10;        &lt;/Box&gt;&#10;        &lt;Box style={{ marginLeft: 'auto', flexDirection: 'row', alignItems: 'center', gap: 10, background: '#F4F6F9', borderRadius: 6, paddingLeft: 14, paddingRight: 14, paddingTop: 8, paddingBottom: 8 }}&gt;&#10;            &lt;FAIcon name='briefcase' style={{ fill: '#1B4A8C', width: 18, height: 18 }} /&gt;&#10;            &lt;Text style={{ fontSize: 14, color: '#1B4A8C' }}&gt;第 1 章 · 系统全貌&lt;/Text&gt;&#10;        &lt;/Box&gt;&#10;    &lt;/Box&gt;&#10;    {/* C 内容区 */}&#10;    &lt;Box style={{ position: 'absolute', left: 64, top: 132, width: 1152, height: 532, flexDirection: 'row', gap: 28 }}&gt;&#10;        {/* 左：四段链路 */}&#10;        &lt;Box style={{ width: 520, flexDirection: 'column', gap: 14 }}&gt;&#10;            &lt;Box style={{ flexDirection: 'row', alignItems: 'center', gap: 14, background: '#F4F6F9', borderRadius: 8, borderLeft: '5px solid #1B4A8C', padding: 16 }}&gt;&#10;                &lt;Box style={{ width: 44, height: 44, borderRadius: 8, background: '#1B4A8C', justifyContent: 'center', alignItems: 'center' }}&gt;&#10;                    &lt;FAIcon name='inbox' style={{ fill: '#FFFFFF', width: 22, height: 22 }} /&gt;&#10;                &lt;/Box&gt;&#10;                &lt;Box style={{ flexDirection: 'column', flex: 1 }}&gt;&#10;                    &lt;Text style={{ fontSize: 20, fontWeight: 'bold', color: '#1F2733' }}&gt;收案&lt;/Text&gt;&#10;                    &lt;Text style={{ fontSize: 15, color: '#8A94A6', marginTop: 4 }}&gt;录入或导入案件，标注刑事 / 行政&lt;/Text&gt;&#10;                &lt;/Box&gt;&#10;            &lt;/Box&gt;&#10;            &lt;Box style={{ flexDirection: 'row', alignItems: 'center', gap: 14, background: '#FFFFFF', borderRadius: 8, border: '1px solid #E3E8F0', borderLeft: '5px solid #2E6BB0', padding: 16 }}&gt;&#10;                &lt;Box style={{ width: 44, height: 44, borderRadius: 8, background: '#2E6BB0', justifyContent: 'center', alignItems: 'center' }}&gt;&#10;                    &lt;FAIcon name='users' style={{ fill: '#FFFFFF', width: 22, height: 22 }} /&gt;&#10;                &lt;/Box&gt;&#10;                &lt;Box style={{ flexDirection: 'column', flex: 1 }}&gt;&#10;                    &lt;Text style={{ fontSize: 20, fontWeight: 'bold', color: '#1F2733' }}&gt;指派&lt;/Text&gt;&#10;                    &lt;Text style={{ fontSize: 15, color: '#8A94A6', marginTop: 4 }}&gt;定主办 + 协办，按层级与办案组派工&lt;/Text&gt;&#10;                &lt;/Box&gt;&#10;            &lt;/Box&gt;&#10;            &lt;Box style={{ flexDirection: 'row', alignItems: 'center', gap: 14, background: '#F4F6F9', borderRadius: 8, borderLeft: '5px solid #1B4A8C', padding: 16 }}&gt;&#10;                &lt;Box style={{ width: 44, height: 44, borderRadius: 8, background: '#1B4A8C', justifyContent: 'center', alignItems: 'center' }}&gt;&#10;                    &lt;FAIcon name='eye' style={{ fill: '#FFFFFF', width: 22, height: 22 }} /&gt;&#10;                &lt;/Box&gt;&#10;                &lt;Box style={{ flexDirection: 'column', flex: 1 }}&gt;&#10;                    &lt;Text style={{ fontSize: 20, fontWeight: 'bold', color: '#1F2733' }}&gt;盯办&lt;/Text&gt;&#10;                    &lt;Text style={{ fontSize: 15, color: '#8A94A6', marginTop: 4 }}&gt;意见派生成待办，到期自动预警&lt;/Text&gt;&#10;                &lt;/Box&gt;&#10;            &lt;/Box&gt;&#10;            &lt;Box style={{ flexDirection: 'row', alignItems: 'center', gap: 14, background: '#FFFFFF', borderRadius: 8, border: '1px solid #E3E8F0', borderLeft: '5px solid #C8A45C', padding: 16 }}&gt;&#10;                &lt;Box style={{ width: 44, height: 44, borderRadius: 8, background: '#C8A45C', justifyContent: 'center', alignItems: 'center' }}&gt;&#10;                    &lt;FAIcon name='check-circle' style={{ fill: '#FFFFFF', width: 22, height: 22 }} /&gt;&#10;                &lt;/Box&gt;&#10;                &lt;Box style={{ flexDirection: 'column', flex: 1 }}&gt;&#10;                    &lt;Text style={{ fontSize: 20, fontWeight: 'bold', color: '#1F2733' }}&gt;办结&lt;/Text&gt;&#10;                    &lt;Text style={{ fontSize: 15, color: '#8A94A6', marginTop: 4 }}&gt;阶段完成 → 领导确认 → 归档留痕&lt;/Text&gt;&#10;                &lt;/Box&gt;&#10;            &lt;/Box&gt;&#10;        &lt;/Box&gt;&#10;        {/* 右：工作台截图 */}&#10;        &lt;Box style={{ flex: 1, flexDirection: 'column', borderRadius: 10, overflow: 'hidden', border: '1px solid #E3E8F0', background: '#F4F6F9' }}&gt;&#10;            &lt;Box style={{ flexDirection: 'row', alignItems: 'center', gap: 10, paddingLeft: 16, paddingTop: 12, paddingBottom: 12, background: 'linear-gradient(135deg, #1B4A8C 0%, #2E6BB0 100%)' }}&gt;&#10;                &lt;FAIcon name='desktop' style={{ fill: '#FFFFFF', width: 18, height: 18 }} /&gt;&#10;                &lt;Text style={{ fontSize: 16, color: '#FFFFFF' }}&gt;工作台：全部案件的入口&lt;/Text&gt;&#10;            &lt;/Box&gt;&#10;            &lt;Box style={{ flex: 1, overflow: 'hidden' }}&gt;&#10;                &lt;Image src='assets/ui-dashboard.png' style={{ width: '100%', height: '100%', objectFit: 'cover', objectPosition: 'left top' }} /&gt;&#10;            &lt;/Box&gt;&#10;            &lt;Box style={{ paddingLeft: 16, paddingRight: 16, paddingTop: 10, paddingBottom: 12, background: '#FFFFFF' }}&gt;&#10;                &lt;Text style={{ fontSize: 15, color: '#8A94A6' }}&gt;案件总数 / 待指派 / 已逾期 / 今日到期，一眼看清手头压力。&lt;/Text&gt;&#10;            &lt;/Box&gt;&#10;        &lt;/Box&gt;&#10;    &lt;/Box&gt;&#10;    {/* D 页脚 */}&#10;    &lt;Box style={{ position: 'absolute', left: 64, top: 676, width: 1152, height: 32, flexDirection: 'row', justifyContent: 'space-between', alignItems: 'center' }}&gt;&#10;        &lt;Text style={{ fontSize: 14, color: '#8A94A6' }}&gt;案件指派系统　·　功能汇报与使用讲解&lt;/Text&gt;&#10;        &lt;Text style={{ fontSize: 14, color: '#8A94A6' }}&gt;04 / 16&lt;/Text&gt;&#10;    &lt;/Box&gt;&#10;    &lt;Box style={{ position: 'absolute', left: 64, top: 712, width: 1152, height: 6, flexDirection: 'row' }}&gt;&#10;        &lt;Box style={{ width: '55%', height: 6, background: '#1B4A8C' }} /&gt;&#10;        &lt;Box style={{ width: '25%', height: 6, background: '#2E6BB0' }} /&gt;&#10;        &lt;Box style={{ width: '20%', height: 6, background: '#C8A45C' }} /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4" name=""/>
          <p:cNvSpPr/>
          <p:nvPr/>
        </p:nvSpPr>
        <p:spPr>
          <a:xfrm rot="0" flipH="0" flipV="0">
            <a:off x="0" y="0"/>
            <a:ext cx="6705600" cy="76200"/>
          </a:xfrm>
          <a:prstGeom prst="rect">
            <a:avLst/>
          </a:prstGeom>
          <a:solidFill>
            <a:srgbClr val="1B4A8C"/>
          </a:solidFill>
          <a:ln/>
        </p:spPr>
        <p:txBody>
          <a:bodyPr/>
          <a:p/>
        </p:txBody>
      </p:sp>
      <p:sp>
        <p:nvSpPr>
          <p:cNvPr id="265" name=""/>
          <p:cNvSpPr/>
          <p:nvPr/>
        </p:nvSpPr>
        <p:spPr>
          <a:xfrm rot="0" flipH="0" flipV="0">
            <a:off x="6705600" y="0"/>
            <a:ext cx="3048000" cy="76200"/>
          </a:xfrm>
          <a:prstGeom prst="rect">
            <a:avLst/>
          </a:prstGeom>
          <a:solidFill>
            <a:srgbClr val="2E6BB0"/>
          </a:solidFill>
          <a:ln/>
        </p:spPr>
        <p:txBody>
          <a:bodyPr/>
          <a:p/>
        </p:txBody>
      </p:sp>
      <p:sp>
        <p:nvSpPr>
          <p:cNvPr id="266" name=""/>
          <p:cNvSpPr/>
          <p:nvPr/>
        </p:nvSpPr>
        <p:spPr>
          <a:xfrm rot="0" flipH="0" flipV="0">
            <a:off x="9753600" y="0"/>
            <a:ext cx="2438400" cy="76200"/>
          </a:xfrm>
          <a:prstGeom prst="rect">
            <a:avLst/>
          </a:prstGeom>
          <a:solidFill>
            <a:srgbClr val="C8A45C"/>
          </a:solidFill>
          <a:ln/>
        </p:spPr>
        <p:txBody>
          <a:bodyPr/>
          <a:p/>
        </p:txBody>
      </p:sp>
      <p:sp>
        <p:nvSpPr>
          <p:cNvPr id="267" name=""/>
          <p:cNvSpPr/>
          <p:nvPr/>
        </p:nvSpPr>
        <p:spPr>
          <a:xfrm rot="0" flipH="0" flipV="0">
            <a:off x="609600" y="533400"/>
            <a:ext cx="57150" cy="419100"/>
          </a:xfrm>
          <a:prstGeom prst="rect">
            <a:avLst/>
          </a:prstGeom>
          <a:solidFill>
            <a:srgbClr val="1B4A8C"/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857250" y="390525"/>
            <a:ext cx="47244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F2733"/>
                </a:solidFill>
                <a:latin typeface="Microsoft YaHei"/>
                <a:ea typeface="Microsoft YaHei"/>
              </a:rPr>
              <a:t>系统定位：一条链路管到底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857250" y="914400"/>
            <a:ext cx="472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A94A6"/>
                </a:solidFill>
                <a:latin typeface="Microsoft YaHei"/>
                <a:ea typeface="Microsoft YaHei"/>
              </a:rPr>
              <a:t>把散落在表格、微信群、纸质台账里的案子，收进同一条可追踪的链路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9972675" y="581025"/>
            <a:ext cx="1609725" cy="323850"/>
          </a:xfrm>
          <a:prstGeom prst="roundRect">
            <a:avLst>
              <a:gd name="adj" fmla="val 17647"/>
            </a:avLst>
          </a:prstGeom>
          <a:solidFill>
            <a:srgbClr val="F4F6F9"/>
          </a:solidFill>
          <a:ln/>
        </p:spPr>
        <p:txBody>
          <a:bodyPr/>
          <a:p/>
        </p:txBody>
      </p:sp>
      <p:pic>
        <p:nvPicPr>
          <p:cNvPr id="27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106025" y="657225"/>
            <a:ext cx="171450" cy="171450"/>
          </a:xfrm>
          <a:prstGeom prst="rect">
            <a:avLst/>
          </a:prstGeom>
          <a:ln/>
        </p:spPr>
      </p:pic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10372725" y="666750"/>
            <a:ext cx="1076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B4A8C"/>
                </a:solidFill>
                <a:latin typeface="Microsoft YaHei"/>
                <a:ea typeface="Microsoft YaHei"/>
              </a:rPr>
              <a:t>第</a:t>
            </a:r>
            <a:r>
              <a:rPr lang="en-US" sz="1050">
                <a:solidFill>
                  <a:srgbClr val="1B4A8C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050">
                <a:solidFill>
                  <a:srgbClr val="1B4A8C"/>
                </a:solidFill>
                <a:latin typeface="Microsoft YaHei"/>
                <a:ea typeface="Microsoft YaHei"/>
              </a:rPr>
              <a:t>章</a:t>
            </a:r>
            <a:r>
              <a:rPr lang="en-US" sz="1050">
                <a:solidFill>
                  <a:srgbClr val="1B4A8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1B4A8C"/>
                </a:solidFill>
                <a:latin typeface="Microsoft YaHei"/>
                <a:ea typeface="Microsoft YaHei"/>
              </a:rPr>
              <a:t>系统全貌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657225" y="1257300"/>
            <a:ext cx="4953000" cy="742950"/>
          </a:xfrm>
          <a:prstGeom prst="roundRect">
            <a:avLst>
              <a:gd name="adj" fmla="val 10256"/>
            </a:avLst>
          </a:prstGeom>
          <a:solidFill>
            <a:srgbClr val="F4F6F9"/>
          </a:solidFill>
          <a:ln/>
        </p:spPr>
        <p:txBody>
          <a:bodyPr/>
          <a:p/>
        </p:txBody>
      </p:sp>
      <p:sp>
        <p:nvSpPr>
          <p:cNvPr id="274" name=""/>
          <p:cNvSpPr/>
          <p:nvPr/>
        </p:nvSpPr>
        <p:spPr>
          <a:xfrm rot="0" flipH="0" flipV="0">
            <a:off x="657225" y="1257300"/>
            <a:ext cx="4953000" cy="742950"/>
          </a:xfrm>
          <a:custGeom>
            <a:pathLst>
              <a:path w="520" h="78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75"/>
                </a:lnTo>
                <a:cubicBezTo>
                  <a:pt x="5" y="77"/>
                  <a:pt x="6" y="78"/>
                  <a:pt x="8" y="78"/>
                </a:cubicBezTo>
                <a:cubicBezTo>
                  <a:pt x="3" y="78"/>
                  <a:pt x="0" y="74"/>
                  <a:pt x="0" y="7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B4A8C"/>
          </a:solidFill>
          <a:ln/>
        </p:spPr>
        <p:txBody>
          <a:bodyPr/>
          <a:p/>
        </p:txBody>
      </p:sp>
      <p:sp>
        <p:nvSpPr>
          <p:cNvPr id="275" name=""/>
          <p:cNvSpPr/>
          <p:nvPr/>
        </p:nvSpPr>
        <p:spPr>
          <a:xfrm rot="0" flipH="0" flipV="0">
            <a:off x="809625" y="14192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B4A8C"/>
          </a:solidFill>
          <a:ln/>
        </p:spPr>
        <p:txBody>
          <a:bodyPr/>
          <a:p/>
        </p:txBody>
      </p:sp>
      <p:pic>
        <p:nvPicPr>
          <p:cNvPr id="27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14400" y="1524000"/>
            <a:ext cx="209550" cy="209550"/>
          </a:xfrm>
          <a:prstGeom prst="rect">
            <a:avLst/>
          </a:prstGeom>
          <a:ln/>
        </p:spPr>
      </p:pic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1362075" y="1409700"/>
            <a:ext cx="404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2733"/>
                </a:solidFill>
                <a:latin typeface="Microsoft YaHei"/>
                <a:ea typeface="Microsoft YaHei"/>
              </a:rPr>
              <a:t>收案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1362075" y="1676400"/>
            <a:ext cx="4048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94A6"/>
                </a:solidFill>
                <a:latin typeface="Microsoft YaHei"/>
                <a:ea typeface="Microsoft YaHei"/>
              </a:rPr>
              <a:t>录入或导入案件，标注刑事</a:t>
            </a:r>
            <a:r>
              <a:rPr lang="en-US" sz="1125">
                <a:solidFill>
                  <a:srgbClr val="8A94A6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8A94A6"/>
                </a:solidFill>
                <a:latin typeface="Microsoft YaHei"/>
                <a:ea typeface="Microsoft YaHei"/>
              </a:rPr>
              <a:t>行政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657225" y="2133600"/>
            <a:ext cx="49530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0" name=""/>
          <p:cNvSpPr/>
          <p:nvPr/>
        </p:nvSpPr>
        <p:spPr>
          <a:xfrm rot="0" flipH="0" flipV="0">
            <a:off x="657225" y="2133600"/>
            <a:ext cx="4953000" cy="742950"/>
          </a:xfrm>
          <a:custGeom>
            <a:pathLst>
              <a:path w="520" h="78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75"/>
                </a:lnTo>
                <a:cubicBezTo>
                  <a:pt x="5" y="77"/>
                  <a:pt x="6" y="78"/>
                  <a:pt x="8" y="78"/>
                </a:cubicBezTo>
                <a:cubicBezTo>
                  <a:pt x="3" y="78"/>
                  <a:pt x="0" y="74"/>
                  <a:pt x="0" y="7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E6BB0"/>
          </a:solidFill>
          <a:ln/>
        </p:spPr>
        <p:txBody>
          <a:bodyPr/>
          <a:p/>
        </p:txBody>
      </p:sp>
      <p:sp>
        <p:nvSpPr>
          <p:cNvPr id="281" name=""/>
          <p:cNvSpPr/>
          <p:nvPr/>
        </p:nvSpPr>
        <p:spPr>
          <a:xfrm rot="0" flipH="0" flipV="0">
            <a:off x="809625" y="22955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E6BB0"/>
          </a:solidFill>
          <a:ln/>
        </p:spPr>
        <p:txBody>
          <a:bodyPr/>
          <a:p/>
        </p:txBody>
      </p:sp>
      <p:pic>
        <p:nvPicPr>
          <p:cNvPr id="28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914400" y="2400300"/>
            <a:ext cx="209550" cy="209550"/>
          </a:xfrm>
          <a:prstGeom prst="rect">
            <a:avLst/>
          </a:prstGeom>
          <a:ln/>
        </p:spPr>
      </p:pic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1362075" y="2286000"/>
            <a:ext cx="404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2733"/>
                </a:solidFill>
                <a:latin typeface="Microsoft YaHei"/>
                <a:ea typeface="Microsoft YaHei"/>
              </a:rPr>
              <a:t>指派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1362075" y="2552700"/>
            <a:ext cx="4048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94A6"/>
                </a:solidFill>
                <a:latin typeface="Microsoft YaHei"/>
                <a:ea typeface="Microsoft YaHei"/>
              </a:rPr>
              <a:t>定主办</a:t>
            </a:r>
            <a:r>
              <a:rPr lang="en-US" sz="1125">
                <a:solidFill>
                  <a:srgbClr val="8A94A6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8A94A6"/>
                </a:solidFill>
                <a:latin typeface="Microsoft YaHei"/>
                <a:ea typeface="Microsoft YaHei"/>
              </a:rPr>
              <a:t>协办，按层级与办案组派工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657225" y="3009900"/>
            <a:ext cx="4953000" cy="742950"/>
          </a:xfrm>
          <a:prstGeom prst="roundRect">
            <a:avLst>
              <a:gd name="adj" fmla="val 10256"/>
            </a:avLst>
          </a:prstGeom>
          <a:solidFill>
            <a:srgbClr val="F4F6F9"/>
          </a:solidFill>
          <a:ln/>
        </p:spPr>
        <p:txBody>
          <a:bodyPr/>
          <a:p/>
        </p:txBody>
      </p:sp>
      <p:sp>
        <p:nvSpPr>
          <p:cNvPr id="286" name=""/>
          <p:cNvSpPr/>
          <p:nvPr/>
        </p:nvSpPr>
        <p:spPr>
          <a:xfrm rot="0" flipH="0" flipV="0">
            <a:off x="657225" y="3009900"/>
            <a:ext cx="4953000" cy="742950"/>
          </a:xfrm>
          <a:custGeom>
            <a:pathLst>
              <a:path w="520" h="78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75"/>
                </a:lnTo>
                <a:cubicBezTo>
                  <a:pt x="5" y="77"/>
                  <a:pt x="6" y="78"/>
                  <a:pt x="8" y="78"/>
                </a:cubicBezTo>
                <a:cubicBezTo>
                  <a:pt x="3" y="78"/>
                  <a:pt x="0" y="74"/>
                  <a:pt x="0" y="7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B4A8C"/>
          </a:solidFill>
          <a:ln/>
        </p:spPr>
        <p:txBody>
          <a:bodyPr/>
          <a:p/>
        </p:txBody>
      </p:sp>
      <p:sp>
        <p:nvSpPr>
          <p:cNvPr id="287" name=""/>
          <p:cNvSpPr/>
          <p:nvPr/>
        </p:nvSpPr>
        <p:spPr>
          <a:xfrm rot="0" flipH="0" flipV="0">
            <a:off x="809625" y="31718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B4A8C"/>
          </a:solidFill>
          <a:ln/>
        </p:spPr>
        <p:txBody>
          <a:bodyPr/>
          <a:p/>
        </p:txBody>
      </p:sp>
      <p:pic>
        <p:nvPicPr>
          <p:cNvPr id="28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14400" y="3276600"/>
            <a:ext cx="209550" cy="209550"/>
          </a:xfrm>
          <a:prstGeom prst="rect">
            <a:avLst/>
          </a:prstGeom>
          <a:ln/>
        </p:spPr>
      </p:pic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1362075" y="3162300"/>
            <a:ext cx="404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2733"/>
                </a:solidFill>
                <a:latin typeface="Microsoft YaHei"/>
                <a:ea typeface="Microsoft YaHei"/>
              </a:rPr>
              <a:t>盯办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1362075" y="3429000"/>
            <a:ext cx="4048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94A6"/>
                </a:solidFill>
                <a:latin typeface="Microsoft YaHei"/>
                <a:ea typeface="Microsoft YaHei"/>
              </a:rPr>
              <a:t>意见派生成待办，到期自动预警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657225" y="3886200"/>
            <a:ext cx="49530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2" name=""/>
          <p:cNvSpPr/>
          <p:nvPr/>
        </p:nvSpPr>
        <p:spPr>
          <a:xfrm rot="0" flipH="0" flipV="0">
            <a:off x="657225" y="3886200"/>
            <a:ext cx="4953000" cy="742950"/>
          </a:xfrm>
          <a:custGeom>
            <a:pathLst>
              <a:path w="520" h="78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75"/>
                </a:lnTo>
                <a:cubicBezTo>
                  <a:pt x="5" y="77"/>
                  <a:pt x="6" y="78"/>
                  <a:pt x="8" y="78"/>
                </a:cubicBezTo>
                <a:cubicBezTo>
                  <a:pt x="3" y="78"/>
                  <a:pt x="0" y="74"/>
                  <a:pt x="0" y="7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C8A45C"/>
          </a:solidFill>
          <a:ln/>
        </p:spPr>
        <p:txBody>
          <a:bodyPr/>
          <a:p/>
        </p:txBody>
      </p:sp>
      <p:sp>
        <p:nvSpPr>
          <p:cNvPr id="293" name=""/>
          <p:cNvSpPr/>
          <p:nvPr/>
        </p:nvSpPr>
        <p:spPr>
          <a:xfrm rot="0" flipH="0" flipV="0">
            <a:off x="809625" y="40481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C8A45C"/>
          </a:solidFill>
          <a:ln/>
        </p:spPr>
        <p:txBody>
          <a:bodyPr/>
          <a:p/>
        </p:txBody>
      </p:sp>
      <p:pic>
        <p:nvPicPr>
          <p:cNvPr id="29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914400" y="4152900"/>
            <a:ext cx="209550" cy="209550"/>
          </a:xfrm>
          <a:prstGeom prst="rect">
            <a:avLst/>
          </a:prstGeom>
          <a:ln/>
        </p:spPr>
      </p:pic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1362075" y="4038600"/>
            <a:ext cx="404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2733"/>
                </a:solidFill>
                <a:latin typeface="Microsoft YaHei"/>
                <a:ea typeface="Microsoft YaHei"/>
              </a:rPr>
              <a:t>办结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1362075" y="4305300"/>
            <a:ext cx="4048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94A6"/>
                </a:solidFill>
                <a:latin typeface="Microsoft YaHei"/>
                <a:ea typeface="Microsoft YaHei"/>
              </a:rPr>
              <a:t>阶段完成</a:t>
            </a:r>
            <a:r>
              <a:rPr lang="en-US" sz="1125">
                <a:solidFill>
                  <a:srgbClr val="8A94A6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8A94A6"/>
                </a:solidFill>
                <a:latin typeface="Microsoft YaHei"/>
                <a:ea typeface="Microsoft YaHei"/>
              </a:rPr>
              <a:t>领导确认</a:t>
            </a:r>
            <a:r>
              <a:rPr lang="en-US" sz="1125">
                <a:solidFill>
                  <a:srgbClr val="8A94A6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8A94A6"/>
                </a:solidFill>
                <a:latin typeface="Microsoft YaHei"/>
                <a:ea typeface="Microsoft YaHei"/>
              </a:rPr>
              <a:t>归档留痕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5829300" y="1257300"/>
            <a:ext cx="5753100" cy="5067300"/>
          </a:xfrm>
          <a:prstGeom prst="roundRect">
            <a:avLst>
              <a:gd name="adj" fmla="val 1880"/>
            </a:avLst>
          </a:prstGeom>
          <a:solidFill>
            <a:srgbClr val="F4F6F9"/>
          </a:solidFill>
          <a:ln w="12700">
            <a:solidFill>
              <a:srgbClr val="E3E8F0"/>
            </a:solidFill>
            <a:prstDash val="solid"/>
          </a:ln>
        </p:spPr>
        <p:txBody>
          <a:bodyPr/>
          <a:p/>
        </p:txBody>
      </p:sp>
      <p:sp>
        <p:nvSpPr>
          <p:cNvPr id="298" name=""/>
          <p:cNvSpPr/>
          <p:nvPr/>
        </p:nvSpPr>
        <p:spPr>
          <a:xfrm rot="0" flipH="0" flipV="0">
            <a:off x="5829300" y="1257300"/>
            <a:ext cx="5753100" cy="419100"/>
          </a:xfrm>
          <a:custGeom>
            <a:pathLst>
              <a:path w="604" h="44">
                <a:moveTo>
                  <a:pt x="594" y="0"/>
                </a:moveTo>
                <a:cubicBezTo>
                  <a:pt x="600" y="0"/>
                  <a:pt x="604" y="5"/>
                  <a:pt x="604" y="10"/>
                </a:cubicBezTo>
                <a:lnTo>
                  <a:pt x="604" y="44"/>
                </a:lnTo>
                <a:lnTo>
                  <a:pt x="0" y="44"/>
                </a:ln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594" y="0"/>
                </a:lnTo>
                <a:close/>
              </a:path>
            </a:pathLst>
          </a:custGeom>
          <a:gradFill>
            <a:gsLst>
              <a:gs pos="0">
                <a:srgbClr val="1B4A8C"/>
              </a:gs>
              <a:gs pos="100000">
                <a:srgbClr val="2E6BB0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29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5981700" y="1381125"/>
            <a:ext cx="171450" cy="171450"/>
          </a:xfrm>
          <a:prstGeom prst="rect">
            <a:avLst/>
          </a:prstGeom>
          <a:ln/>
        </p:spPr>
      </p:pic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6248400" y="1371600"/>
            <a:ext cx="167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工作台：全部案件的入口</a:t>
            </a:r>
            <a:endParaRPr/>
          </a:p>
        </p:txBody>
      </p:sp>
      <p:pic>
        <p:nvPicPr>
          <p:cNvPr id="301" name=""/>
          <p:cNvPicPr>
            <a:picLocks noChangeAspect="1"/>
          </p:cNvPicPr>
          <p:nvPr/>
        </p:nvPicPr>
        <p:blipFill>
          <a:blip r:embed="rId7"/>
          <a:srcRect l="7868" t="0" r="7868" b="0"/>
          <a:stretch>
            <a:fillRect/>
          </a:stretch>
        </p:blipFill>
        <p:spPr>
          <a:xfrm rot="0" flipH="0" flipV="0">
            <a:off x="5829300" y="1676400"/>
            <a:ext cx="5753100" cy="4267200"/>
          </a:xfrm>
          <a:prstGeom prst="rect">
            <a:avLst/>
          </a:prstGeom>
          <a:ln/>
        </p:spPr>
      </p:pic>
      <p:sp>
        <p:nvSpPr>
          <p:cNvPr id="302" name=""/>
          <p:cNvSpPr/>
          <p:nvPr/>
        </p:nvSpPr>
        <p:spPr>
          <a:xfrm rot="0" flipH="0" flipV="0">
            <a:off x="5829300" y="5943600"/>
            <a:ext cx="5753100" cy="381000"/>
          </a:xfrm>
          <a:custGeom>
            <a:pathLst>
              <a:path w="604" h="40">
                <a:moveTo>
                  <a:pt x="604" y="30"/>
                </a:moveTo>
                <a:cubicBezTo>
                  <a:pt x="604" y="36"/>
                  <a:pt x="600" y="40"/>
                  <a:pt x="594" y="40"/>
                </a:cubicBezTo>
                <a:lnTo>
                  <a:pt x="10" y="40"/>
                </a:lnTo>
                <a:cubicBezTo>
                  <a:pt x="4" y="40"/>
                  <a:pt x="0" y="36"/>
                  <a:pt x="0" y="30"/>
                </a:cubicBezTo>
                <a:lnTo>
                  <a:pt x="0" y="0"/>
                </a:lnTo>
                <a:lnTo>
                  <a:pt x="604" y="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5981700" y="6038850"/>
            <a:ext cx="5448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94A6"/>
                </a:solidFill>
                <a:latin typeface="Microsoft YaHei"/>
                <a:ea typeface="Microsoft YaHei"/>
              </a:rPr>
              <a:t>案件总数</a:t>
            </a:r>
            <a:r>
              <a:rPr lang="en-US" sz="1125">
                <a:solidFill>
                  <a:srgbClr val="8A94A6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8A94A6"/>
                </a:solidFill>
                <a:latin typeface="Microsoft YaHei"/>
                <a:ea typeface="Microsoft YaHei"/>
              </a:rPr>
              <a:t>待指派</a:t>
            </a:r>
            <a:r>
              <a:rPr lang="en-US" sz="1125">
                <a:solidFill>
                  <a:srgbClr val="8A94A6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8A94A6"/>
                </a:solidFill>
                <a:latin typeface="Microsoft YaHei"/>
                <a:ea typeface="Microsoft YaHei"/>
              </a:rPr>
              <a:t>已逾期</a:t>
            </a:r>
            <a:r>
              <a:rPr lang="en-US" sz="1125">
                <a:solidFill>
                  <a:srgbClr val="8A94A6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8A94A6"/>
                </a:solidFill>
                <a:latin typeface="Microsoft YaHei"/>
                <a:ea typeface="Microsoft YaHei"/>
              </a:rPr>
              <a:t>今日到期，一眼看清手头压力。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609600" y="6515100"/>
            <a:ext cx="2305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4A6"/>
                </a:solidFill>
                <a:latin typeface="Microsoft YaHei"/>
                <a:ea typeface="Microsoft YaHei"/>
              </a:rPr>
              <a:t>案件指派系统　·　功能汇报与使用讲解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11125200" y="65151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4A6"/>
                </a:solidFill>
                <a:latin typeface="Microsoft YaHei"/>
                <a:ea typeface="Microsoft YaHei"/>
              </a:rPr>
              <a:t>04 / 16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609600" y="6781800"/>
            <a:ext cx="6038850" cy="57150"/>
          </a:xfrm>
          <a:prstGeom prst="rect">
            <a:avLst/>
          </a:prstGeom>
          <a:solidFill>
            <a:srgbClr val="1B4A8C"/>
          </a:solidFill>
          <a:ln/>
        </p:spPr>
        <p:txBody>
          <a:bodyPr/>
          <a:p/>
        </p:txBody>
      </p:sp>
      <p:sp>
        <p:nvSpPr>
          <p:cNvPr id="307" name=""/>
          <p:cNvSpPr/>
          <p:nvPr/>
        </p:nvSpPr>
        <p:spPr>
          <a:xfrm rot="0" flipH="0" flipV="0">
            <a:off x="6648450" y="6781800"/>
            <a:ext cx="2743200" cy="57150"/>
          </a:xfrm>
          <a:prstGeom prst="rect">
            <a:avLst/>
          </a:prstGeom>
          <a:solidFill>
            <a:srgbClr val="2E6BB0"/>
          </a:solidFill>
          <a:ln/>
        </p:spPr>
        <p:txBody>
          <a:bodyPr/>
          <a:p/>
        </p:txBody>
      </p:sp>
      <p:sp>
        <p:nvSpPr>
          <p:cNvPr id="308" name=""/>
          <p:cNvSpPr/>
          <p:nvPr/>
        </p:nvSpPr>
        <p:spPr>
          <a:xfrm rot="0" flipH="0" flipV="0">
            <a:off x="9391650" y="6781800"/>
            <a:ext cx="2190750" cy="57150"/>
          </a:xfrm>
          <a:prstGeom prst="rect">
            <a:avLst/>
          </a:prstGeom>
          <a:solidFill>
            <a:srgbClr val="C8A45C"/>
          </a:solidFill>
          <a:ln/>
        </p:spPr>
        <p:txBody>
          <a:bodyPr/>
          <a:p/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09" name="" descr="&lt;Slide style={{ width: 1280, height: 720, position: 'relative', background: '#FFFFFF', overflow: 'hidden' }}&gt;&#10;    &lt;Box style={{ position: 'absolute', left: 0, top: 0, width: 1280, height: 8, flexDirection: 'row' }}&gt;&#10;        &lt;Box style={{ width: '55%', height: 8, background: '#1B4A8C' }} /&gt;&#10;        &lt;Box style={{ width: '25%', height: 8, background: '#2E6BB0' }} /&gt;&#10;        &lt;Box style={{ width: '20%', height: 8, background: '#C8A45C' }} /&gt;&#10;    &lt;/Box&gt;&#10;    &lt;Box style={{ position: 'absolute', left: 64, top: 40, width: 1152, height: 76, flexDirection: 'row', alignItems: 'center', gap: 20 }}&gt;&#10;        &lt;Box style={{ width: 6, height: 44, background: '#1B4A8C' }} /&gt;&#10;        &lt;Box style={{ flexDirection: 'column' }}&gt;&#10;            &lt;Text style={{ fontSize: 34, fontWeight: 'bold', color: '#1F2733', lineHeight: 1.2 }}&gt;从收到案子到办结：全链路&lt;/Text&gt;&#10;            &lt;Text style={{ fontSize: 16, color: '#8A94A6', marginTop: 6 }}&gt;六个节点串成一条闭环，每一步都有责任人、都有时间戳&lt;/Text&gt;&#10;        &lt;/Box&gt;&#10;        &lt;Box style={{ marginLeft: 'auto', flexDirection: 'row', alignItems: 'center', gap: 10, background: '#F4F6F9', borderRadius: 6, paddingLeft: 14, paddingRight: 14, paddingTop: 8, paddingBottom: 8 }}&gt;&#10;            &lt;FAIcon name='project-diagram' style={{ fill: '#1B4A8C', width: 18, height: 18 }} /&gt;&#10;            &lt;Text style={{ fontSize: 14, color: '#1B4A8C' }}&gt;全链路闭环&lt;/Text&gt;&#10;        &lt;/Box&gt;&#10;    &lt;/Box&gt;&#10;    &lt;Box style={{ position: 'absolute', left: 64, top: 132, width: 1152, height: 532, flexDirection: 'column', gap: 20 }}&gt;&#10;        {/* 流程图主视觉 */}&#10;        &lt;Box style={{ width: '100%', flexDirection: 'column', background: '#F4F6F9', borderRadius: 10, border: '1px solid #E3E8F0', paddingTop: 22, paddingBottom: 22, paddingLeft: 24, paddingRight: 24 }}&gt;&#10;            &lt;Text style={{ fontSize: 18, fontWeight: 'bold', color: '#1B4A8C', marginBottom: 16 }}&gt;主链路&lt;/Text&gt;&#10;            &lt;svg width={1100} height={168} viewBox='0 0 1100 168'&gt;&#10;                &lt;defs&gt;&#10;                    &lt;marker id='arw' markerWidth='9' markerHeight='9' refX='7' refY='4.5' orient='auto'&gt;&#10;                        &lt;path d='M0,0 L9,4.5 L0,9 z' fill='#2E6BB0' /&gt;&#10;                    &lt;/marker&gt;&#10;                &lt;/defs&gt;&#10;                &lt;line x1='150' y1='62' x2='196' y2='62' stroke='#2E6BB0' strokeWidth='2.5' markerEnd='url(#arw)' /&gt;&#10;                &lt;line x1='330' y1='62' x2='376' y2='62' stroke='#2E6BB0' strokeWidth='2.5' markerEnd='url(#arw)' /&gt;&#10;                &lt;line x1='510' y1='62' x2='556' y2='62' stroke='#2E6BB0' strokeWidth='2.5' markerEnd='url(#arw)' /&gt;&#10;                &lt;line x1='690' y1='62' x2='736' y2='62' stroke='#2E6BB0' strokeWidth='2.5' markerEnd='url(#arw)' /&gt;&#10;                &lt;line x1='870' y1='62' x2='916' y2='62' stroke='#2E6BB0' strokeWidth='2.5' markerEnd='url(#arw)' /&gt;&#10;                &lt;g&gt;&#10;                    &lt;rect x='10' y='36' width='140' height='52' rx='8' fill='#1B4A8C' /&gt;&#10;                    &lt;text x='80' y='68' fill='#FFFFFF' fontSize='19' fontWeight='bold' textAnchor='middle'&gt;① 收案&lt;/text&gt;&#10;                &lt;/g&gt;&#10;                &lt;g&gt;&#10;                    &lt;rect x='200' y='36' width='130' height='52' rx='8' fill='#1B4A8C' /&gt;&#10;                    &lt;text x='265' y='68' fill='#FFFFFF' fontSize='19' fontWeight='bold' textAnchor='middle'&gt;② 指派&lt;/text&gt;&#10;                &lt;/g&gt;&#10;                &lt;g&gt;&#10;                    &lt;rect x='380' y='36' width='130' height='52' rx='8' fill='#2E6BB0' /&gt;&#10;                    &lt;text x='445' y='68' fill='#FFFFFF' fontSize='19' fontWeight='bold' textAnchor='middle'&gt;③ 建待办&lt;/text&gt;&#10;                &lt;/g&gt;&#10;                &lt;g&gt;&#10;                    &lt;rect x='560' y='36' width='130' height='52' rx='8' fill='#1B4A8C' /&gt;&#10;                    &lt;text x='625' y='68' fill='#FFFFFF' fontSize='19' fontWeight='bold' textAnchor='middle'&gt;④ 盯版本&lt;/text&gt;&#10;                &lt;/g&gt;&#10;                &lt;g&gt;&#10;                    &lt;rect x='740' y='36' width='130' height='52' rx='8' fill='#2E6BB0' /&gt;&#10;                    &lt;text x='805' y='68' fill='#FFFFFF' fontSize='19' fontWeight='bold' textAnchor='middle'&gt;⑤ 流转&lt;/text&gt;&#10;                &lt;/g&gt;&#10;                &lt;g&gt;&#10;                    &lt;rect x='920' y='36' width='150' height='52' rx='8' fill='#C8A45C' /&gt;&#10;                    &lt;text x='995' y='68' fill='#FFFFFF' fontSize='19' fontWeight='bold' textAnchor='middle'&gt;⑥ 办结&lt;/text&gt;&#10;                &lt;/g&gt;&#10;                &lt;text x='80' y='112' fill='#8A94A6' fontSize='14' textAnchor='middle'&gt;录入 / 导入&lt;/text&gt;&#10;                &lt;text x='265' y='112' fill='#8A94A6' fontSize='14' textAnchor='middle'&gt;主办 + 协办&lt;/text&gt;&#10;                &lt;text x='445' y='112' fill='#8A94A6' fontSize='14' textAnchor='middle'&gt;意见派生&lt;/text&gt;&#10;                &lt;text x='625' y='112' fill='#8A94A6' fontSize='14' textAnchor='middle'&gt;逐条反馈&lt;/text&gt;&#10;                &lt;text x='805' y='112' fill='#8A94A6' fontSize='14' textAnchor='middle'&gt;领导确认&lt;/text&gt;&#10;                &lt;text x='995' y='112' fill='#8A94A6' fontSize='14' textAnchor='middle'&gt;归档留痕&lt;/text&gt;&#10;                &lt;path d='M995,132 L995,152 L80,152 L80,132' fill='none' stroke='#C8A45C' strokeWidth='1.5' strokeDasharray='6 5' /&gt;&#10;                &lt;text x='540' y='164' fill='#C8A45C' fontSize='13' textAnchor='middle'&gt;全过程可追溯 · 每一步都留操作日志&lt;/text&gt;&#10;            &lt;/svg&gt;&#10;        &lt;/Box&gt;&#10;        {/* 三点说明 */}&#10;        &lt;Box style={{ width: '100%', flexDirection: 'row', gap: 20 }}&gt;&#10;            &lt;Box style={{ flex: 1, flexDirection: 'column', background: '#FFFFFF', border: '1px solid #E3E8F0', borderRadius: 8, padding: 18 }}&gt;&#10;                &lt;Box style={{ flexDirection: 'row', alignItems: 'center', gap: 10 }}&gt;&#10;                    &lt;FAIcon name='bullseye' style={{ fill: '#1B4A8C', width: 22, height: 22 }} /&gt;&#10;                    &lt;Text style={{ fontSize: 19, fontWeight: 'bold', color: '#1F2733' }}&gt;责任到人&lt;/Text&gt;&#10;                &lt;/Box&gt;&#10;                &lt;Text style={{ fontSize: 16, color: '#5A6478', lineHeight: 1.65, marginTop: 10 }}&gt;指派环节同时确定主办与协办，谁在办、谁协办一屏可见。&lt;/Text&gt;&#10;            &lt;/Box&gt;&#10;            &lt;Box style={{ flex: 1, flexDirection: 'column', background: '#F4F6F9', border: '1px solid #E3E8F0', borderRadius: 8, padding: 18 }}&gt;&#10;                &lt;Box style={{ flexDirection: 'row', alignItems: 'center', gap: 10 }}&gt;&#10;                    &lt;FAIcon name='clock' style={{ fill: '#2E6BB0', width: 22, height: 22 }} /&gt;&#10;                    &lt;Text style={{ fontSize: 19, fontWeight: 'bold', color: '#1F2733' }}&gt;节点限时&lt;/Text&gt;&#10;                &lt;/Box&gt;&#10;                &lt;Text style={{ fontSize: 16, color: '#5A6478', lineHeight: 1.65, marginTop: 10 }}&gt;每个阶段挂计时基准，临期变橙、逾期变红，自动推送到人。&lt;/Text&gt;&#10;            &lt;/Box&gt;&#10;            &lt;Box style={{ flex: 1, flexDirection: 'column', background: '#FFFFFF', border: '1px solid #E3E8F0', borderRadius: 8, padding: 18 }}&gt;&#10;                &lt;Box style={{ flexDirection: 'row', alignItems: 'center', gap: 10 }}&gt;&#10;                    &lt;FAIcon name='history' style={{ fill: '#C8A45C', width: 22, height: 22 }} /&gt;&#10;                    &lt;Text style={{ fontSize: 19, fontWeight: 'bold', color: '#1F2733' }}&gt;可撤回重做&lt;/Text&gt;&#10;                &lt;/Box&gt;&#10;                &lt;Text style={{ fontSize: 16, color: '#5A6478', lineHeight: 1.65, marginTop: 10 }}&gt;误操作一键撤回，系统记录前后快照，撤回动作本身也留痕。&lt;/Text&gt;&#10;            &lt;/Box&gt;&#10;        &lt;/Box&gt;&#10;    &lt;/Box&gt;&#10;    &lt;Box style={{ position: 'absolute', left: 64, top: 676, width: 1152, height: 32, flexDirection: 'row', justifyContent: 'space-between', alignItems: 'center' }}&gt;&#10;        &lt;Text style={{ fontSize: 14, color: '#8A94A6' }}&gt;案件指派系统　·　功能汇报与使用讲解&lt;/Text&gt;&#10;        &lt;Text style={{ fontSize: 14, color: '#8A94A6' }}&gt;05 / 16&lt;/Text&gt;&#10;    &lt;/Box&gt;&#10;    &lt;Box style={{ position: 'absolute', left: 64, top: 712, width: 1152, height: 6, flexDirection: 'row' }}&gt;&#10;        &lt;Box style={{ width: '55%', height: 6, background: '#1B4A8C' }} /&gt;&#10;        &lt;Box style={{ width: '25%', height: 6, background: '#2E6BB0' }} /&gt;&#10;        &lt;Box style={{ width: '20%', height: 6, background: '#C8A45C' }} /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1" name=""/>
          <p:cNvSpPr/>
          <p:nvPr/>
        </p:nvSpPr>
        <p:spPr>
          <a:xfrm rot="0" flipH="0" flipV="0">
            <a:off x="0" y="0"/>
            <a:ext cx="6705600" cy="76200"/>
          </a:xfrm>
          <a:prstGeom prst="rect">
            <a:avLst/>
          </a:prstGeom>
          <a:solidFill>
            <a:srgbClr val="1B4A8C"/>
          </a:solidFill>
          <a:ln/>
        </p:spPr>
        <p:txBody>
          <a:bodyPr/>
          <a:p/>
        </p:txBody>
      </p:sp>
      <p:sp>
        <p:nvSpPr>
          <p:cNvPr id="312" name=""/>
          <p:cNvSpPr/>
          <p:nvPr/>
        </p:nvSpPr>
        <p:spPr>
          <a:xfrm rot="0" flipH="0" flipV="0">
            <a:off x="6705600" y="0"/>
            <a:ext cx="3048000" cy="76200"/>
          </a:xfrm>
          <a:prstGeom prst="rect">
            <a:avLst/>
          </a:prstGeom>
          <a:solidFill>
            <a:srgbClr val="2E6BB0"/>
          </a:solidFill>
          <a:ln/>
        </p:spPr>
        <p:txBody>
          <a:bodyPr/>
          <a:p/>
        </p:txBody>
      </p:sp>
      <p:sp>
        <p:nvSpPr>
          <p:cNvPr id="313" name=""/>
          <p:cNvSpPr/>
          <p:nvPr/>
        </p:nvSpPr>
        <p:spPr>
          <a:xfrm rot="0" flipH="0" flipV="0">
            <a:off x="9753600" y="0"/>
            <a:ext cx="2438400" cy="76200"/>
          </a:xfrm>
          <a:prstGeom prst="rect">
            <a:avLst/>
          </a:prstGeom>
          <a:solidFill>
            <a:srgbClr val="C8A45C"/>
          </a:solidFill>
          <a:ln/>
        </p:spPr>
        <p:txBody>
          <a:bodyPr/>
          <a:p/>
        </p:txBody>
      </p:sp>
      <p:sp>
        <p:nvSpPr>
          <p:cNvPr id="314" name=""/>
          <p:cNvSpPr/>
          <p:nvPr/>
        </p:nvSpPr>
        <p:spPr>
          <a:xfrm rot="0" flipH="0" flipV="0">
            <a:off x="609600" y="533400"/>
            <a:ext cx="57150" cy="419100"/>
          </a:xfrm>
          <a:prstGeom prst="rect">
            <a:avLst/>
          </a:prstGeom>
          <a:solidFill>
            <a:srgbClr val="1B4A8C"/>
          </a:solidFill>
          <a:ln/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857250" y="390525"/>
            <a:ext cx="38862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F2733"/>
                </a:solidFill>
                <a:latin typeface="Microsoft YaHei"/>
                <a:ea typeface="Microsoft YaHei"/>
              </a:rPr>
              <a:t>从收到案子到办结：全链路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857250" y="914400"/>
            <a:ext cx="388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A94A6"/>
                </a:solidFill>
                <a:latin typeface="Microsoft YaHei"/>
                <a:ea typeface="Microsoft YaHei"/>
              </a:rPr>
              <a:t>六个节点串成一条闭环，每一步都有责任人、都有时间戳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10382250" y="581025"/>
            <a:ext cx="1200150" cy="323850"/>
          </a:xfrm>
          <a:prstGeom prst="roundRect">
            <a:avLst>
              <a:gd name="adj" fmla="val 17647"/>
            </a:avLst>
          </a:prstGeom>
          <a:solidFill>
            <a:srgbClr val="F4F6F9"/>
          </a:solidFill>
          <a:ln/>
        </p:spPr>
        <p:txBody>
          <a:bodyPr/>
          <a:p/>
        </p:txBody>
      </p:sp>
      <p:pic>
        <p:nvPicPr>
          <p:cNvPr id="31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515600" y="657225"/>
            <a:ext cx="171450" cy="171450"/>
          </a:xfrm>
          <a:prstGeom prst="rect">
            <a:avLst/>
          </a:prstGeom>
          <a:ln/>
        </p:spPr>
      </p:pic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10782300" y="666750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B4A8C"/>
                </a:solidFill>
                <a:latin typeface="Microsoft YaHei"/>
                <a:ea typeface="Microsoft YaHei"/>
              </a:rPr>
              <a:t>全链路闭环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609600" y="1257300"/>
            <a:ext cx="10972800" cy="238125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E3E8F0"/>
            </a:solidFill>
            <a:prstDash val="solid"/>
          </a:ln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838200" y="1466850"/>
            <a:ext cx="10515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B4A8C"/>
                </a:solidFill>
                <a:latin typeface="Microsoft YaHei"/>
                <a:ea typeface="Microsoft YaHei"/>
              </a:rPr>
              <a:t>主链路</a:t>
            </a:r>
            <a:endParaRPr/>
          </a:p>
        </p:txBody>
      </p:sp>
      <p:pic>
        <p:nvPicPr>
          <p:cNvPr id="3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38200" y="1828800"/>
            <a:ext cx="10477500" cy="1600200"/>
          </a:xfrm>
          <a:prstGeom prst="rect">
            <a:avLst/>
          </a:prstGeom>
          <a:ln/>
        </p:spPr>
      </p:pic>
      <p:sp>
        <p:nvSpPr>
          <p:cNvPr id="323" name=""/>
          <p:cNvSpPr/>
          <p:nvPr/>
        </p:nvSpPr>
        <p:spPr>
          <a:xfrm rot="0" flipH="0" flipV="0">
            <a:off x="609600" y="3829050"/>
            <a:ext cx="3533775" cy="1266825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  <p:txBody>
          <a:bodyPr/>
          <a:p/>
        </p:txBody>
      </p:sp>
      <p:pic>
        <p:nvPicPr>
          <p:cNvPr id="32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81050" y="4010025"/>
            <a:ext cx="209550" cy="209550"/>
          </a:xfrm>
          <a:prstGeom prst="rect">
            <a:avLst/>
          </a:prstGeom>
          <a:ln/>
        </p:spPr>
      </p:pic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1085850" y="4000500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2733"/>
                </a:solidFill>
                <a:latin typeface="Microsoft YaHei"/>
                <a:ea typeface="Microsoft YaHei"/>
              </a:rPr>
              <a:t>责任到人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781050" y="4314825"/>
            <a:ext cx="31908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5A6478"/>
                </a:solidFill>
                <a:latin typeface="Microsoft YaHei"/>
                <a:ea typeface="Microsoft YaHei"/>
              </a:rPr>
              <a:t>指派环节同时确定主办与协办，谁在办、谁协办一屏可见。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4333875" y="3829050"/>
            <a:ext cx="3524250" cy="1266825"/>
          </a:xfrm>
          <a:prstGeom prst="roundRect">
            <a:avLst>
              <a:gd name="adj" fmla="val 6015"/>
            </a:avLst>
          </a:prstGeom>
          <a:solidFill>
            <a:srgbClr val="F4F6F9"/>
          </a:solidFill>
          <a:ln w="12700">
            <a:solidFill>
              <a:srgbClr val="E3E8F0"/>
            </a:solidFill>
            <a:prstDash val="solid"/>
          </a:ln>
        </p:spPr>
        <p:txBody>
          <a:bodyPr/>
          <a:p/>
        </p:txBody>
      </p:sp>
      <p:pic>
        <p:nvPicPr>
          <p:cNvPr id="3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4505325" y="4010025"/>
            <a:ext cx="209550" cy="209550"/>
          </a:xfrm>
          <a:prstGeom prst="rect">
            <a:avLst/>
          </a:prstGeom>
          <a:ln/>
        </p:spPr>
      </p:pic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4810125" y="4000500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2733"/>
                </a:solidFill>
                <a:latin typeface="Microsoft YaHei"/>
                <a:ea typeface="Microsoft YaHei"/>
              </a:rPr>
              <a:t>节点限时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4505325" y="4314825"/>
            <a:ext cx="31813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5A6478"/>
                </a:solidFill>
                <a:latin typeface="Microsoft YaHei"/>
                <a:ea typeface="Microsoft YaHei"/>
              </a:rPr>
              <a:t>每个阶段挂计时基准，临期变橙、逾期变红，自动推送到人。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8048625" y="3829050"/>
            <a:ext cx="3533775" cy="1266825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  <p:txBody>
          <a:bodyPr/>
          <a:p/>
        </p:txBody>
      </p:sp>
      <p:pic>
        <p:nvPicPr>
          <p:cNvPr id="33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8220075" y="4010025"/>
            <a:ext cx="209550" cy="209550"/>
          </a:xfrm>
          <a:prstGeom prst="rect">
            <a:avLst/>
          </a:prstGeom>
          <a:ln/>
        </p:spPr>
      </p:pic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8524875" y="4000500"/>
            <a:ext cx="904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2733"/>
                </a:solidFill>
                <a:latin typeface="Microsoft YaHei"/>
                <a:ea typeface="Microsoft YaHei"/>
              </a:rPr>
              <a:t>可撤回重做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8220075" y="4314825"/>
            <a:ext cx="31908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5A6478"/>
                </a:solidFill>
                <a:latin typeface="Microsoft YaHei"/>
                <a:ea typeface="Microsoft YaHei"/>
              </a:rPr>
              <a:t>误操作一键撤回，系统记录前后快照，撤回动作本身也留痕。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609600" y="6515100"/>
            <a:ext cx="2305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4A6"/>
                </a:solidFill>
                <a:latin typeface="Microsoft YaHei"/>
                <a:ea typeface="Microsoft YaHei"/>
              </a:rPr>
              <a:t>案件指派系统　·　功能汇报与使用讲解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11125200" y="65151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4A6"/>
                </a:solidFill>
                <a:latin typeface="Microsoft YaHei"/>
                <a:ea typeface="Microsoft YaHei"/>
              </a:rPr>
              <a:t>05 / 16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609600" y="6781800"/>
            <a:ext cx="6038850" cy="57150"/>
          </a:xfrm>
          <a:prstGeom prst="rect">
            <a:avLst/>
          </a:prstGeom>
          <a:solidFill>
            <a:srgbClr val="1B4A8C"/>
          </a:solidFill>
          <a:ln/>
        </p:spPr>
        <p:txBody>
          <a:bodyPr/>
          <a:p/>
        </p:txBody>
      </p:sp>
      <p:sp>
        <p:nvSpPr>
          <p:cNvPr id="338" name=""/>
          <p:cNvSpPr/>
          <p:nvPr/>
        </p:nvSpPr>
        <p:spPr>
          <a:xfrm rot="0" flipH="0" flipV="0">
            <a:off x="6648450" y="6781800"/>
            <a:ext cx="2743200" cy="57150"/>
          </a:xfrm>
          <a:prstGeom prst="rect">
            <a:avLst/>
          </a:prstGeom>
          <a:solidFill>
            <a:srgbClr val="2E6BB0"/>
          </a:solidFill>
          <a:ln/>
        </p:spPr>
        <p:txBody>
          <a:bodyPr/>
          <a:p/>
        </p:txBody>
      </p:sp>
      <p:sp>
        <p:nvSpPr>
          <p:cNvPr id="339" name=""/>
          <p:cNvSpPr/>
          <p:nvPr/>
        </p:nvSpPr>
        <p:spPr>
          <a:xfrm rot="0" flipH="0" flipV="0">
            <a:off x="9391650" y="6781800"/>
            <a:ext cx="2190750" cy="57150"/>
          </a:xfrm>
          <a:prstGeom prst="rect">
            <a:avLst/>
          </a:prstGeom>
          <a:solidFill>
            <a:srgbClr val="C8A45C"/>
          </a:solidFill>
          <a:ln/>
        </p:spPr>
        <p:txBody>
          <a:bodyPr/>
          <a:p/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40" name="" descr="&lt;Slide style={{ width: 1280, height: 720, position: 'relative', background: '#12294A', overflow: 'hidden' }}&gt;&#10;    &lt;Image src='assets/ui-watch.png' style={{ position: 'absolute', left: 0, top: 0, width: 1280, height: 720, objectFit: 'cover', opacity: 0.24 }} /&gt;&#10;    &lt;Box style={{ position: 'absolute', left: 0, top: 0, width: 1280, height: 720, background: 'linear-gradient(100deg, rgba(18,41,74,0.96) 0%, rgba(27,74,140,0.86) 52%, rgba(27,74,140,0.42) 100%)' }} /&gt;&#10;    &lt;svg width={1280} height={720} viewBox='0 0 1280 720' style={{ position: 'absolute', left: 0, top: 0 }}&gt;&#10;        &lt;g fill='none' stroke='#C8A45C' strokeWidth='1' opacity='0.22'&gt;&#10;            &lt;circle cx='1040' cy='360' r='240' /&gt;&#10;            &lt;circle cx='1040' cy='360' r='300' /&gt;&#10;        &lt;/g&gt;&#10;    &lt;/svg&gt;&#10;    &lt;Box style={{ position: 'absolute', left: 96, top: 168, flexDirection: 'column' }}&gt;&#10;        &lt;Text style={{ fontSize: 20, color: '#C8A45C', letterSpacing: 6 }}&gt;PART 02&lt;/Text&gt;&#10;        &lt;Box style={{ width: 100, height: 5, background: '#C8A45C', marginTop: 22, marginBottom: 30 }} /&gt;&#10;        &lt;Text style={{ fontSize: 76, fontWeight: 'bold', color: '#FFFFFF', lineHeight: 1.14, letterSpacing: 3 }}&gt;核心机制&lt;/Text&gt;&#10;        &lt;Text style={{ fontSize: 24, color: '#C9D6E8', marginTop: 26, letterSpacing: 1 }}&gt;两类案件两套规则　·　盯办有页签　·　期限有基准&lt;/Text&gt;&#10;    &lt;/Box&gt;&#10;    &lt;Box style={{ position: 'absolute', left: 96, bottom: 76, flexDirection: 'row', alignItems: 'center', gap: 14 }}&gt;&#10;        &lt;FAIcon name='shield' style={{ fill: '#C8A45C', width: 22, height: 22 }} /&gt;&#10;        &lt;Text style={{ fontSize: 15, color: '#8A94A6' }}&gt;案件指派系统　·　功能汇报与使用讲解&lt;/Text&gt;&#10;    &lt;/Box&gt;&#10;    &lt;Text style={{ position: 'absolute', right: 96, bottom: 76, fontSize: 14, color: '#8A94A6' }}&gt;06 / 16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2294A"/>
          </a:solidFill>
          <a:ln/>
        </p:spPr>
        <p:txBody>
          <a:bodyPr/>
          <a:p/>
        </p:txBody>
      </p:sp>
      <p:pic>
        <p:nvPicPr>
          <p:cNvPr id="342" name=""/>
          <p:cNvPicPr>
            <a:picLocks noChangeAspect="1"/>
          </p:cNvPicPr>
          <p:nvPr/>
        </p:nvPicPr>
        <p:blipFill>
          <a:blip r:embed="rId1">
            <a:alphaModFix amt="24000"/>
          </a:blip>
          <a:srcRect l="0" t="5000" r="0" b="500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2294A">
                  <a:alpha val="96000"/>
                </a:srgbClr>
              </a:gs>
              <a:gs pos="52000">
                <a:srgbClr val="1B4A8C">
                  <a:alpha val="86000"/>
                </a:srgbClr>
              </a:gs>
              <a:gs pos="100000">
                <a:srgbClr val="1B4A8C">
                  <a:alpha val="42000"/>
                </a:srgbClr>
              </a:gs>
            </a:gsLst>
            <a:lin ang="600000" scaled="1"/>
          </a:gradFill>
          <a:ln/>
        </p:spPr>
        <p:txBody>
          <a:bodyPr/>
          <a:p/>
        </p:txBody>
      </p:sp>
      <p:pic>
        <p:nvPicPr>
          <p:cNvPr id="3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914400" y="1600200"/>
            <a:ext cx="5372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450">
                <a:solidFill>
                  <a:srgbClr val="C8A45C"/>
                </a:solidFill>
                <a:latin typeface="Microsoft YaHei"/>
                <a:ea typeface="Microsoft YaHei"/>
              </a:rPr>
              <a:t>PART 02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914400" y="2038350"/>
            <a:ext cx="952500" cy="47625"/>
          </a:xfrm>
          <a:prstGeom prst="rect">
            <a:avLst/>
          </a:prstGeom>
          <a:solidFill>
            <a:srgbClr val="C8A45C"/>
          </a:soli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914400" y="2371725"/>
            <a:ext cx="5372100" cy="990600"/>
          </a:xfrm>
          <a:prstGeom prst="rect"/>
        </p:spPr>
        <p:txBody>
          <a:bodyPr wrap="none" lIns="0" tIns="0" rIns="0" bIns="0"/>
          <a:p>
            <a:pPr>
              <a:lnSpc>
                <a:spcPct val="113999"/>
              </a:lnSpc>
            </a:pPr>
            <a:r>
              <a:rPr lang="zh-CN" sz="5700" b="1" spc="225">
                <a:solidFill>
                  <a:srgbClr val="FFFFFF"/>
                </a:solidFill>
                <a:latin typeface="Microsoft YaHei"/>
                <a:ea typeface="Microsoft YaHei"/>
              </a:rPr>
              <a:t>核心机制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914400" y="3609975"/>
            <a:ext cx="53721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spc="75">
                <a:solidFill>
                  <a:srgbClr val="C9D6E8"/>
                </a:solidFill>
                <a:latin typeface="Microsoft YaHei"/>
                <a:ea typeface="Microsoft YaHei"/>
              </a:rPr>
              <a:t>两类案件两套规则　·　盯办有页签　·　期限有基准</a:t>
            </a:r>
            <a:endParaRPr/>
          </a:p>
        </p:txBody>
      </p:sp>
      <p:pic>
        <p:nvPicPr>
          <p:cNvPr id="34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914400" y="5924550"/>
            <a:ext cx="209550" cy="209550"/>
          </a:xfrm>
          <a:prstGeom prst="rect">
            <a:avLst/>
          </a:prstGeom>
          <a:ln/>
        </p:spPr>
      </p:pic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1257300" y="5943600"/>
            <a:ext cx="2466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94A6"/>
                </a:solidFill>
                <a:latin typeface="Microsoft YaHei"/>
                <a:ea typeface="Microsoft YaHei"/>
              </a:rPr>
              <a:t>案件指派系统　·　功能汇报与使用讲解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10820400" y="59721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4A6"/>
                </a:solidFill>
                <a:latin typeface="Microsoft YaHei"/>
                <a:ea typeface="Microsoft YaHei"/>
              </a:rPr>
              <a:t>06 / 16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52" name="" descr="&lt;Slide style={{ width: 1280, height: 720, position: 'relative', background: '#FFFFFF', overflow: 'hidden' }}&gt;&#10;    &lt;Box style={{ position: 'absolute', left: 0, top: 0, width: 1280, height: 8, flexDirection: 'row' }}&gt;&#10;        &lt;Box style={{ width: '55%', height: 8, background: '#1B4A8C' }} /&gt;&#10;        &lt;Box style={{ width: '25%', height: 8, background: '#2E6BB0' }} /&gt;&#10;        &lt;Box style={{ width: '20%', height: 8, background: '#C8A45C' }} /&gt;&#10;    &lt;/Box&gt;&#10;    &lt;Box style={{ position: 'absolute', left: 64, top: 40, width: 1152, height: 76, flexDirection: 'row', alignItems: 'center', gap: 20 }}&gt;&#10;        &lt;Box style={{ width: 6, height: 44, background: '#1B4A8C' }} /&gt;&#10;        &lt;Box style={{ flexDirection: 'column' }}&gt;&#10;            &lt;Text style={{ fontSize: 34, fontWeight: 'bold', color: '#1F2733', lineHeight: 1.2 }}&gt;刑事 / 行政：两套完全不同的规则&lt;/Text&gt;&#10;            &lt;Text style={{ fontSize: 16, color: '#8A94A6', marginTop: 6 }}&gt;先选大类，再选小类；选定后本栏目只统计该类案件&lt;/Text&gt;&#10;        &lt;/Box&gt;&#10;        &lt;Box style={{ marginLeft: 'auto', flexDirection: 'row', alignItems: 'center', gap: 10, background: '#F4F6F9', borderRadius: 6, paddingLeft: 14, paddingRight: 14, paddingTop: 8, paddingBottom: 8 }}&gt;&#10;            &lt;FAIcon name='layer-group' style={{ fill: '#1B4A8C', width: 18, height: 18 }} /&gt;&#10;            &lt;Text style={{ fontSize: 14, color: '#1B4A8C' }}&gt;三处分野&lt;/Text&gt;&#10;        &lt;/Box&gt;&#10;    &lt;/Box&gt;&#10;    &lt;Box style={{ position: 'absolute', left: 64, top: 132, width: 1152, height: 532, flexDirection: 'row', gap: 26 }}&gt;&#10;        {/* 左 60%：三处分野 */}&#10;        &lt;Box style={{ width: 676, flexDirection: 'column', gap: 16 }}&gt;&#10;            &lt;Box style={{ width: '100%', flexDirection: 'row', background: '#F4F6F9', borderRadius: 8, border: '1px solid #E3E8F0', paddingTop: 14, paddingBottom: 14, paddingLeft: 18, paddingRight: 18 }}&gt;&#10;                &lt;Text style={{ width: 130, fontSize: 16, fontWeight: 'bold', color: '#8A94A6' }}&gt;对比维度&lt;/Text&gt;&#10;                &lt;Text style={{ width: 240, fontSize: 16, fontWeight: 'bold', color: '#1B4A8C' }}&gt;刑事案件&lt;/Text&gt;&#10;                &lt;Text style={{ flex: 1, fontSize: 16, fontWeight: 'bold', color: '#C8A45C' }}&gt;行政案件&lt;/Text&gt;&#10;            &lt;/Box&gt;&#10;            &lt;Box style={{ width: '100%', flexDirection: 'row', background: '#FFFFFF', borderRadius: 8, border: '1px solid #E3E8F0', borderLeft: '5px solid #1B4A8C', paddingTop: 16, paddingBottom: 16, paddingLeft: 18, paddingRight: 18 }}&gt;&#10;                &lt;Text style={{ width: 130, fontSize: 17, fontWeight: 'bold', color: '#1F2733' }}&gt;盯办方式&lt;/Text&gt;&#10;                &lt;Text style={{ width: 240, fontSize: 16, color: '#5A6478', lineHeight: 1.55 }}&gt;初查 / 刑拘在办 / 取保监居&lt;br /&gt;三类页签分别盯&lt;/Text&gt;&#10;                &lt;Text style={{ flex: 1, fontSize: 16, color: '#5A6478', lineHeight: 1.55 }}&gt;呈批材料 → 行政处罚&lt;br /&gt;单线盯办即可&lt;/Text&gt;&#10;            &lt;/Box&gt;&#10;            &lt;Box style={{ width: '100%', flexDirection: 'row', background: '#F4F6F9', borderRadius: 8, border: '1px solid #E3E8F0', borderLeft: '5px solid #2E6BB0', paddingTop: 16, paddingBottom: 16, paddingLeft: 18, paddingRight: 18 }}&gt;&#10;                &lt;Text style={{ width: 130, fontSize: 17, fontWeight: 'bold', color: '#1F2733' }}&gt;期限规则&lt;/Text&gt;&#10;                &lt;Text style={{ width: 240, fontSize: 16, color: '#5A6478', lineHeight: 1.55 }}&gt;取保 7 天 / 30 天&lt;br /&gt;刑拘变更羁押 3 天 / 30 天&lt;/Text&gt;&#10;                &lt;Text style={{ flex: 1, fontSize: 16, color: '#5A6478', lineHeight: 1.55 }}&gt;30 / 60 天办理时限&lt;br /&gt;延期另计&lt;/Text&gt;&#10;            &lt;/Box&gt;&#10;            &lt;Box style={{ width: '100%', flexDirection: 'row', background: '#FFFFFF', borderRadius: 8, border: '1px solid #E3E8F0', borderLeft: '5px solid #C8A45C', paddingTop: 16, paddingBottom: 16, paddingLeft: 18, paddingRight: 18 }}&gt;&#10;                &lt;Text style={{ width: 130, fontSize: 17, fontWeight: 'bold', color: '#1F2733' }}&gt;流转出口&lt;/Text&gt;&#10;                &lt;Text style={{ width: 240, fontSize: 16, color: '#5A6478', lineHeight: 1.55 }}&gt;初查 → 刑拘 → 取保&lt;br /&gt;→ 移送审查起诉&lt;/Text&gt;&#10;                &lt;Text style={{ flex: 1, fontSize: 16, color: '#5A6478', lineHeight: 1.55 }}&gt;呈批 → 处罚决定&lt;br /&gt;→ 执行归档&lt;/Text&gt;&#10;            &lt;/Box&gt;&#10;            &lt;Box style={{ width: '100%', flexDirection: 'row', alignItems: 'center', gap: 12, background: 'rgba(27,74,140,0.06)', borderRadius: 8, paddingTop: 14, paddingBottom: 14, paddingLeft: 18, paddingRight: 18 }}&gt;&#10;                &lt;FAIcon name='info-circle' style={{ fill: '#1B4A8C', width: 20, height: 20 }} /&gt;&#10;                &lt;Text style={{ fontSize: 16, color: '#1B4A8C', lineHeight: 1.5, flex: 1 }}&gt;另有「其他案件」用于未立案等非刑事、非行政情形，口径独立统计。&lt;/Text&gt;&#10;            &lt;/Box&gt;&#10;        &lt;/Box&gt;&#10;        {/* 右 40%：选型截图 */}&#10;        &lt;Box style={{ flex: 1, flexDirection: 'column', borderRadius: 10, overflow: 'hidden', border: '1px solid #E3E8F0', background: '#F4F6F9' }}&gt;&#10;            &lt;Box style={{ flexDirection: 'row', alignItems: 'center', gap: 10, paddingLeft: 16, paddingTop: 12, paddingBottom: 12, background: 'linear-gradient(135deg, #1B4A8C 0%, #2E6BB0 100%)' }}&gt;&#10;                &lt;FAIcon name='hand-pointer' style={{ fill: '#FFFFFF', width: 18, height: 18 }} /&gt;&#10;                &lt;Text style={{ fontSize: 16, color: '#FFFFFF' }}&gt;选择案件类型&lt;/Text&gt;&#10;            &lt;/Box&gt;&#10;            &lt;Box style={{ flex: 1, overflow: 'hidden' }}&gt;&#10;                &lt;Image src='assets/ui-type-picker.png' style={{ width: '100%', height: '100%', objectFit: 'cover', objectPosition: 'center top' }} /&gt;&#10;            &lt;/Box&gt;&#10;            &lt;Box style={{ paddingLeft: 16, paddingRight: 16, paddingTop: 10, paddingBottom: 12, background: '#FFFFFF' }}&gt;&#10;                &lt;Text style={{ fontSize: 15, color: '#8A94A6', lineHeight: 1.5 }}&gt;大类 → 小类两级卡片进入，退出时逐级退回。&lt;/Text&gt;&#10;            &lt;/Box&gt;&#10;        &lt;/Box&gt;&#10;    &lt;/Box&gt;&#10;    &lt;Box style={{ position: 'absolute', left: 64, top: 676, width: 1152, height: 32, flexDirection: 'row', justifyContent: 'space-between', alignItems: 'center' }}&gt;&#10;        &lt;Text style={{ fontSize: 14, color: '#8A94A6' }}&gt;案件指派系统　·　功能汇报与使用讲解&lt;/Text&gt;&#10;        &lt;Text style={{ fontSize: 14, color: '#8A94A6' }}&gt;07 / 16&lt;/Text&gt;&#10;    &lt;/Box&gt;&#10;    &lt;Box style={{ position: 'absolute', left: 64, top: 712, width: 1152, height: 6, flexDirection: 'row' }}&gt;&#10;        &lt;Box style={{ width: '55%', height: 6, background: '#1B4A8C' }} /&gt;&#10;        &lt;Box style={{ width: '25%', height: 6, background: '#2E6BB0' }} /&gt;&#10;        &lt;Box style={{ width: '20%', height: 6, background: '#C8A45C' }} /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4" name=""/>
          <p:cNvSpPr/>
          <p:nvPr/>
        </p:nvSpPr>
        <p:spPr>
          <a:xfrm rot="0" flipH="0" flipV="0">
            <a:off x="0" y="0"/>
            <a:ext cx="6705600" cy="76200"/>
          </a:xfrm>
          <a:prstGeom prst="rect">
            <a:avLst/>
          </a:prstGeom>
          <a:solidFill>
            <a:srgbClr val="1B4A8C"/>
          </a:solidFill>
          <a:ln/>
        </p:spPr>
        <p:txBody>
          <a:bodyPr/>
          <a:p/>
        </p:txBody>
      </p:sp>
      <p:sp>
        <p:nvSpPr>
          <p:cNvPr id="355" name=""/>
          <p:cNvSpPr/>
          <p:nvPr/>
        </p:nvSpPr>
        <p:spPr>
          <a:xfrm rot="0" flipH="0" flipV="0">
            <a:off x="6705600" y="0"/>
            <a:ext cx="3048000" cy="76200"/>
          </a:xfrm>
          <a:prstGeom prst="rect">
            <a:avLst/>
          </a:prstGeom>
          <a:solidFill>
            <a:srgbClr val="2E6BB0"/>
          </a:solidFill>
          <a:ln/>
        </p:spPr>
        <p:txBody>
          <a:bodyPr/>
          <a:p/>
        </p:txBody>
      </p:sp>
      <p:sp>
        <p:nvSpPr>
          <p:cNvPr id="356" name=""/>
          <p:cNvSpPr/>
          <p:nvPr/>
        </p:nvSpPr>
        <p:spPr>
          <a:xfrm rot="0" flipH="0" flipV="0">
            <a:off x="9753600" y="0"/>
            <a:ext cx="2438400" cy="76200"/>
          </a:xfrm>
          <a:prstGeom prst="rect">
            <a:avLst/>
          </a:prstGeom>
          <a:solidFill>
            <a:srgbClr val="C8A45C"/>
          </a:solidFill>
          <a:ln/>
        </p:spPr>
        <p:txBody>
          <a:bodyPr/>
          <a:p/>
        </p:txBody>
      </p:sp>
      <p:sp>
        <p:nvSpPr>
          <p:cNvPr id="357" name=""/>
          <p:cNvSpPr/>
          <p:nvPr/>
        </p:nvSpPr>
        <p:spPr>
          <a:xfrm rot="0" flipH="0" flipV="0">
            <a:off x="609600" y="533400"/>
            <a:ext cx="57150" cy="419100"/>
          </a:xfrm>
          <a:prstGeom prst="rect">
            <a:avLst/>
          </a:prstGeom>
          <a:solidFill>
            <a:srgbClr val="1B4A8C"/>
          </a:solidFill>
          <a:ln/>
        </p:spPr>
        <p:txBody>
          <a:bodyPr/>
          <a:p/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857250" y="390525"/>
            <a:ext cx="4886325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F2733"/>
                </a:solidFill>
                <a:latin typeface="Microsoft YaHei"/>
                <a:ea typeface="Microsoft YaHei"/>
              </a:rPr>
              <a:t>刑事</a:t>
            </a:r>
            <a:r>
              <a:rPr lang="en-US" sz="2550" b="1">
                <a:solidFill>
                  <a:srgbClr val="1F2733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2550" b="1">
                <a:solidFill>
                  <a:srgbClr val="1F2733"/>
                </a:solidFill>
                <a:latin typeface="Microsoft YaHei"/>
                <a:ea typeface="Microsoft YaHei"/>
              </a:rPr>
              <a:t>行政：两套完全不同的规则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857250" y="914400"/>
            <a:ext cx="4886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A94A6"/>
                </a:solidFill>
                <a:latin typeface="Microsoft YaHei"/>
                <a:ea typeface="Microsoft YaHei"/>
              </a:rPr>
              <a:t>先选大类，再选小类；选定后本栏目只统计该类案件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10515600" y="581025"/>
            <a:ext cx="1066800" cy="323850"/>
          </a:xfrm>
          <a:prstGeom prst="roundRect">
            <a:avLst>
              <a:gd name="adj" fmla="val 17647"/>
            </a:avLst>
          </a:prstGeom>
          <a:solidFill>
            <a:srgbClr val="F4F6F9"/>
          </a:solidFill>
          <a:ln/>
        </p:spPr>
        <p:txBody>
          <a:bodyPr/>
          <a:p/>
        </p:txBody>
      </p:sp>
      <p:pic>
        <p:nvPicPr>
          <p:cNvPr id="36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648950" y="657225"/>
            <a:ext cx="171450" cy="171450"/>
          </a:xfrm>
          <a:prstGeom prst="rect">
            <a:avLst/>
          </a:prstGeom>
          <a:ln/>
        </p:spPr>
      </p:pic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10915650" y="6667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B4A8C"/>
                </a:solidFill>
                <a:latin typeface="Microsoft YaHei"/>
                <a:ea typeface="Microsoft YaHei"/>
              </a:rPr>
              <a:t>三处分野</a:t>
            </a:r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609600" y="1257300"/>
            <a:ext cx="6438900" cy="457200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12700">
            <a:solidFill>
              <a:srgbClr val="E3E8F0"/>
            </a:solidFill>
            <a:prstDash val="solid"/>
          </a:ln>
        </p:spPr>
        <p:txBody>
          <a:bodyPr/>
          <a:p/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781050" y="1390650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8A94A6"/>
                </a:solidFill>
                <a:latin typeface="Microsoft YaHei"/>
                <a:ea typeface="Microsoft YaHei"/>
              </a:rPr>
              <a:t>对比维度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2019300" y="1390650"/>
            <a:ext cx="228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B4A8C"/>
                </a:solidFill>
                <a:latin typeface="Microsoft YaHei"/>
                <a:ea typeface="Microsoft YaHei"/>
              </a:rPr>
              <a:t>刑事案件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4305300" y="1390650"/>
            <a:ext cx="2571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8A45C"/>
                </a:solidFill>
                <a:latin typeface="Microsoft YaHei"/>
                <a:ea typeface="Microsoft YaHei"/>
              </a:rPr>
              <a:t>行政案件</a:t>
            </a:r>
            <a:endParaRPr/>
          </a:p>
        </p:txBody>
      </p:sp>
      <p:sp>
        <p:nvSpPr>
          <p:cNvPr id="367" name=""/>
          <p:cNvSpPr/>
          <p:nvPr/>
        </p:nvSpPr>
        <p:spPr>
          <a:xfrm rot="0" flipH="0" flipV="0">
            <a:off x="657225" y="1866900"/>
            <a:ext cx="64389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8" name=""/>
          <p:cNvSpPr/>
          <p:nvPr/>
        </p:nvSpPr>
        <p:spPr>
          <a:xfrm rot="0" flipH="0" flipV="0">
            <a:off x="657225" y="1866900"/>
            <a:ext cx="6438900" cy="876300"/>
          </a:xfrm>
          <a:custGeom>
            <a:pathLst>
              <a:path w="676" h="92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89"/>
                </a:lnTo>
                <a:cubicBezTo>
                  <a:pt x="5" y="91"/>
                  <a:pt x="6" y="92"/>
                  <a:pt x="8" y="92"/>
                </a:cubicBezTo>
                <a:cubicBezTo>
                  <a:pt x="3" y="92"/>
                  <a:pt x="0" y="88"/>
                  <a:pt x="0" y="8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B4A8C"/>
          </a:solidFill>
          <a:ln/>
        </p:spPr>
        <p:txBody>
          <a:bodyPr/>
          <a:p/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828675" y="2019300"/>
            <a:ext cx="1238250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2733"/>
                </a:solidFill>
                <a:latin typeface="Microsoft YaHei"/>
                <a:ea typeface="Microsoft YaHei"/>
              </a:rPr>
              <a:t>盯办方式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2066925" y="2019300"/>
            <a:ext cx="2286000" cy="5715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5A6478"/>
                </a:solidFill>
                <a:latin typeface="Microsoft YaHei"/>
                <a:ea typeface="Microsoft YaHei"/>
              </a:rPr>
              <a:t>初查</a:t>
            </a:r>
            <a:r>
              <a:rPr lang="en-US" sz="1200">
                <a:solidFill>
                  <a:srgbClr val="5A647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5A6478"/>
                </a:solidFill>
                <a:latin typeface="Microsoft YaHei"/>
                <a:ea typeface="Microsoft YaHei"/>
              </a:rPr>
              <a:t>刑拘在办</a:t>
            </a:r>
            <a:r>
              <a:rPr lang="en-US" sz="1200">
                <a:solidFill>
                  <a:srgbClr val="5A647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5A6478"/>
                </a:solidFill>
                <a:latin typeface="Microsoft YaHei"/>
                <a:ea typeface="Microsoft YaHei"/>
              </a:rPr>
              <a:t>取保监居</a:t>
            </a:r>
            <a:endParaRPr/>
          </a:p>
          <a:p>
            <a:pPr>
              <a:lnSpc>
                <a:spcPct val="155000"/>
              </a:lnSpc>
            </a:pPr>
            <a:r>
              <a:rPr lang="zh-CN" sz="1200">
                <a:solidFill>
                  <a:srgbClr val="5A6478"/>
                </a:solidFill>
                <a:latin typeface="Microsoft YaHei"/>
                <a:ea typeface="Microsoft YaHei"/>
              </a:rPr>
              <a:t>三类页签分别盯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4352925" y="2019300"/>
            <a:ext cx="2524125" cy="5715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5A6478"/>
                </a:solidFill>
                <a:latin typeface="Microsoft YaHei"/>
                <a:ea typeface="Microsoft YaHei"/>
              </a:rPr>
              <a:t>呈批材料</a:t>
            </a:r>
            <a:r>
              <a:rPr lang="en-US" sz="1200">
                <a:solidFill>
                  <a:srgbClr val="5A647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5A6478"/>
                </a:solidFill>
                <a:latin typeface="Microsoft YaHei"/>
                <a:ea typeface="Microsoft YaHei"/>
              </a:rPr>
              <a:t>行政处罚</a:t>
            </a:r>
            <a:endParaRPr/>
          </a:p>
          <a:p>
            <a:pPr>
              <a:lnSpc>
                <a:spcPct val="155000"/>
              </a:lnSpc>
            </a:pPr>
            <a:r>
              <a:rPr lang="zh-CN" sz="1200">
                <a:solidFill>
                  <a:srgbClr val="5A6478"/>
                </a:solidFill>
                <a:latin typeface="Microsoft YaHei"/>
                <a:ea typeface="Microsoft YaHei"/>
              </a:rPr>
              <a:t>单线盯办即可</a:t>
            </a:r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657225" y="2895600"/>
            <a:ext cx="6438900" cy="876300"/>
          </a:xfrm>
          <a:prstGeom prst="roundRect">
            <a:avLst>
              <a:gd name="adj" fmla="val 8696"/>
            </a:avLst>
          </a:prstGeom>
          <a:solidFill>
            <a:srgbClr val="F4F6F9"/>
          </a:solidFill>
          <a:ln/>
        </p:spPr>
        <p:txBody>
          <a:bodyPr/>
          <a:p/>
        </p:txBody>
      </p:sp>
      <p:sp>
        <p:nvSpPr>
          <p:cNvPr id="373" name=""/>
          <p:cNvSpPr/>
          <p:nvPr/>
        </p:nvSpPr>
        <p:spPr>
          <a:xfrm rot="0" flipH="0" flipV="0">
            <a:off x="657225" y="2895600"/>
            <a:ext cx="6438900" cy="876300"/>
          </a:xfrm>
          <a:custGeom>
            <a:pathLst>
              <a:path w="676" h="92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89"/>
                </a:lnTo>
                <a:cubicBezTo>
                  <a:pt x="5" y="91"/>
                  <a:pt x="6" y="92"/>
                  <a:pt x="8" y="92"/>
                </a:cubicBezTo>
                <a:cubicBezTo>
                  <a:pt x="3" y="92"/>
                  <a:pt x="0" y="88"/>
                  <a:pt x="0" y="8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E6BB0"/>
          </a:solidFill>
          <a:ln/>
        </p:spPr>
        <p:txBody>
          <a:bodyPr/>
          <a:p/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828675" y="3048000"/>
            <a:ext cx="1238250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2733"/>
                </a:solidFill>
                <a:latin typeface="Microsoft YaHei"/>
                <a:ea typeface="Microsoft YaHei"/>
              </a:rPr>
              <a:t>期限规则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2066925" y="3048000"/>
            <a:ext cx="2286000" cy="5715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5A6478"/>
                </a:solidFill>
                <a:latin typeface="Microsoft YaHei"/>
                <a:ea typeface="Microsoft YaHei"/>
              </a:rPr>
              <a:t>取保</a:t>
            </a:r>
            <a:r>
              <a:rPr lang="en-US" sz="1200">
                <a:solidFill>
                  <a:srgbClr val="5A6478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1200">
                <a:solidFill>
                  <a:srgbClr val="5A6478"/>
                </a:solidFill>
                <a:latin typeface="Microsoft YaHei"/>
                <a:ea typeface="Microsoft YaHei"/>
              </a:rPr>
              <a:t>天</a:t>
            </a:r>
            <a:r>
              <a:rPr lang="en-US" sz="1200">
                <a:solidFill>
                  <a:srgbClr val="5A6478"/>
                </a:solidFill>
                <a:latin typeface="Microsoft YaHei"/>
                <a:ea typeface="Microsoft YaHei"/>
              </a:rPr>
              <a:t xml:space="preserve"> / 30 </a:t>
            </a:r>
            <a:r>
              <a:rPr lang="zh-CN" sz="1200">
                <a:solidFill>
                  <a:srgbClr val="5A6478"/>
                </a:solidFill>
                <a:latin typeface="Microsoft YaHei"/>
                <a:ea typeface="Microsoft YaHei"/>
              </a:rPr>
              <a:t>天</a:t>
            </a:r>
            <a:endParaRPr/>
          </a:p>
          <a:p>
            <a:pPr>
              <a:lnSpc>
                <a:spcPct val="155000"/>
              </a:lnSpc>
            </a:pPr>
            <a:r>
              <a:rPr lang="zh-CN" sz="1200">
                <a:solidFill>
                  <a:srgbClr val="5A6478"/>
                </a:solidFill>
                <a:latin typeface="Microsoft YaHei"/>
                <a:ea typeface="Microsoft YaHei"/>
              </a:rPr>
              <a:t>刑拘变更羁押</a:t>
            </a:r>
            <a:r>
              <a:rPr lang="en-US" sz="1200">
                <a:solidFill>
                  <a:srgbClr val="5A6478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200">
                <a:solidFill>
                  <a:srgbClr val="5A6478"/>
                </a:solidFill>
                <a:latin typeface="Microsoft YaHei"/>
                <a:ea typeface="Microsoft YaHei"/>
              </a:rPr>
              <a:t>天</a:t>
            </a:r>
            <a:r>
              <a:rPr lang="en-US" sz="1200">
                <a:solidFill>
                  <a:srgbClr val="5A6478"/>
                </a:solidFill>
                <a:latin typeface="Microsoft YaHei"/>
                <a:ea typeface="Microsoft YaHei"/>
              </a:rPr>
              <a:t xml:space="preserve"> / 30 </a:t>
            </a:r>
            <a:r>
              <a:rPr lang="zh-CN" sz="1200">
                <a:solidFill>
                  <a:srgbClr val="5A6478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4352925" y="3048000"/>
            <a:ext cx="2524125" cy="5715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5A6478"/>
                </a:solidFill>
                <a:latin typeface="Microsoft YaHei"/>
                <a:ea typeface="Microsoft YaHei"/>
              </a:rPr>
              <a:t xml:space="preserve">30 / 60 </a:t>
            </a:r>
            <a:r>
              <a:rPr lang="zh-CN" sz="1200">
                <a:solidFill>
                  <a:srgbClr val="5A6478"/>
                </a:solidFill>
                <a:latin typeface="Microsoft YaHei"/>
                <a:ea typeface="Microsoft YaHei"/>
              </a:rPr>
              <a:t>天办理时限</a:t>
            </a:r>
            <a:endParaRPr/>
          </a:p>
          <a:p>
            <a:pPr>
              <a:lnSpc>
                <a:spcPct val="155000"/>
              </a:lnSpc>
            </a:pPr>
            <a:r>
              <a:rPr lang="zh-CN" sz="1200">
                <a:solidFill>
                  <a:srgbClr val="5A6478"/>
                </a:solidFill>
                <a:latin typeface="Microsoft YaHei"/>
                <a:ea typeface="Microsoft YaHei"/>
              </a:rPr>
              <a:t>延期另计</a:t>
            </a:r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657225" y="3924300"/>
            <a:ext cx="64389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8" name=""/>
          <p:cNvSpPr/>
          <p:nvPr/>
        </p:nvSpPr>
        <p:spPr>
          <a:xfrm rot="0" flipH="0" flipV="0">
            <a:off x="657225" y="3924300"/>
            <a:ext cx="6438900" cy="876300"/>
          </a:xfrm>
          <a:custGeom>
            <a:pathLst>
              <a:path w="676" h="92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89"/>
                </a:lnTo>
                <a:cubicBezTo>
                  <a:pt x="5" y="91"/>
                  <a:pt x="6" y="92"/>
                  <a:pt x="8" y="92"/>
                </a:cubicBezTo>
                <a:cubicBezTo>
                  <a:pt x="3" y="92"/>
                  <a:pt x="0" y="88"/>
                  <a:pt x="0" y="8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C8A45C"/>
          </a:solidFill>
          <a:ln/>
        </p:spPr>
        <p:txBody>
          <a:bodyPr/>
          <a:p/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828675" y="4076700"/>
            <a:ext cx="1238250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2733"/>
                </a:solidFill>
                <a:latin typeface="Microsoft YaHei"/>
                <a:ea typeface="Microsoft YaHei"/>
              </a:rPr>
              <a:t>流转出口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2066925" y="4076700"/>
            <a:ext cx="2286000" cy="5715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5A6478"/>
                </a:solidFill>
                <a:latin typeface="Microsoft YaHei"/>
                <a:ea typeface="Microsoft YaHei"/>
              </a:rPr>
              <a:t>初查</a:t>
            </a:r>
            <a:r>
              <a:rPr lang="en-US" sz="1200">
                <a:solidFill>
                  <a:srgbClr val="5A647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5A6478"/>
                </a:solidFill>
                <a:latin typeface="Microsoft YaHei"/>
                <a:ea typeface="Microsoft YaHei"/>
              </a:rPr>
              <a:t>刑拘</a:t>
            </a:r>
            <a:r>
              <a:rPr lang="en-US" sz="1200">
                <a:solidFill>
                  <a:srgbClr val="5A647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5A6478"/>
                </a:solidFill>
                <a:latin typeface="Microsoft YaHei"/>
                <a:ea typeface="Microsoft YaHei"/>
              </a:rPr>
              <a:t>取保</a:t>
            </a:r>
            <a:endParaRPr/>
          </a:p>
          <a:p>
            <a:pPr>
              <a:lnSpc>
                <a:spcPct val="155000"/>
              </a:lnSpc>
            </a:pPr>
            <a:r>
              <a:rPr lang="en-US" sz="1200">
                <a:solidFill>
                  <a:srgbClr val="5A6478"/>
                </a:solidFill>
                <a:latin typeface="Microsoft YaHei"/>
                <a:ea typeface="Microsoft YaHei"/>
              </a:rPr>
              <a:t xml:space="preserve">→ </a:t>
            </a:r>
            <a:r>
              <a:rPr lang="zh-CN" sz="1200">
                <a:solidFill>
                  <a:srgbClr val="5A6478"/>
                </a:solidFill>
                <a:latin typeface="Microsoft YaHei"/>
                <a:ea typeface="Microsoft YaHei"/>
              </a:rPr>
              <a:t>移送审查起诉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4352925" y="4076700"/>
            <a:ext cx="2524125" cy="5715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5A6478"/>
                </a:solidFill>
                <a:latin typeface="Microsoft YaHei"/>
                <a:ea typeface="Microsoft YaHei"/>
              </a:rPr>
              <a:t>呈批</a:t>
            </a:r>
            <a:r>
              <a:rPr lang="en-US" sz="1200">
                <a:solidFill>
                  <a:srgbClr val="5A647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5A6478"/>
                </a:solidFill>
                <a:latin typeface="Microsoft YaHei"/>
                <a:ea typeface="Microsoft YaHei"/>
              </a:rPr>
              <a:t>处罚决定</a:t>
            </a:r>
            <a:endParaRPr/>
          </a:p>
          <a:p>
            <a:pPr>
              <a:lnSpc>
                <a:spcPct val="155000"/>
              </a:lnSpc>
            </a:pPr>
            <a:r>
              <a:rPr lang="en-US" sz="1200">
                <a:solidFill>
                  <a:srgbClr val="5A6478"/>
                </a:solidFill>
                <a:latin typeface="Microsoft YaHei"/>
                <a:ea typeface="Microsoft YaHei"/>
              </a:rPr>
              <a:t xml:space="preserve">→ </a:t>
            </a:r>
            <a:r>
              <a:rPr lang="zh-CN" sz="1200">
                <a:solidFill>
                  <a:srgbClr val="5A6478"/>
                </a:solidFill>
                <a:latin typeface="Microsoft YaHei"/>
                <a:ea typeface="Microsoft YaHei"/>
              </a:rPr>
              <a:t>执行归档</a:t>
            </a:r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609600" y="4953000"/>
            <a:ext cx="6438900" cy="542925"/>
          </a:xfrm>
          <a:prstGeom prst="roundRect">
            <a:avLst>
              <a:gd name="adj" fmla="val 14035"/>
            </a:avLst>
          </a:prstGeom>
          <a:solidFill>
            <a:srgbClr val="1B4A8C">
              <a:alpha val="6000"/>
            </a:srgbClr>
          </a:solidFill>
          <a:ln/>
        </p:spPr>
        <p:txBody>
          <a:bodyPr/>
          <a:p/>
        </p:txBody>
      </p:sp>
      <p:pic>
        <p:nvPicPr>
          <p:cNvPr id="38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81050" y="5133975"/>
            <a:ext cx="190500" cy="190500"/>
          </a:xfrm>
          <a:prstGeom prst="rect">
            <a:avLst/>
          </a:prstGeom>
          <a:ln/>
        </p:spPr>
      </p:pic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1085850" y="5086350"/>
            <a:ext cx="5791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B4A8C"/>
                </a:solidFill>
                <a:latin typeface="Microsoft YaHei"/>
                <a:ea typeface="Microsoft YaHei"/>
              </a:rPr>
              <a:t>另有「其他案件」用于未立案等非刑事、非行政情形，口径独立统计。</a:t>
            </a:r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7296150" y="1257300"/>
            <a:ext cx="4286250" cy="5067300"/>
          </a:xfrm>
          <a:prstGeom prst="roundRect">
            <a:avLst>
              <a:gd name="adj" fmla="val 2222"/>
            </a:avLst>
          </a:prstGeom>
          <a:solidFill>
            <a:srgbClr val="F4F6F9"/>
          </a:solidFill>
          <a:ln w="12700">
            <a:solidFill>
              <a:srgbClr val="E3E8F0"/>
            </a:solidFill>
            <a:prstDash val="solid"/>
          </a:ln>
        </p:spPr>
        <p:txBody>
          <a:bodyPr/>
          <a:p/>
        </p:txBody>
      </p:sp>
      <p:sp>
        <p:nvSpPr>
          <p:cNvPr id="386" name=""/>
          <p:cNvSpPr/>
          <p:nvPr/>
        </p:nvSpPr>
        <p:spPr>
          <a:xfrm rot="0" flipH="0" flipV="0">
            <a:off x="7296150" y="1257300"/>
            <a:ext cx="4286250" cy="419100"/>
          </a:xfrm>
          <a:custGeom>
            <a:pathLst>
              <a:path w="450" h="44">
                <a:moveTo>
                  <a:pt x="440" y="0"/>
                </a:moveTo>
                <a:cubicBezTo>
                  <a:pt x="446" y="0"/>
                  <a:pt x="450" y="5"/>
                  <a:pt x="450" y="10"/>
                </a:cubicBezTo>
                <a:lnTo>
                  <a:pt x="450" y="44"/>
                </a:lnTo>
                <a:lnTo>
                  <a:pt x="0" y="44"/>
                </a:ln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440" y="0"/>
                </a:lnTo>
                <a:close/>
              </a:path>
            </a:pathLst>
          </a:custGeom>
          <a:gradFill>
            <a:gsLst>
              <a:gs pos="0">
                <a:srgbClr val="1B4A8C"/>
              </a:gs>
              <a:gs pos="100000">
                <a:srgbClr val="2E6BB0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3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448550" y="1381125"/>
            <a:ext cx="171450" cy="171450"/>
          </a:xfrm>
          <a:prstGeom prst="rect">
            <a:avLst/>
          </a:prstGeom>
          <a:ln/>
        </p:spPr>
      </p:pic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7715250" y="137160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选择案件类型</a:t>
            </a:r>
            <a:endParaRPr/>
          </a:p>
        </p:txBody>
      </p:sp>
      <p:pic>
        <p:nvPicPr>
          <p:cNvPr id="389" name=""/>
          <p:cNvPicPr>
            <a:picLocks noChangeAspect="1"/>
          </p:cNvPicPr>
          <p:nvPr/>
        </p:nvPicPr>
        <p:blipFill>
          <a:blip r:embed="rId4"/>
          <a:srcRect l="16187" t="0" r="16187" b="0"/>
          <a:stretch>
            <a:fillRect/>
          </a:stretch>
        </p:blipFill>
        <p:spPr>
          <a:xfrm rot="0" flipH="0" flipV="0">
            <a:off x="7296150" y="1676400"/>
            <a:ext cx="4286250" cy="4181475"/>
          </a:xfrm>
          <a:prstGeom prst="rect">
            <a:avLst/>
          </a:prstGeom>
          <a:ln/>
        </p:spPr>
      </p:pic>
      <p:sp>
        <p:nvSpPr>
          <p:cNvPr id="390" name=""/>
          <p:cNvSpPr/>
          <p:nvPr/>
        </p:nvSpPr>
        <p:spPr>
          <a:xfrm rot="0" flipH="0" flipV="0">
            <a:off x="7296150" y="5857875"/>
            <a:ext cx="4286250" cy="466725"/>
          </a:xfrm>
          <a:custGeom>
            <a:pathLst>
              <a:path w="450" h="49">
                <a:moveTo>
                  <a:pt x="450" y="39"/>
                </a:moveTo>
                <a:cubicBezTo>
                  <a:pt x="450" y="45"/>
                  <a:pt x="446" y="49"/>
                  <a:pt x="440" y="49"/>
                </a:cubicBezTo>
                <a:lnTo>
                  <a:pt x="10" y="49"/>
                </a:lnTo>
                <a:cubicBezTo>
                  <a:pt x="4" y="49"/>
                  <a:pt x="0" y="45"/>
                  <a:pt x="0" y="39"/>
                </a:cubicBezTo>
                <a:lnTo>
                  <a:pt x="0" y="0"/>
                </a:lnTo>
                <a:lnTo>
                  <a:pt x="450" y="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7448550" y="5953125"/>
            <a:ext cx="3981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8A94A6"/>
                </a:solidFill>
                <a:latin typeface="Microsoft YaHei"/>
                <a:ea typeface="Microsoft YaHei"/>
              </a:rPr>
              <a:t>大类</a:t>
            </a:r>
            <a:r>
              <a:rPr lang="en-US" sz="1125">
                <a:solidFill>
                  <a:srgbClr val="8A94A6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8A94A6"/>
                </a:solidFill>
                <a:latin typeface="Microsoft YaHei"/>
                <a:ea typeface="Microsoft YaHei"/>
              </a:rPr>
              <a:t>小类两级卡片进入，退出时逐级退回。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609600" y="6515100"/>
            <a:ext cx="2305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4A6"/>
                </a:solidFill>
                <a:latin typeface="Microsoft YaHei"/>
                <a:ea typeface="Microsoft YaHei"/>
              </a:rPr>
              <a:t>案件指派系统　·　功能汇报与使用讲解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11125200" y="65151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4A6"/>
                </a:solidFill>
                <a:latin typeface="Microsoft YaHei"/>
                <a:ea typeface="Microsoft YaHei"/>
              </a:rPr>
              <a:t>07 / 16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609600" y="6781800"/>
            <a:ext cx="6038850" cy="57150"/>
          </a:xfrm>
          <a:prstGeom prst="rect">
            <a:avLst/>
          </a:prstGeom>
          <a:solidFill>
            <a:srgbClr val="1B4A8C"/>
          </a:solidFill>
          <a:ln/>
        </p:spPr>
        <p:txBody>
          <a:bodyPr/>
          <a:p/>
        </p:txBody>
      </p:sp>
      <p:sp>
        <p:nvSpPr>
          <p:cNvPr id="395" name=""/>
          <p:cNvSpPr/>
          <p:nvPr/>
        </p:nvSpPr>
        <p:spPr>
          <a:xfrm rot="0" flipH="0" flipV="0">
            <a:off x="6648450" y="6781800"/>
            <a:ext cx="2743200" cy="57150"/>
          </a:xfrm>
          <a:prstGeom prst="rect">
            <a:avLst/>
          </a:prstGeom>
          <a:solidFill>
            <a:srgbClr val="2E6BB0"/>
          </a:solidFill>
          <a:ln/>
        </p:spPr>
        <p:txBody>
          <a:bodyPr/>
          <a:p/>
        </p:txBody>
      </p:sp>
      <p:sp>
        <p:nvSpPr>
          <p:cNvPr id="396" name=""/>
          <p:cNvSpPr/>
          <p:nvPr/>
        </p:nvSpPr>
        <p:spPr>
          <a:xfrm rot="0" flipH="0" flipV="0">
            <a:off x="9391650" y="6781800"/>
            <a:ext cx="2190750" cy="57150"/>
          </a:xfrm>
          <a:prstGeom prst="rect">
            <a:avLst/>
          </a:prstGeom>
          <a:solidFill>
            <a:srgbClr val="C8A45C"/>
          </a:solidFill>
          <a:ln/>
        </p:spPr>
        <p:txBody>
          <a:bodyPr/>
          <a:p/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97" name="" descr="&lt;Slide style={{ width: 1280, height: 720, position: 'relative', background: '#FFFFFF', overflow: 'hidden' }}&gt;&#10;    &lt;Box style={{ position: 'absolute', left: 0, top: 0, width: 1280, height: 8, flexDirection: 'row' }}&gt;&#10;        &lt;Box style={{ width: '55%', height: 8, background: '#1B4A8C' }} /&gt;&#10;        &lt;Box style={{ width: '25%', height: 8, background: '#2E6BB0' }} /&gt;&#10;        &lt;Box style={{ width: '20%', height: 8, background: '#C8A45C' }} /&gt;&#10;    &lt;/Box&gt;&#10;    &lt;Box style={{ position: 'absolute', left: 64, top: 40, width: 1152, height: 76, flexDirection: 'row', alignItems: 'center', gap: 20 }}&gt;&#10;        &lt;Box style={{ width: 6, height: 44, background: '#1B4A8C' }} /&gt;&#10;        &lt;Box style={{ flexDirection: 'column' }}&gt;&#10;            &lt;Text style={{ fontSize: 34, fontWeight: 'bold', color: '#1F2733', lineHeight: 1.2 }}&gt;案件盯办：三类页签盯什么&lt;/Text&gt;&#10;            &lt;Text style={{ fontSize: 16, color: '#8A94A6', marginTop: 6 }}&gt;刑事案件的盯办看板，按办理状态分三个页签逐类盯住&lt;/Text&gt;&#10;        &lt;/Box&gt;&#10;        &lt;Box style={{ marginLeft: 'auto', flexDirection: 'row', alignItems: 'center', gap: 10, background: '#F4F6F9', borderRadius: 6, paddingLeft: 14, paddingRight: 14, paddingTop: 8, paddingBottom: 8 }}&gt;&#10;            &lt;FAIcon name='filter' style={{ fill: '#1B4A8C', width: 18, height: 18 }} /&gt;&#10;            &lt;Text style={{ fontSize: 14, color: '#1B4A8C' }}&gt;第 2 章 · 核心机制&lt;/Text&gt;&#10;        &lt;/Box&gt;&#10;    &lt;/Box&gt;&#10;    &lt;Box style={{ position: 'absolute', left: 64, top: 132, width: 1152, height: 532, flexDirection: 'row', gap: 26 }}&gt;&#10;        {/* 左 58% 大图 */}&#10;        &lt;Box style={{ width: 664, flexDirection: 'column', borderRadius: 10, overflow: 'hidden', border: '1px solid #E3E8F0', background: '#F4F6F9' }}&gt;&#10;            &lt;Box style={{ flexDirection: 'row', alignItems: 'center', gap: 10, paddingLeft: 16, paddingTop: 12, paddingBottom: 12, background: 'linear-gradient(135deg, #1B4A8C 0%, #2E6BB0 100%)' }}&gt;&#10;                &lt;FAIcon name='eye' style={{ fill: '#FFFFFF', width: 18, height: 18 }} /&gt;&#10;                &lt;Text style={{ fontSize: 16, color: '#FFFFFF' }}&gt;案件盯办 · 刑事看板&lt;/Text&gt;&#10;                &lt;Text style={{ marginLeft: 'auto', fontSize: 14, color: '#C9D6E8' }}&gt;初查 / 刑拘在办 / 取保及监居&lt;/Text&gt;&#10;            &lt;/Box&gt;&#10;            &lt;Box style={{ flex: 1, overflow: 'hidden' }}&gt;&#10;                &lt;Image src='assets/ui-watch-criminal.png' style={{ width: '100%', height: '100%', objectFit: 'cover', objectPosition: 'left top' }} /&gt;&#10;            &lt;/Box&gt;&#10;            &lt;Box style={{ paddingLeft: 16, paddingRight: 16, paddingTop: 10, paddingBottom: 12, background: '#FFFFFF' }}&gt;&#10;                &lt;Text style={{ fontSize: 15, color: '#8A94A6', lineHeight: 1.5 }}&gt;四张计数卡 + 具体时限提醒 + 三张分布图，构成盯办第一屏。&lt;/Text&gt;&#10;            &lt;/Box&gt;&#10;        &lt;/Box&gt;&#10;        {/* 右 42% 三类页签 */}&#10;        &lt;Box style={{ flex: 1, flexDirection: 'column', gap: 14 }}&gt;&#10;            &lt;Box style={{ width: '100%', flexDirection: 'column', background: '#F4F6F9', borderRadius: 8, border: '1px solid #E3E8F0', borderLeft: '5px solid #1B4A8C', padding: 16 }}&gt;&#10;                &lt;Box style={{ flexDirection: 'row', alignItems: 'center', gap: 10 }}&gt;&#10;                    &lt;Text style={{ fontSize: 20, fontWeight: 'bold', color: '#1B4A8C' }}&gt;初查&lt;/Text&gt;&#10;                    &lt;Text style={{ fontSize: 14, color: '#8A94A6' }}&gt;计划逾期 / 有嫌疑人&lt;/Text&gt;&#10;                &lt;/Box&gt;&#10;                &lt;Text style={{ fontSize: 16, color: '#5A6478', lineHeight: 1.6, marginTop: 8 }}&gt;盯初查计划有没有按期启动、有没有锁定嫌疑人，逾期直接红字顶到前面。&lt;/Text&gt;&#10;            &lt;/Box&gt;&#10;            &lt;Box style={{ width: '100%', flexDirection: 'column', background: '#FFFFFF', borderRadius: 8, border: '1px solid #E3E8F0', borderLeft: '5px solid #2E6BB0', padding: 16 }}&gt;&#10;                &lt;Box style={{ flexDirection: 'row', alignItems: 'center', gap: 10 }}&gt;&#10;                    &lt;Text style={{ fontSize: 20, fontWeight: 'bold', color: '#2E6BB0' }}&gt;刑拘在办&lt;/Text&gt;&#10;                    &lt;Text style={{ fontSize: 14, color: '#8A94A6' }}&gt;临期 / 超期&lt;/Text&gt;&#10;                &lt;/Box&gt;&#10;                &lt;Text style={{ fontSize: 16, color: '#5A6478', lineHeight: 1.6, marginTop: 8 }}&gt;盯刑事拘留期间的措施期限，临期预警、超期高亮，避免超期羁押风险。&lt;/Text&gt;&#10;            &lt;/Box&gt;&#10;            &lt;Box style={{ width: '100%', flexDirection: 'column', background: '#F4F6F9', borderRadius: 8, border: '1px solid #E3E8F0', borderLeft: '5px solid #C8A45C', padding: 16 }}&gt;&#10;                &lt;Box style={{ flexDirection: 'row', alignItems: 'center', gap: 10 }}&gt;&#10;                    &lt;Text style={{ fontSize: 20, fontWeight: 'bold', color: '#C8A45C' }}&gt;取保及监居&lt;/Text&gt;&#10;                    &lt;Text style={{ fontSize: 14, color: '#8A94A6' }}&gt;30 天内到期&lt;/Text&gt;&#10;                &lt;/Box&gt;&#10;                &lt;Text style={{ fontSize: 16, color: '#5A6478', lineHeight: 1.6, marginTop: 8 }}&gt;盯取保候审、监视居住的届满节点，提前 30 天进入提醒视野。&lt;/Text&gt;&#10;            &lt;/Box&gt;&#10;            &lt;Box style={{ width: '100%', flexDirection: 'row', alignItems: 'center', gap: 12, background: 'rgba(27,74,140,0.06)', borderRadius: 8, paddingTop: 13, paddingBottom: 13, paddingLeft: 16, paddingRight: 16 }}&gt;&#10;                &lt;FAIcon name='bell' style={{ fill: '#1B4A8C', width: 20, height: 20 }} /&gt;&#10;                &lt;Text style={{ fontSize: 16, color: '#1B4A8C', flex: 1 }}&gt;两个页签可切换：看板计数 / 页签列表，点计数卡直接筛。&lt;/Text&gt;&#10;            &lt;/Box&gt;&#10;        &lt;/Box&gt;&#10;    &lt;/Box&gt;&#10;    &lt;Box style={{ position: 'absolute', left: 64, top: 676, width: 1152, height: 32, flexDirection: 'row', justifyContent: 'space-between', alignItems: 'center' }}&gt;&#10;        &lt;Text style={{ fontSize: 14, color: '#8A94A6' }}&gt;案件指派系统　·　功能汇报与使用讲解&lt;/Text&gt;&#10;        &lt;Text style={{ fontSize: 14, color: '#8A94A6' }}&gt;08 / 16&lt;/Text&gt;&#10;    &lt;/Box&gt;&#10;    &lt;Box style={{ position: 'absolute', left: 64, top: 712, width: 1152, height: 6, flexDirection: 'row' }}&gt;&#10;        &lt;Box style={{ width: '55%', height: 6, background: '#1B4A8C' }} /&gt;&#10;        &lt;Box style={{ width: '25%', height: 6, background: '#2E6BB0' }} /&gt;&#10;        &lt;Box style={{ width: '20%', height: 6, background: '#C8A45C' }} /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9" name=""/>
          <p:cNvSpPr/>
          <p:nvPr/>
        </p:nvSpPr>
        <p:spPr>
          <a:xfrm rot="0" flipH="0" flipV="0">
            <a:off x="0" y="0"/>
            <a:ext cx="6705600" cy="76200"/>
          </a:xfrm>
          <a:prstGeom prst="rect">
            <a:avLst/>
          </a:prstGeom>
          <a:solidFill>
            <a:srgbClr val="1B4A8C"/>
          </a:solidFill>
          <a:ln/>
        </p:spPr>
        <p:txBody>
          <a:bodyPr/>
          <a:p/>
        </p:txBody>
      </p:sp>
      <p:sp>
        <p:nvSpPr>
          <p:cNvPr id="400" name=""/>
          <p:cNvSpPr/>
          <p:nvPr/>
        </p:nvSpPr>
        <p:spPr>
          <a:xfrm rot="0" flipH="0" flipV="0">
            <a:off x="6705600" y="0"/>
            <a:ext cx="3048000" cy="76200"/>
          </a:xfrm>
          <a:prstGeom prst="rect">
            <a:avLst/>
          </a:prstGeom>
          <a:solidFill>
            <a:srgbClr val="2E6BB0"/>
          </a:solidFill>
          <a:ln/>
        </p:spPr>
        <p:txBody>
          <a:bodyPr/>
          <a:p/>
        </p:txBody>
      </p:sp>
      <p:sp>
        <p:nvSpPr>
          <p:cNvPr id="401" name=""/>
          <p:cNvSpPr/>
          <p:nvPr/>
        </p:nvSpPr>
        <p:spPr>
          <a:xfrm rot="0" flipH="0" flipV="0">
            <a:off x="9753600" y="0"/>
            <a:ext cx="2438400" cy="76200"/>
          </a:xfrm>
          <a:prstGeom prst="rect">
            <a:avLst/>
          </a:prstGeom>
          <a:solidFill>
            <a:srgbClr val="C8A45C"/>
          </a:solidFill>
          <a:ln/>
        </p:spPr>
        <p:txBody>
          <a:bodyPr/>
          <a:p/>
        </p:txBody>
      </p:sp>
      <p:sp>
        <p:nvSpPr>
          <p:cNvPr id="402" name=""/>
          <p:cNvSpPr/>
          <p:nvPr/>
        </p:nvSpPr>
        <p:spPr>
          <a:xfrm rot="0" flipH="0" flipV="0">
            <a:off x="609600" y="533400"/>
            <a:ext cx="57150" cy="419100"/>
          </a:xfrm>
          <a:prstGeom prst="rect">
            <a:avLst/>
          </a:prstGeom>
          <a:solidFill>
            <a:srgbClr val="1B4A8C"/>
          </a:solidFill>
          <a:ln/>
        </p:spPr>
        <p:txBody>
          <a:bodyPr/>
          <a:p/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857250" y="390525"/>
            <a:ext cx="38862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F2733"/>
                </a:solidFill>
                <a:latin typeface="Microsoft YaHei"/>
                <a:ea typeface="Microsoft YaHei"/>
              </a:rPr>
              <a:t>案件盯办：三类页签盯什么</a:t>
            </a:r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857250" y="914400"/>
            <a:ext cx="388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A94A6"/>
                </a:solidFill>
                <a:latin typeface="Microsoft YaHei"/>
                <a:ea typeface="Microsoft YaHei"/>
              </a:rPr>
              <a:t>刑事案件的盯办看板，按办理状态分三个页签逐类盯住</a:t>
            </a:r>
            <a:endParaRPr/>
          </a:p>
        </p:txBody>
      </p:sp>
      <p:sp>
        <p:nvSpPr>
          <p:cNvPr id="405" name=""/>
          <p:cNvSpPr/>
          <p:nvPr/>
        </p:nvSpPr>
        <p:spPr>
          <a:xfrm rot="0" flipH="0" flipV="0">
            <a:off x="9972675" y="581025"/>
            <a:ext cx="1609725" cy="323850"/>
          </a:xfrm>
          <a:prstGeom prst="roundRect">
            <a:avLst>
              <a:gd name="adj" fmla="val 17647"/>
            </a:avLst>
          </a:prstGeom>
          <a:solidFill>
            <a:srgbClr val="F4F6F9"/>
          </a:solidFill>
          <a:ln/>
        </p:spPr>
        <p:txBody>
          <a:bodyPr/>
          <a:p/>
        </p:txBody>
      </p:sp>
      <p:pic>
        <p:nvPicPr>
          <p:cNvPr id="40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106025" y="657225"/>
            <a:ext cx="171450" cy="171450"/>
          </a:xfrm>
          <a:prstGeom prst="rect">
            <a:avLst/>
          </a:prstGeom>
          <a:ln/>
        </p:spPr>
      </p:pic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10372725" y="666750"/>
            <a:ext cx="1076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B4A8C"/>
                </a:solidFill>
                <a:latin typeface="Microsoft YaHei"/>
                <a:ea typeface="Microsoft YaHei"/>
              </a:rPr>
              <a:t>第</a:t>
            </a:r>
            <a:r>
              <a:rPr lang="en-US" sz="1050">
                <a:solidFill>
                  <a:srgbClr val="1B4A8C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050">
                <a:solidFill>
                  <a:srgbClr val="1B4A8C"/>
                </a:solidFill>
                <a:latin typeface="Microsoft YaHei"/>
                <a:ea typeface="Microsoft YaHei"/>
              </a:rPr>
              <a:t>章</a:t>
            </a:r>
            <a:r>
              <a:rPr lang="en-US" sz="1050">
                <a:solidFill>
                  <a:srgbClr val="1B4A8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1B4A8C"/>
                </a:solidFill>
                <a:latin typeface="Microsoft YaHei"/>
                <a:ea typeface="Microsoft YaHei"/>
              </a:rPr>
              <a:t>核心机制</a:t>
            </a:r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609600" y="1257300"/>
            <a:ext cx="6324600" cy="5067300"/>
          </a:xfrm>
          <a:prstGeom prst="roundRect">
            <a:avLst>
              <a:gd name="adj" fmla="val 1880"/>
            </a:avLst>
          </a:prstGeom>
          <a:solidFill>
            <a:srgbClr val="F4F6F9"/>
          </a:solidFill>
          <a:ln w="12700">
            <a:solidFill>
              <a:srgbClr val="E3E8F0"/>
            </a:solidFill>
            <a:prstDash val="solid"/>
          </a:ln>
        </p:spPr>
        <p:txBody>
          <a:bodyPr/>
          <a:p/>
        </p:txBody>
      </p:sp>
      <p:sp>
        <p:nvSpPr>
          <p:cNvPr id="409" name=""/>
          <p:cNvSpPr/>
          <p:nvPr/>
        </p:nvSpPr>
        <p:spPr>
          <a:xfrm rot="0" flipH="0" flipV="0">
            <a:off x="609600" y="1257300"/>
            <a:ext cx="6324600" cy="419100"/>
          </a:xfrm>
          <a:custGeom>
            <a:pathLst>
              <a:path w="664" h="44">
                <a:moveTo>
                  <a:pt x="654" y="0"/>
                </a:moveTo>
                <a:cubicBezTo>
                  <a:pt x="660" y="0"/>
                  <a:pt x="664" y="5"/>
                  <a:pt x="664" y="10"/>
                </a:cubicBezTo>
                <a:lnTo>
                  <a:pt x="664" y="44"/>
                </a:lnTo>
                <a:lnTo>
                  <a:pt x="0" y="44"/>
                </a:ln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654" y="0"/>
                </a:lnTo>
                <a:close/>
              </a:path>
            </a:pathLst>
          </a:custGeom>
          <a:gradFill>
            <a:gsLst>
              <a:gs pos="0">
                <a:srgbClr val="1B4A8C"/>
              </a:gs>
              <a:gs pos="100000">
                <a:srgbClr val="2E6BB0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41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2000" y="1381125"/>
            <a:ext cx="171450" cy="171450"/>
          </a:xfrm>
          <a:prstGeom prst="rect">
            <a:avLst/>
          </a:prstGeom>
          <a:ln/>
        </p:spPr>
      </p:pic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1028700" y="1371600"/>
            <a:ext cx="1352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案件盯办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刑事看板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5191125" y="1390650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9D6E8"/>
                </a:solidFill>
                <a:latin typeface="Microsoft YaHei"/>
                <a:ea typeface="Microsoft YaHei"/>
              </a:rPr>
              <a:t>初查</a:t>
            </a:r>
            <a:r>
              <a:rPr lang="en-US" sz="1050">
                <a:solidFill>
                  <a:srgbClr val="C9D6E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C9D6E8"/>
                </a:solidFill>
                <a:latin typeface="Microsoft YaHei"/>
                <a:ea typeface="Microsoft YaHei"/>
              </a:rPr>
              <a:t>刑拘在办</a:t>
            </a:r>
            <a:r>
              <a:rPr lang="en-US" sz="1050">
                <a:solidFill>
                  <a:srgbClr val="C9D6E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C9D6E8"/>
                </a:solidFill>
                <a:latin typeface="Microsoft YaHei"/>
                <a:ea typeface="Microsoft YaHei"/>
              </a:rPr>
              <a:t>取保及监居</a:t>
            </a:r>
            <a:endParaRPr/>
          </a:p>
        </p:txBody>
      </p:sp>
      <p:pic>
        <p:nvPicPr>
          <p:cNvPr id="413" name=""/>
          <p:cNvPicPr>
            <a:picLocks noChangeAspect="1"/>
          </p:cNvPicPr>
          <p:nvPr/>
        </p:nvPicPr>
        <p:blipFill>
          <a:blip r:embed="rId3"/>
          <a:srcRect l="107" t="0" r="107" b="0"/>
          <a:stretch>
            <a:fillRect/>
          </a:stretch>
        </p:blipFill>
        <p:spPr>
          <a:xfrm rot="0" flipH="0" flipV="0">
            <a:off x="609600" y="1676400"/>
            <a:ext cx="6324600" cy="4181475"/>
          </a:xfrm>
          <a:prstGeom prst="rect">
            <a:avLst/>
          </a:prstGeom>
          <a:ln/>
        </p:spPr>
      </p:pic>
      <p:sp>
        <p:nvSpPr>
          <p:cNvPr id="414" name=""/>
          <p:cNvSpPr/>
          <p:nvPr/>
        </p:nvSpPr>
        <p:spPr>
          <a:xfrm rot="0" flipH="0" flipV="0">
            <a:off x="609600" y="5857875"/>
            <a:ext cx="6324600" cy="466725"/>
          </a:xfrm>
          <a:custGeom>
            <a:pathLst>
              <a:path w="664" h="49">
                <a:moveTo>
                  <a:pt x="664" y="39"/>
                </a:moveTo>
                <a:cubicBezTo>
                  <a:pt x="664" y="45"/>
                  <a:pt x="660" y="49"/>
                  <a:pt x="654" y="49"/>
                </a:cubicBezTo>
                <a:lnTo>
                  <a:pt x="10" y="49"/>
                </a:lnTo>
                <a:cubicBezTo>
                  <a:pt x="4" y="49"/>
                  <a:pt x="0" y="45"/>
                  <a:pt x="0" y="39"/>
                </a:cubicBezTo>
                <a:lnTo>
                  <a:pt x="0" y="0"/>
                </a:lnTo>
                <a:lnTo>
                  <a:pt x="664" y="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762000" y="5953125"/>
            <a:ext cx="60198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8A94A6"/>
                </a:solidFill>
                <a:latin typeface="Microsoft YaHei"/>
                <a:ea typeface="Microsoft YaHei"/>
              </a:rPr>
              <a:t>四张计数卡</a:t>
            </a:r>
            <a:r>
              <a:rPr lang="en-US" sz="1125">
                <a:solidFill>
                  <a:srgbClr val="8A94A6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8A94A6"/>
                </a:solidFill>
                <a:latin typeface="Microsoft YaHei"/>
                <a:ea typeface="Microsoft YaHei"/>
              </a:rPr>
              <a:t>具体时限提醒</a:t>
            </a:r>
            <a:r>
              <a:rPr lang="en-US" sz="1125">
                <a:solidFill>
                  <a:srgbClr val="8A94A6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8A94A6"/>
                </a:solidFill>
                <a:latin typeface="Microsoft YaHei"/>
                <a:ea typeface="Microsoft YaHei"/>
              </a:rPr>
              <a:t>三张分布图，构成盯办第一屏。</a:t>
            </a:r>
            <a:endParaRPr/>
          </a:p>
        </p:txBody>
      </p:sp>
      <p:sp>
        <p:nvSpPr>
          <p:cNvPr id="416" name=""/>
          <p:cNvSpPr/>
          <p:nvPr/>
        </p:nvSpPr>
        <p:spPr>
          <a:xfrm rot="0" flipH="0" flipV="0">
            <a:off x="7229475" y="1257300"/>
            <a:ext cx="4400550" cy="1200150"/>
          </a:xfrm>
          <a:prstGeom prst="roundRect">
            <a:avLst>
              <a:gd name="adj" fmla="val 6349"/>
            </a:avLst>
          </a:prstGeom>
          <a:solidFill>
            <a:srgbClr val="F4F6F9"/>
          </a:solidFill>
          <a:ln/>
        </p:spPr>
        <p:txBody>
          <a:bodyPr/>
          <a:p/>
        </p:txBody>
      </p:sp>
      <p:sp>
        <p:nvSpPr>
          <p:cNvPr id="417" name=""/>
          <p:cNvSpPr/>
          <p:nvPr/>
        </p:nvSpPr>
        <p:spPr>
          <a:xfrm rot="0" flipH="0" flipV="0">
            <a:off x="7229475" y="1257300"/>
            <a:ext cx="4400550" cy="1200150"/>
          </a:xfrm>
          <a:custGeom>
            <a:pathLst>
              <a:path w="462" h="126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23"/>
                </a:lnTo>
                <a:cubicBezTo>
                  <a:pt x="5" y="125"/>
                  <a:pt x="6" y="126"/>
                  <a:pt x="8" y="126"/>
                </a:cubicBezTo>
                <a:cubicBezTo>
                  <a:pt x="3" y="126"/>
                  <a:pt x="0" y="122"/>
                  <a:pt x="0" y="11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B4A8C"/>
          </a:solidFill>
          <a:ln/>
        </p:spPr>
        <p:txBody>
          <a:bodyPr/>
          <a:p/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7381875" y="140970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B4A8C"/>
                </a:solidFill>
                <a:latin typeface="Microsoft YaHei"/>
                <a:ea typeface="Microsoft YaHei"/>
              </a:rPr>
              <a:t>初查</a:t>
            </a:r>
            <a:endParaRPr/>
          </a:p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7858125" y="1447800"/>
            <a:ext cx="1209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4A6"/>
                </a:solidFill>
                <a:latin typeface="Microsoft YaHei"/>
                <a:ea typeface="Microsoft YaHei"/>
              </a:rPr>
              <a:t>计划逾期</a:t>
            </a:r>
            <a:r>
              <a:rPr lang="en-US" sz="1050">
                <a:solidFill>
                  <a:srgbClr val="8A94A6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8A94A6"/>
                </a:solidFill>
                <a:latin typeface="Microsoft YaHei"/>
                <a:ea typeface="Microsoft YaHei"/>
              </a:rPr>
              <a:t>有嫌疑人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7381875" y="1714500"/>
            <a:ext cx="40481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5A6478"/>
                </a:solidFill>
                <a:latin typeface="Microsoft YaHei"/>
                <a:ea typeface="Microsoft YaHei"/>
              </a:rPr>
              <a:t>盯初查计划有没有按期启动、有没有锁定嫌疑人，逾期直接红字顶到前面。</a:t>
            </a:r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7229475" y="2590800"/>
            <a:ext cx="44005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2" name=""/>
          <p:cNvSpPr/>
          <p:nvPr/>
        </p:nvSpPr>
        <p:spPr>
          <a:xfrm rot="0" flipH="0" flipV="0">
            <a:off x="7229475" y="2590800"/>
            <a:ext cx="4400550" cy="1200150"/>
          </a:xfrm>
          <a:custGeom>
            <a:pathLst>
              <a:path w="462" h="126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23"/>
                </a:lnTo>
                <a:cubicBezTo>
                  <a:pt x="5" y="125"/>
                  <a:pt x="6" y="126"/>
                  <a:pt x="8" y="126"/>
                </a:cubicBezTo>
                <a:cubicBezTo>
                  <a:pt x="3" y="126"/>
                  <a:pt x="0" y="122"/>
                  <a:pt x="0" y="11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E6BB0"/>
          </a:solidFill>
          <a:ln/>
        </p:spPr>
        <p:txBody>
          <a:bodyPr/>
          <a:p/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7381875" y="274320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E6BB0"/>
                </a:solidFill>
                <a:latin typeface="Microsoft YaHei"/>
                <a:ea typeface="Microsoft YaHei"/>
              </a:rPr>
              <a:t>刑拘在办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8239125" y="2781300"/>
            <a:ext cx="676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4A6"/>
                </a:solidFill>
                <a:latin typeface="Microsoft YaHei"/>
                <a:ea typeface="Microsoft YaHei"/>
              </a:rPr>
              <a:t>临期</a:t>
            </a:r>
            <a:r>
              <a:rPr lang="en-US" sz="1050">
                <a:solidFill>
                  <a:srgbClr val="8A94A6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8A94A6"/>
                </a:solidFill>
                <a:latin typeface="Microsoft YaHei"/>
                <a:ea typeface="Microsoft YaHei"/>
              </a:rPr>
              <a:t>超期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7381875" y="3048000"/>
            <a:ext cx="40481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5A6478"/>
                </a:solidFill>
                <a:latin typeface="Microsoft YaHei"/>
                <a:ea typeface="Microsoft YaHei"/>
              </a:rPr>
              <a:t>盯刑事拘留期间的措施期限，临期预警、超期高亮，避免超期羁押风险。</a:t>
            </a:r>
            <a:endParaRPr/>
          </a:p>
        </p:txBody>
      </p:sp>
      <p:sp>
        <p:nvSpPr>
          <p:cNvPr id="426" name=""/>
          <p:cNvSpPr/>
          <p:nvPr/>
        </p:nvSpPr>
        <p:spPr>
          <a:xfrm rot="0" flipH="0" flipV="0">
            <a:off x="7229475" y="3924300"/>
            <a:ext cx="4400550" cy="1200150"/>
          </a:xfrm>
          <a:prstGeom prst="roundRect">
            <a:avLst>
              <a:gd name="adj" fmla="val 6349"/>
            </a:avLst>
          </a:prstGeom>
          <a:solidFill>
            <a:srgbClr val="F4F6F9"/>
          </a:solidFill>
          <a:ln/>
        </p:spPr>
        <p:txBody>
          <a:bodyPr/>
          <a:p/>
        </p:txBody>
      </p:sp>
      <p:sp>
        <p:nvSpPr>
          <p:cNvPr id="427" name=""/>
          <p:cNvSpPr/>
          <p:nvPr/>
        </p:nvSpPr>
        <p:spPr>
          <a:xfrm rot="0" flipH="0" flipV="0">
            <a:off x="7229475" y="3924300"/>
            <a:ext cx="4400550" cy="1200150"/>
          </a:xfrm>
          <a:custGeom>
            <a:pathLst>
              <a:path w="462" h="126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23"/>
                </a:lnTo>
                <a:cubicBezTo>
                  <a:pt x="5" y="125"/>
                  <a:pt x="6" y="126"/>
                  <a:pt x="8" y="126"/>
                </a:cubicBezTo>
                <a:cubicBezTo>
                  <a:pt x="3" y="126"/>
                  <a:pt x="0" y="122"/>
                  <a:pt x="0" y="11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C8A45C"/>
          </a:solidFill>
          <a:ln/>
        </p:spPr>
        <p:txBody>
          <a:bodyPr/>
          <a:p/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7381875" y="4076700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8A45C"/>
                </a:solidFill>
                <a:latin typeface="Microsoft YaHei"/>
                <a:ea typeface="Microsoft YaHei"/>
              </a:rPr>
              <a:t>取保及监居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8429625" y="4114800"/>
            <a:ext cx="733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4A6"/>
                </a:solidFill>
                <a:latin typeface="Microsoft YaHei"/>
                <a:ea typeface="Microsoft YaHei"/>
              </a:rPr>
              <a:t xml:space="preserve">30 </a:t>
            </a:r>
            <a:r>
              <a:rPr lang="zh-CN" sz="1050">
                <a:solidFill>
                  <a:srgbClr val="8A94A6"/>
                </a:solidFill>
                <a:latin typeface="Microsoft YaHei"/>
                <a:ea typeface="Microsoft YaHei"/>
              </a:rPr>
              <a:t>天内到期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7381875" y="4381500"/>
            <a:ext cx="40481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5A6478"/>
                </a:solidFill>
                <a:latin typeface="Microsoft YaHei"/>
                <a:ea typeface="Microsoft YaHei"/>
              </a:rPr>
              <a:t>盯取保候审、监视居住的届满节点，提前</a:t>
            </a:r>
            <a:r>
              <a:rPr lang="en-US" sz="1200">
                <a:solidFill>
                  <a:srgbClr val="5A6478"/>
                </a:solidFill>
                <a:latin typeface="Microsoft YaHei"/>
                <a:ea typeface="Microsoft YaHei"/>
              </a:rPr>
              <a:t xml:space="preserve"> 30 </a:t>
            </a:r>
            <a:r>
              <a:rPr lang="zh-CN" sz="1200">
                <a:solidFill>
                  <a:srgbClr val="5A6478"/>
                </a:solidFill>
                <a:latin typeface="Microsoft YaHei"/>
                <a:ea typeface="Microsoft YaHei"/>
              </a:rPr>
              <a:t>天进入提醒视野。</a:t>
            </a:r>
            <a:endParaRPr/>
          </a:p>
        </p:txBody>
      </p:sp>
      <p:sp>
        <p:nvSpPr>
          <p:cNvPr id="431" name=""/>
          <p:cNvSpPr/>
          <p:nvPr/>
        </p:nvSpPr>
        <p:spPr>
          <a:xfrm rot="0" flipH="0" flipV="0">
            <a:off x="7181850" y="5257800"/>
            <a:ext cx="4400550" cy="619125"/>
          </a:xfrm>
          <a:prstGeom prst="roundRect">
            <a:avLst>
              <a:gd name="adj" fmla="val 12308"/>
            </a:avLst>
          </a:prstGeom>
          <a:solidFill>
            <a:srgbClr val="1B4A8C">
              <a:alpha val="6000"/>
            </a:srgbClr>
          </a:solidFill>
          <a:ln/>
        </p:spPr>
        <p:txBody>
          <a:bodyPr/>
          <a:p/>
        </p:txBody>
      </p:sp>
      <p:pic>
        <p:nvPicPr>
          <p:cNvPr id="43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334250" y="5476875"/>
            <a:ext cx="190500" cy="190500"/>
          </a:xfrm>
          <a:prstGeom prst="rect">
            <a:avLst/>
          </a:prstGeom>
          <a:ln/>
        </p:spPr>
      </p:pic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7639050" y="5381625"/>
            <a:ext cx="379095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>
                <a:solidFill>
                  <a:srgbClr val="1B4A8C"/>
                </a:solidFill>
                <a:latin typeface="Microsoft YaHei"/>
                <a:ea typeface="Microsoft YaHei"/>
              </a:rPr>
              <a:t>两个页签可切换：看板计数</a:t>
            </a:r>
            <a:r>
              <a:rPr lang="en-US" sz="1200">
                <a:solidFill>
                  <a:srgbClr val="1B4A8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1B4A8C"/>
                </a:solidFill>
                <a:latin typeface="Microsoft YaHei"/>
                <a:ea typeface="Microsoft YaHei"/>
              </a:rPr>
              <a:t>页签列表，点计数卡直接筛。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609600" y="6515100"/>
            <a:ext cx="2305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4A6"/>
                </a:solidFill>
                <a:latin typeface="Microsoft YaHei"/>
                <a:ea typeface="Microsoft YaHei"/>
              </a:rPr>
              <a:t>案件指派系统　·　功能汇报与使用讲解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11125200" y="65151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4A6"/>
                </a:solidFill>
                <a:latin typeface="Microsoft YaHei"/>
                <a:ea typeface="Microsoft YaHei"/>
              </a:rPr>
              <a:t>08 / 16</a:t>
            </a:r>
            <a:endParaRPr/>
          </a:p>
        </p:txBody>
      </p:sp>
      <p:sp>
        <p:nvSpPr>
          <p:cNvPr id="436" name=""/>
          <p:cNvSpPr/>
          <p:nvPr/>
        </p:nvSpPr>
        <p:spPr>
          <a:xfrm rot="0" flipH="0" flipV="0">
            <a:off x="609600" y="6781800"/>
            <a:ext cx="6038850" cy="57150"/>
          </a:xfrm>
          <a:prstGeom prst="rect">
            <a:avLst/>
          </a:prstGeom>
          <a:solidFill>
            <a:srgbClr val="1B4A8C"/>
          </a:solidFill>
          <a:ln/>
        </p:spPr>
        <p:txBody>
          <a:bodyPr/>
          <a:p/>
        </p:txBody>
      </p:sp>
      <p:sp>
        <p:nvSpPr>
          <p:cNvPr id="437" name=""/>
          <p:cNvSpPr/>
          <p:nvPr/>
        </p:nvSpPr>
        <p:spPr>
          <a:xfrm rot="0" flipH="0" flipV="0">
            <a:off x="6648450" y="6781800"/>
            <a:ext cx="2743200" cy="57150"/>
          </a:xfrm>
          <a:prstGeom prst="rect">
            <a:avLst/>
          </a:prstGeom>
          <a:solidFill>
            <a:srgbClr val="2E6BB0"/>
          </a:solidFill>
          <a:ln/>
        </p:spPr>
        <p:txBody>
          <a:bodyPr/>
          <a:p/>
        </p:txBody>
      </p:sp>
      <p:sp>
        <p:nvSpPr>
          <p:cNvPr id="438" name=""/>
          <p:cNvSpPr/>
          <p:nvPr/>
        </p:nvSpPr>
        <p:spPr>
          <a:xfrm rot="0" flipH="0" flipV="0">
            <a:off x="9391650" y="6781800"/>
            <a:ext cx="2190750" cy="57150"/>
          </a:xfrm>
          <a:prstGeom prst="rect">
            <a:avLst/>
          </a:prstGeom>
          <a:solidFill>
            <a:srgbClr val="C8A45C"/>
          </a:solidFill>
          <a:ln/>
        </p:spPr>
        <p:txBody>
          <a:bodyPr/>
          <a:p/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c="http://schemas.openxmlformats.org/drawingml/2006/chart" xmlns:r="http://schemas.openxmlformats.org/officeDocument/2006/relationships" xmlns:mc="http://schemas.openxmlformats.org/markup-compatibility/2006" mc:Ignorable="asvg">
  <p:cSld>
    <p:spTree>
      <p:nvGrpSpPr>
        <p:cNvPr id="439" name="" descr="&lt;Slide style={{ width: 1280, height: 720, position: 'relative', background: 'linear-gradient(160deg, #12294A 0%, #1B4A8C 100%)', overflow: 'hidden' }}&gt;&#10;    &lt;svg width={1280} height={720} viewBox='0 0 1280 720' style={{ position: 'absolute', left: 0, top: 0 }}&gt;&#10;        &lt;g fill='none' stroke='#C8A45C' strokeWidth='1' opacity='0.14'&gt;&#10;            &lt;circle cx='1120' cy='140' r='180' /&gt;&#10;            &lt;circle cx='1120' cy='140' r='240' /&gt;&#10;        &lt;/g&gt;&#10;        &lt;g stroke='#FFFFFF' strokeWidth='1' opacity='0.05'&gt;&#10;            &lt;line x1='0' y1='360' x2='1280' y2='360' /&gt;&#10;        &lt;/g&gt;&#10;    &lt;/svg&gt;&#10;    &lt;Box style={{ position: 'absolute', left: 64, top: 44, width: 1152, flexDirection: 'row', alignItems: 'center', gap: 20 }}&gt;&#10;        &lt;Box style={{ width: 6, height: 44, background: '#C8A45C' }} /&gt;&#10;        &lt;Box style={{ flexDirection: 'column' }}&gt;&#10;            &lt;Text style={{ fontSize: 34, fontWeight: 'bold', color: '#FFFFFF', lineHeight: 1.2 }}&gt;办理时限：刑事、行政两套时钟&lt;/Text&gt;&#10;            &lt;Text style={{ fontSize: 16, color: '#8FB0D9', marginTop: 6 }}&gt;同一套系统，跑两套计时基准；超期不是事后统计，而是事前提醒&lt;/Text&gt;&#10;        &lt;/Box&gt;&#10;    &lt;/Box&gt;&#10;    {/* 巨型锚点数字 */}&#10;    &lt;Box style={{ position: 'absolute', left: 64, top: 146, width: 560, flexDirection: 'column' }}&gt;&#10;        &lt;Text style={{ fontSize: 18, color: '#C8A45C', letterSpacing: 3 }}&gt;刑事案件 · 关键节点&lt;/Text&gt;&#10;        &lt;Box style={{ flexDirection: 'row', alignItems: 'flex-end', gap: 18, marginTop: 16 }}&gt;&#10;            &lt;Text style={{ fontSize: 112, fontWeight: 'bold', color: '#FFFFFF', lineHeight: 1, letterSpacing: -2 }}&gt;3&lt;/Text&gt;&#10;            &lt;Text style={{ fontSize: 24, color: '#C8A45C', marginBottom: 20 }}&gt;天&lt;/Text&gt;&#10;            &lt;Box style={{ width: 2, height: 54, background: 'rgba(255,255,255,0.25)', marginBottom: 26 }} /&gt;&#10;            &lt;Text style={{ fontSize: 112, fontWeight: 'bold', color: '#FFFFFF', lineHeight: 1, letterSpacing: -2 }}&gt;7&lt;/Text&gt;&#10;            &lt;Text style={{ fontSize: 24, color: '#C8A45C', marginBottom: 20 }}&gt;天&lt;/Text&gt;&#10;            &lt;Box style={{ width: 2, height: 54, background: 'rgba(255,255,255,0.25)', marginBottom: 26 }} /&gt;&#10;            &lt;Text style={{ fontSize: 112, fontWeight: 'bold', color: '#FFFFFF', lineHeight: 1, letterSpacing: -2 }}&gt;30&lt;/Text&gt;&#10;            &lt;Text style={{ fontSize: 24, color: '#C8A45C', marginBottom: 20 }}&gt;天&lt;/Text&gt;&#10;        &lt;/Box&gt;&#10;        &lt;Text style={{ fontSize: 17, color: '#C9D6E8', lineHeight: 1.6, marginTop: 18 }}&gt;刑拘变更羁押 3 天 · 取保 7 天 · 取保/监居长周期 30 天&lt;/Text&gt;&#10;    &lt;/Box&gt;&#10;    {/* 图表 */}&#10;    &lt;Box style={{ position: 'absolute', left: 660, top: 146, width: 556, flexDirection: 'column', background: 'rgba(255,255,255,0.06)', borderRadius: 10, border: '1px solid rgba(200,164,92,0.28)', padding: 18 }}&gt;&#10;        &lt;Text style={{ fontSize: 18, fontWeight: 'bold', color: '#FFFFFF', marginBottom: 6 }}&gt;行政案件 · 办理时限阶梯（天）&lt;/Text&gt;&#10;        &lt;Chart style={{ width: '100%', height: 268 }} chartType='barChart' barDirection='bar' grouping='clustered' title='' showLegend={false} showDataLabels={true} axisColor='#8FB0D9' dataLabelColor='#FFFFFF' colors={['#C8A45C']} background='transparent' data={[['时限档位', '天数'], ['简易程序', 3], ['一般程序', 10], ['调查取证', 20], ['办案期限', 30], ['延期上限', 60]]} /&gt;&#10;    &lt;/Box&gt;&#10;    {/* 底部洞察 */}&#10;    &lt;Box style={{ position: 'absolute', left: 660, top: 468, width: 556, flexDirection: 'row', gap: 14 }}&gt;&#10;        &lt;Box style={{ flex: 1, flexDirection: 'column', background: 'rgba(255,255,255,0.06)', borderRadius: 8, padding: 16 }}&gt;&#10;            &lt;Box style={{ flexDirection: 'row', alignItems: 'center', gap: 8 }}&gt;&#10;                &lt;FAIcon name='hourglass-half' style={{ fill: '#C8A45C', width: 18, height: 18 }} /&gt;&#10;                &lt;Text style={{ fontSize: 16, fontWeight: 'bold', color: '#FFFFFF' }}&gt;倒计时口径&lt;/Text&gt;&#10;            &lt;/Box&gt;&#10;            &lt;Text style={{ fontSize: 15, color: '#C9D6E8', lineHeight: 1.6, marginTop: 8 }}&gt;到期日按工作日/自然日分别计算，系统自动倒推。&lt;/Text&gt;&#10;        &lt;/Box&gt;&#10;        &lt;Box style={{ flex: 1, flexDirection: 'column', background: 'rgba(255,255,255,0.06)', borderRadius: 8, padding: 16 }}&gt;&#10;            &lt;Box style={{ flexDirection: 'row', alignItems: 'center', gap: 8 }}&gt;&#10;                &lt;FAIcon name='exclamation-triangle' style={{ fill: '#C8A45C', width: 18, height: 18 }} /&gt;&#10;                &lt;Text style={{ fontSize: 16, fontWeight: 'bold', color: '#FFFFFF' }}&gt;变色规则&lt;/Text&gt;&#10;            &lt;/Box&gt;&#10;            &lt;Text style={{ fontSize: 15, color: '#C9D6E8', lineHeight: 1.6, marginTop: 8 }}&gt;7 天内到期变橙，已逾期变红，未登记期限灰显。&lt;/Text&gt;&#10;        &lt;/Box&gt;&#10;    &lt;/Box&gt;&#10;    {/* 页脚 */}&#10;    &lt;Box style={{ position: 'absolute', left: 64, top: 660, width: 1152, flexDirection: 'row', justifyContent: 'space-between', alignItems: 'center' }}&gt;&#10;        &lt;Box style={{ flexDirection: 'row', alignItems: 'center', gap: 12 }}&gt;&#10;            &lt;FAIcon name='shield' style={{ fill: '#C8A45C', width: 20, height: 20 }} /&gt;&#10;            &lt;Text style={{ fontSize: 14, color: '#8FB0D9' }}&gt;案件指派系统　·　功能汇报与使用讲解&lt;/Text&gt;&#10;        &lt;/Box&gt;&#10;        &lt;Text style={{ fontSize: 14, color: '#8FB0D9' }}&gt;09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2294A"/>
              </a:gs>
              <a:gs pos="100000">
                <a:srgbClr val="1B4A8C"/>
              </a:gs>
            </a:gsLst>
            <a:lin ang="4200000" scaled="1"/>
          </a:gradFill>
          <a:ln/>
        </p:spPr>
        <p:txBody>
          <a:bodyPr/>
          <a:p/>
        </p:txBody>
      </p:sp>
      <p:pic>
        <p:nvPicPr>
          <p:cNvPr id="4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42" name=""/>
          <p:cNvSpPr/>
          <p:nvPr/>
        </p:nvSpPr>
        <p:spPr>
          <a:xfrm rot="0" flipH="0" flipV="0">
            <a:off x="609600" y="571500"/>
            <a:ext cx="57150" cy="419100"/>
          </a:xfrm>
          <a:prstGeom prst="rect">
            <a:avLst/>
          </a:prstGeom>
          <a:solidFill>
            <a:srgbClr val="C8A45C"/>
          </a:solidFill>
          <a:ln/>
        </p:spPr>
        <p:txBody>
          <a:bodyPr/>
          <a:p/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857250" y="419100"/>
            <a:ext cx="45339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办理时限：刑事、行政两套时钟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857250" y="942975"/>
            <a:ext cx="4533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FB0D9"/>
                </a:solidFill>
                <a:latin typeface="Microsoft YaHei"/>
                <a:ea typeface="Microsoft YaHei"/>
              </a:rPr>
              <a:t>同一套系统，跑两套计时基准；超期不是事后统计，而是事前提醒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609600" y="1390650"/>
            <a:ext cx="5334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225">
                <a:solidFill>
                  <a:srgbClr val="C8A45C"/>
                </a:solidFill>
                <a:latin typeface="Microsoft YaHei"/>
                <a:ea typeface="Microsoft YaHei"/>
              </a:rPr>
              <a:t>刑事案件</a:t>
            </a:r>
            <a:r>
              <a:rPr lang="en-US" sz="1350" spc="225">
                <a:solidFill>
                  <a:srgbClr val="C8A45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 spc="225">
                <a:solidFill>
                  <a:srgbClr val="C8A45C"/>
                </a:solidFill>
                <a:latin typeface="Microsoft YaHei"/>
                <a:ea typeface="Microsoft YaHei"/>
              </a:rPr>
              <a:t>关键节点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609600" y="1752600"/>
            <a:ext cx="647700" cy="1285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400" b="1" spc="-150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1428750" y="2571750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C8A45C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448" name=""/>
          <p:cNvSpPr/>
          <p:nvPr/>
        </p:nvSpPr>
        <p:spPr>
          <a:xfrm rot="0" flipH="0" flipV="0">
            <a:off x="1828800" y="2276475"/>
            <a:ext cx="19050" cy="51435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2019300" y="1752600"/>
            <a:ext cx="647700" cy="1285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400" b="1" spc="-150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2838450" y="2571750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C8A45C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451" name=""/>
          <p:cNvSpPr/>
          <p:nvPr/>
        </p:nvSpPr>
        <p:spPr>
          <a:xfrm rot="0" flipH="0" flipV="0">
            <a:off x="3238500" y="2276475"/>
            <a:ext cx="19050" cy="51435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3429000" y="1752600"/>
            <a:ext cx="1285875" cy="1285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400" b="1" spc="-150">
                <a:solidFill>
                  <a:srgbClr val="FFFFFF"/>
                </a:solidFill>
                <a:latin typeface="Microsoft YaHei"/>
                <a:ea typeface="Microsoft YaHei"/>
              </a:rPr>
              <a:t>30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4886325" y="2571750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C8A45C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609600" y="3209925"/>
            <a:ext cx="53340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C9D6E8"/>
                </a:solidFill>
                <a:latin typeface="Microsoft YaHei"/>
                <a:ea typeface="Microsoft YaHei"/>
              </a:rPr>
              <a:t>刑拘变更羁押</a:t>
            </a:r>
            <a:r>
              <a:rPr lang="en-US" sz="1275">
                <a:solidFill>
                  <a:srgbClr val="C9D6E8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275">
                <a:solidFill>
                  <a:srgbClr val="C9D6E8"/>
                </a:solidFill>
                <a:latin typeface="Microsoft YaHei"/>
                <a:ea typeface="Microsoft YaHei"/>
              </a:rPr>
              <a:t>天</a:t>
            </a:r>
            <a:r>
              <a:rPr lang="en-US" sz="1275">
                <a:solidFill>
                  <a:srgbClr val="C9D6E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C9D6E8"/>
                </a:solidFill>
                <a:latin typeface="Microsoft YaHei"/>
                <a:ea typeface="Microsoft YaHei"/>
              </a:rPr>
              <a:t>取保</a:t>
            </a:r>
            <a:r>
              <a:rPr lang="en-US" sz="1275">
                <a:solidFill>
                  <a:srgbClr val="C9D6E8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1275">
                <a:solidFill>
                  <a:srgbClr val="C9D6E8"/>
                </a:solidFill>
                <a:latin typeface="Microsoft YaHei"/>
                <a:ea typeface="Microsoft YaHei"/>
              </a:rPr>
              <a:t>天</a:t>
            </a:r>
            <a:r>
              <a:rPr lang="en-US" sz="1275">
                <a:solidFill>
                  <a:srgbClr val="C9D6E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C9D6E8"/>
                </a:solidFill>
                <a:latin typeface="Microsoft YaHei"/>
                <a:ea typeface="Microsoft YaHei"/>
              </a:rPr>
              <a:t>取保</a:t>
            </a:r>
            <a:r>
              <a:rPr lang="en-US" sz="1275">
                <a:solidFill>
                  <a:srgbClr val="C9D6E8"/>
                </a:solidFill>
                <a:latin typeface="Microsoft YaHei"/>
                <a:ea typeface="Microsoft YaHei"/>
              </a:rPr>
              <a:t>/</a:t>
            </a:r>
            <a:r>
              <a:rPr lang="zh-CN" sz="1275">
                <a:solidFill>
                  <a:srgbClr val="C9D6E8"/>
                </a:solidFill>
                <a:latin typeface="Microsoft YaHei"/>
                <a:ea typeface="Microsoft YaHei"/>
              </a:rPr>
              <a:t>监居长周期</a:t>
            </a:r>
            <a:r>
              <a:rPr lang="en-US" sz="1275">
                <a:solidFill>
                  <a:srgbClr val="C9D6E8"/>
                </a:solidFill>
                <a:latin typeface="Microsoft YaHei"/>
                <a:ea typeface="Microsoft YaHei"/>
              </a:rPr>
              <a:t xml:space="preserve"> 30 </a:t>
            </a:r>
            <a:r>
              <a:rPr lang="zh-CN" sz="1275">
                <a:solidFill>
                  <a:srgbClr val="C9D6E8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455" name=""/>
          <p:cNvSpPr/>
          <p:nvPr/>
        </p:nvSpPr>
        <p:spPr>
          <a:xfrm rot="0" flipH="0" flipV="0">
            <a:off x="6286500" y="1390650"/>
            <a:ext cx="5295900" cy="3162300"/>
          </a:xfrm>
          <a:prstGeom prst="roundRect">
            <a:avLst>
              <a:gd name="adj" fmla="val 3012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C8A45C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6457950" y="1562100"/>
            <a:ext cx="4953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行政案件</a:t>
            </a: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办理时限阶梯（天）</a:t>
            </a:r>
            <a:endParaRPr/>
          </a:p>
        </p:txBody>
      </p:sp>
      <p:graphicFrame>
        <p:nvGraphicFramePr>
          <p:cNvPr id="457" name="457"/>
          <p:cNvGraphicFramePr/>
          <p:nvPr/>
        </p:nvGraphicFramePr>
        <p:xfrm rot="0" flipH="0" flipV="0">
          <a:off x="6457950" y="1828800"/>
          <a:ext cx="4953000" cy="255270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458" name=""/>
          <p:cNvSpPr/>
          <p:nvPr/>
        </p:nvSpPr>
        <p:spPr>
          <a:xfrm rot="0" flipH="0" flipV="0">
            <a:off x="6286500" y="4457700"/>
            <a:ext cx="2581275" cy="1123950"/>
          </a:xfrm>
          <a:prstGeom prst="roundRect">
            <a:avLst>
              <a:gd name="adj" fmla="val 6780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pic>
        <p:nvPicPr>
          <p:cNvPr id="4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438900" y="4619625"/>
            <a:ext cx="171450" cy="171450"/>
          </a:xfrm>
          <a:prstGeom prst="rect">
            <a:avLst/>
          </a:prstGeom>
          <a:ln/>
        </p:spPr>
      </p:pic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6686550" y="461010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倒计时口径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6438900" y="4876800"/>
            <a:ext cx="22764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C9D6E8"/>
                </a:solidFill>
                <a:latin typeface="Microsoft YaHei"/>
                <a:ea typeface="Microsoft YaHei"/>
              </a:rPr>
              <a:t>到期日按工作日</a:t>
            </a:r>
            <a:r>
              <a:rPr lang="en-US" sz="1125">
                <a:solidFill>
                  <a:srgbClr val="C9D6E8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C9D6E8"/>
                </a:solidFill>
                <a:latin typeface="Microsoft YaHei"/>
                <a:ea typeface="Microsoft YaHei"/>
              </a:rPr>
              <a:t>自然日分别计算，系统自动倒推。</a:t>
            </a:r>
            <a:endParaRPr/>
          </a:p>
        </p:txBody>
      </p:sp>
      <p:sp>
        <p:nvSpPr>
          <p:cNvPr id="462" name=""/>
          <p:cNvSpPr/>
          <p:nvPr/>
        </p:nvSpPr>
        <p:spPr>
          <a:xfrm rot="0" flipH="0" flipV="0">
            <a:off x="9001125" y="4457700"/>
            <a:ext cx="2581275" cy="1123950"/>
          </a:xfrm>
          <a:prstGeom prst="roundRect">
            <a:avLst>
              <a:gd name="adj" fmla="val 6780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pic>
        <p:nvPicPr>
          <p:cNvPr id="46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153525" y="4619625"/>
            <a:ext cx="171450" cy="171450"/>
          </a:xfrm>
          <a:prstGeom prst="rect">
            <a:avLst/>
          </a:prstGeom>
          <a:ln/>
        </p:spPr>
      </p:pic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9401175" y="46101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变色规则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9153525" y="4876800"/>
            <a:ext cx="22764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C9D6E8"/>
                </a:solidFill>
                <a:latin typeface="Microsoft YaHei"/>
                <a:ea typeface="Microsoft YaHei"/>
              </a:rPr>
              <a:t xml:space="preserve">7 </a:t>
            </a:r>
            <a:r>
              <a:rPr lang="zh-CN" sz="1125">
                <a:solidFill>
                  <a:srgbClr val="C9D6E8"/>
                </a:solidFill>
                <a:latin typeface="Microsoft YaHei"/>
                <a:ea typeface="Microsoft YaHei"/>
              </a:rPr>
              <a:t>天内到期变橙，已逾期变红，未登记期限灰显。</a:t>
            </a:r>
            <a:endParaRPr/>
          </a:p>
        </p:txBody>
      </p:sp>
      <p:pic>
        <p:nvPicPr>
          <p:cNvPr id="46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609600" y="6286500"/>
            <a:ext cx="190500" cy="190500"/>
          </a:xfrm>
          <a:prstGeom prst="rect">
            <a:avLst/>
          </a:prstGeom>
          <a:ln/>
        </p:spPr>
      </p:pic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914400" y="6305550"/>
            <a:ext cx="2305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B0D9"/>
                </a:solidFill>
                <a:latin typeface="Microsoft YaHei"/>
                <a:ea typeface="Microsoft YaHei"/>
              </a:rPr>
              <a:t>案件指派系统　·　功能汇报与使用讲解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111252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B0D9"/>
                </a:solidFill>
                <a:latin typeface="Microsoft YaHei"/>
                <a:ea typeface="Microsoft YaHei"/>
              </a:rPr>
              <a:t>09 / 16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7" name="" descr="&lt;Slide style={{ width: 1280, height: 720, position: 'relative', background: '#12294A', overflow: 'hidden' }}&gt;&#10;    &lt;Image src='assets/ui-todo-detail.png' style={{ position: 'absolute', left: 0, top: 0, width: 1280, height: 720, objectFit: 'cover', opacity: 0.24 }} /&gt;&#10;    &lt;Box style={{ position: 'absolute', left: 0, top: 0, width: 1280, height: 720, background: 'linear-gradient(100deg, rgba(18,41,74,0.96) 0%, rgba(27,74,140,0.86) 52%, rgba(27,74,140,0.42) 100%)' }} /&gt;&#10;    &lt;svg width={1280} height={720} viewBox='0 0 1280 720' style={{ position: 'absolute', left: 0, top: 0 }}&gt;&#10;        &lt;g fill='none' stroke='#C8A45C' strokeWidth='1' opacity='0.22'&gt;&#10;            &lt;circle cx='1040' cy='360' r='240' /&gt;&#10;            &lt;circle cx='1040' cy='360' r='300' /&gt;&#10;        &lt;/g&gt;&#10;    &lt;/svg&gt;&#10;    &lt;Box style={{ position: 'absolute', left: 96, top: 168, flexDirection: 'column' }}&gt;&#10;        &lt;Text style={{ fontSize: 20, color: '#C8A45C', letterSpacing: 6 }}&gt;PART 03&lt;/Text&gt;&#10;        &lt;Box style={{ width: 100, height: 5, background: '#C8A45C', marginTop: 22, marginBottom: 30 }} /&gt;&#10;        &lt;Text style={{ fontSize: 76, fontWeight: 'bold', color: '#FFFFFF', lineHeight: 1.14, letterSpacing: 3 }}&gt;协作与治理&lt;/Text&gt;&#10;        &lt;Text style={{ fontSize: 24, color: '#C9D6E8', marginTop: 26, letterSpacing: 1 }}&gt;意见落到待办　·　阶段跟着任务走　·　操作全程留痕&lt;/Text&gt;&#10;    &lt;/Box&gt;&#10;    &lt;Box style={{ position: 'absolute', left: 96, bottom: 76, flexDirection: 'row', alignItems: 'center', gap: 14 }}&gt;&#10;        &lt;FAIcon name='shield' style={{ fill: '#C8A45C', width: 22, height: 22 }} /&gt;&#10;        &lt;Text style={{ fontSize: 15, color: '#8A94A6' }}&gt;案件指派系统　·　功能汇报与使用讲解&lt;/Text&gt;&#10;    &lt;/Box&gt;&#10;    &lt;Text style={{ position: 'absolute', right: 96, bottom: 76, fontSize: 14, color: '#8A94A6' }}&gt;10 / 16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2294A"/>
          </a:solidFill>
          <a:ln/>
        </p:spPr>
        <p:txBody>
          <a:bodyPr/>
          <a:p/>
        </p:txBody>
      </p:sp>
      <p:pic>
        <p:nvPicPr>
          <p:cNvPr id="19" name=""/>
          <p:cNvPicPr>
            <a:picLocks noChangeAspect="1"/>
          </p:cNvPicPr>
          <p:nvPr/>
        </p:nvPicPr>
        <p:blipFill>
          <a:blip r:embed="rId1">
            <a:alphaModFix amt="24000"/>
          </a:blip>
          <a:srcRect l="0" t="5000" r="0" b="500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2294A">
                  <a:alpha val="96000"/>
                </a:srgbClr>
              </a:gs>
              <a:gs pos="52000">
                <a:srgbClr val="1B4A8C">
                  <a:alpha val="86000"/>
                </a:srgbClr>
              </a:gs>
              <a:gs pos="100000">
                <a:srgbClr val="1B4A8C">
                  <a:alpha val="42000"/>
                </a:srgbClr>
              </a:gs>
            </a:gsLst>
            <a:lin ang="600000" scaled="1"/>
          </a:gradFill>
          <a:ln/>
        </p:spPr>
        <p:txBody>
          <a:bodyPr/>
          <a:p/>
        </p:txBody>
      </p:sp>
      <p:pic>
        <p:nvPicPr>
          <p:cNvPr id="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914400" y="1600200"/>
            <a:ext cx="5610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450">
                <a:solidFill>
                  <a:srgbClr val="C8A45C"/>
                </a:solidFill>
                <a:latin typeface="Microsoft YaHei"/>
                <a:ea typeface="Microsoft YaHei"/>
              </a:rPr>
              <a:t>PART 03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914400" y="2038350"/>
            <a:ext cx="952500" cy="47625"/>
          </a:xfrm>
          <a:prstGeom prst="rect">
            <a:avLst/>
          </a:prstGeom>
          <a:solidFill>
            <a:srgbClr val="C8A45C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914400" y="2371725"/>
            <a:ext cx="5610225" cy="990600"/>
          </a:xfrm>
          <a:prstGeom prst="rect"/>
        </p:spPr>
        <p:txBody>
          <a:bodyPr wrap="none" lIns="0" tIns="0" rIns="0" bIns="0"/>
          <a:p>
            <a:pPr>
              <a:lnSpc>
                <a:spcPct val="113999"/>
              </a:lnSpc>
            </a:pPr>
            <a:r>
              <a:rPr lang="zh-CN" sz="5700" b="1" spc="225">
                <a:solidFill>
                  <a:srgbClr val="FFFFFF"/>
                </a:solidFill>
                <a:latin typeface="Microsoft YaHei"/>
                <a:ea typeface="Microsoft YaHei"/>
              </a:rPr>
              <a:t>协作与治理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914400" y="3609975"/>
            <a:ext cx="56102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spc="75">
                <a:solidFill>
                  <a:srgbClr val="C9D6E8"/>
                </a:solidFill>
                <a:latin typeface="Microsoft YaHei"/>
                <a:ea typeface="Microsoft YaHei"/>
              </a:rPr>
              <a:t>意见落到待办　·　阶段跟着任务走　·　操作全程留痕</a:t>
            </a:r>
            <a:endParaRPr/>
          </a:p>
        </p:txBody>
      </p:sp>
      <p:pic>
        <p:nvPicPr>
          <p:cNvPr id="2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914400" y="5924550"/>
            <a:ext cx="209550" cy="209550"/>
          </a:xfrm>
          <a:prstGeom prst="rect">
            <a:avLst/>
          </a:prstGeom>
          <a:ln/>
        </p:spPr>
      </p:pic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1257300" y="5943600"/>
            <a:ext cx="2466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94A6"/>
                </a:solidFill>
                <a:latin typeface="Microsoft YaHei"/>
                <a:ea typeface="Microsoft YaHei"/>
              </a:rPr>
              <a:t>案件指派系统　·　功能汇报与使用讲解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10820400" y="59721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4A6"/>
                </a:solidFill>
                <a:latin typeface="Microsoft YaHei"/>
                <a:ea typeface="Microsoft YaHei"/>
              </a:rPr>
              <a:t>10 / 16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9" name="" descr="&lt;Slide style={{ width: 1280, height: 720, position: 'relative', background: '#FFFFFF', overflow: 'hidden' }}&gt;&#10;    &lt;Box style={{ position: 'absolute', left: 0, top: 0, width: 1280, height: 8, flexDirection: 'row' }}&gt;&#10;        &lt;Box style={{ width: '55%', height: 8, background: '#1B4A8C' }} /&gt;&#10;        &lt;Box style={{ width: '25%', height: 8, background: '#2E6BB0' }} /&gt;&#10;        &lt;Box style={{ width: '20%', height: 8, background: '#C8A45C' }} /&gt;&#10;    &lt;/Box&gt;&#10;    &lt;Box style={{ position: 'absolute', left: 64, top: 40, width: 1152, height: 76, flexDirection: 'row', alignItems: 'center', gap: 20 }}&gt;&#10;        &lt;Box style={{ width: 6, height: 44, background: '#1B4A8C' }} /&gt;&#10;        &lt;Box style={{ flexDirection: 'column' }}&gt;&#10;            &lt;Text style={{ fontSize: 34, fontWeight: 'bold', color: '#1F2733', lineHeight: 1.2 }}&gt;意见 → 待办：一件事不落地&lt;/Text&gt;&#10;            &lt;Text style={{ fontSize: 16, color: '#8A94A6', marginTop: 6 }}&gt;领导提的意见不会停在嘴上——它会变成一条有责任人、有截止时间的待办&lt;/Text&gt;&#10;        &lt;/Box&gt;&#10;        &lt;Box style={{ marginLeft: 'auto', flexDirection: 'row', alignItems: 'center', gap: 10, background: '#F4F6F9', borderRadius: 6, paddingLeft: 14, paddingRight: 14, paddingTop: 8, paddingBottom: 8 }}&gt;&#10;            &lt;FAIcon name='stream' style={{ fill: '#1B4A8C', width: 18, height: 18 }} /&gt;&#10;            &lt;Text style={{ fontSize: 14, color: '#1B4A8C' }}&gt;闭环四步&lt;/Text&gt;&#10;        &lt;/Box&gt;&#10;    &lt;/Box&gt;&#10;    &lt;Box style={{ position: 'absolute', left: 64, top: 132, width: 1152, height: 532, flexDirection: 'row', gap: 26 }}&gt;&#10;        {/* 左 65% 闭环四步 */}&#10;        &lt;Box style={{ width: 736, flexDirection: 'column', gap: 13 }}&gt;&#10;            &lt;Box style={{ width: '100%', flexDirection: 'row', alignItems: 'center', gap: 16, background: 'linear-gradient(135deg, #1B4A8C 0%, #2E6BB0 100%)', borderRadius: 8, paddingTop: 15, paddingBottom: 15, paddingLeft: 18, paddingRight: 18 }}&gt;&#10;                &lt;Box style={{ width: 32, height: 32, borderRadius: 16, background: 'rgba(255,255,255,0.22)', justifyContent: 'center', alignItems: 'center' }}&gt;&#10;                    &lt;Text style={{ fontSize: 17, fontWeight: 'bold', color: '#FFFFFF' }}&gt;1&lt;/Text&gt;&#10;                &lt;/Box&gt;&#10;                &lt;Box style={{ flexDirection: 'column', flex: 1 }}&gt;&#10;                    &lt;Text style={{ fontSize: 19, fontWeight: 'bold', color: '#FFFFFF' }}&gt;领导提出意见&lt;/Text&gt;&#10;                    &lt;Text style={{ fontSize: 15, color: '#D9E4F2', marginTop: 3 }}&gt;在案件详情里写意见，可指定承办人、截止时间、紧急与重点程度&lt;/Text&gt;&#10;                &lt;/Box&gt;&#10;            &lt;/Box&gt;&#10;            &lt;Box style={{ width: '100%', flexDirection: 'row', alignItems: 'center', gap: 16, background: '#F4F6F9', borderRadius: 8, border: '1px solid #E3E8F0', paddingTop: 15, paddingBottom: 15, paddingLeft: 18, paddingRight: 18 }}&gt;&#10;                &lt;Box style={{ width: 32, height: 32, borderRadius: 16, background: '#1B4A8C', justifyContent: 'center', alignItems: 'center' }}&gt;&#10;                    &lt;Text style={{ fontSize: 17, fontWeight: 'bold', color: '#FFFFFF' }}&gt;2&lt;/Text&gt;&#10;                &lt;/Box&gt;&#10;                &lt;Box style={{ flexDirection: 'column', flex: 1 }}&gt;&#10;                    &lt;Text style={{ fontSize: 19, fontWeight: 'bold', color: '#1F2733' }}&gt;系统自动派生待办&lt;/Text&gt;&#10;                    &lt;Text style={{ fontSize: 15, color: '#5A6478', marginTop: 3 }}&gt;意见 = 待办的唯一来源，自动推送到承办人的「我的待办」&lt;/Text&gt;&#10;                &lt;/Box&gt;&#10;            &lt;/Box&gt;&#10;            &lt;Box style={{ width: '100%', flexDirection: 'row', alignItems: 'center', gap: 16, background: '#FFFFFF', borderRadius: 8, border: '1px solid #E3E8F0', paddingTop: 15, paddingBottom: 15, paddingLeft: 18, paddingRight: 18 }}&gt;&#10;                &lt;Box style={{ width: 32, height: 32, borderRadius: 16, background: '#2E6BB0', justifyContent: 'center', alignItems: 'center' }}&gt;&#10;                    &lt;Text style={{ fontSize: 17, fontWeight: 'bold', color: '#FFFFFF' }}&gt;3&lt;/Text&gt;&#10;                &lt;/Box&gt;&#10;                &lt;Box style={{ flexDirection: 'column', flex: 1 }}&gt;&#10;                    &lt;Text style={{ fontSize: 19, fontWeight: 'bold', color: '#1F2733' }}&gt;民警反馈 + 勾选子任务&lt;/Text&gt;&#10;                    &lt;Text style={{ fontSize: 15, color: '#5A6478', marginTop: 3 }}&gt;每条任务要写反馈才能勾完成，子任务全部完成才推进主任务&lt;/Text&gt;&#10;                &lt;/Box&gt;&#10;            &lt;/Box&gt;&#10;            &lt;Box style={{ width: '100%', flexDirection: 'row', alignItems: 'center', gap: 16, background: '#F4F6F9', borderRadius: 8, border: '1px solid #E3E8F0', paddingTop: 15, paddingBottom: 15, paddingLeft: 18, paddingRight: 18 }}&gt;&#10;                &lt;Box style={{ width: 32, height: 32, borderRadius: 16, background: '#C8A45C', justifyContent: 'center', alignItems: 'center' }}&gt;&#10;                    &lt;Text style={{ fontSize: 17, fontWeight: 'bold', color: '#FFFFFF' }}&gt;4&lt;/Text&gt;&#10;                &lt;/Box&gt;&#10;                &lt;Box style={{ flexDirection: 'column', flex: 1 }}&gt;&#10;                    &lt;Text style={{ fontSize: 19, fontWeight: 'bold', color: '#1F2733' }}&gt;领导确认，任务闭环&lt;/Text&gt;&#10;                    &lt;Text style={{ fontSize: 15, color: '#5A6478', marginTop: 3 }}&gt;由领导勾选确认才真正关闭，未确认的任务一直亮在待办里&lt;/Text&gt;&#10;                &lt;/Box&gt;&#10;            &lt;/Box&gt;&#10;            &lt;Box style={{ width: '100%', flexDirection: 'row', alignItems: 'center', gap: 12, background: 'rgba(200,164,92,0.12)', borderRadius: 8, paddingTop: 13, paddingBottom: 13, paddingLeft: 18, paddingRight: 18 }}&gt;&#10;                &lt;FAIcon name='lock' style={{ fill: '#C8A45C', width: 20, height: 20 }} /&gt;&#10;                &lt;Text style={{ fontSize: 16, color: '#8A6A24', flex: 1 }}&gt;权限分层：主任务只有管理层能建，子任务归承办人；越权在前端就被挡。&lt;/Text&gt;&#10;            &lt;/Box&gt;&#10;        &lt;/Box&gt;&#10;        {/* 右 35% 截图 */}&#10;        &lt;Box style={{ flex: 1, flexDirection: 'column', borderRadius: 10, overflow: 'hidden', border: '1px solid #E3E8F0', background: '#F4F6F9' }}&gt;&#10;            &lt;Box style={{ flexDirection: 'row', alignItems: 'center', gap: 10, paddingLeft: 16, paddingTop: 12, paddingBottom: 12, background: 'linear-gradient(135deg, #1B4A8C 0%, #2E6BB0 100%)' }}&gt;&#10;                &lt;FAIcon name='tasks' style={{ fill: '#FFFFFF', width: 18, height: 18 }} /&gt;&#10;                &lt;Text style={{ fontSize: 16, color: '#FFFFFF' }}&gt;我的待办&lt;/Text&gt;&#10;            &lt;/Box&gt;&#10;            &lt;Box style={{ flex: 1, overflow: 'hidden' }}&gt;&#10;                &lt;Image src='assets/ui-staff-todos.png' style={{ width: '100%', height: '100%', objectFit: 'cover', objectPosition: 'left top' }} /&gt;&#10;            &lt;/Box&gt;&#10;            &lt;Box style={{ paddingLeft: 16, paddingRight: 16, paddingTop: 10, paddingBottom: 12, background: '#FFFFFF' }}&gt;&#10;                &lt;Text style={{ fontSize: 15, color: '#8A94A6', lineHeight: 1.5 }}&gt;紧急优先、重点优先、截止临近，系统排好序再推给民警。&lt;/Text&gt;&#10;            &lt;/Box&gt;&#10;        &lt;/Box&gt;&#10;    &lt;/Box&gt;&#10;    &lt;Box style={{ position: 'absolute', left: 64, top: 676, width: 1152, height: 32, flexDirection: 'row', justifyContent: 'space-between', alignItems: 'center' }}&gt;&#10;        &lt;Text style={{ fontSize: 14, color: '#8A94A6' }}&gt;案件指派系统　·　功能汇报与使用讲解&lt;/Text&gt;&#10;        &lt;Text style={{ fontSize: 14, color: '#8A94A6' }}&gt;11 / 16&lt;/Text&gt;&#10;    &lt;/Box&gt;&#10;    &lt;Box style={{ position: 'absolute', left: 64, top: 712, width: 1152, height: 6, flexDirection: 'row' }}&gt;&#10;        &lt;Box style={{ width: '55%', height: 6, background: '#1B4A8C' }} /&gt;&#10;        &lt;Box style={{ width: '25%', height: 6, background: '#2E6BB0' }} /&gt;&#10;        &lt;Box style={{ width: '20%', height: 6, background: '#C8A45C' }} /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" name=""/>
          <p:cNvSpPr/>
          <p:nvPr/>
        </p:nvSpPr>
        <p:spPr>
          <a:xfrm rot="0" flipH="0" flipV="0">
            <a:off x="0" y="0"/>
            <a:ext cx="6705600" cy="76200"/>
          </a:xfrm>
          <a:prstGeom prst="rect">
            <a:avLst/>
          </a:prstGeom>
          <a:solidFill>
            <a:srgbClr val="1B4A8C"/>
          </a:solidFill>
          <a:ln/>
        </p:spPr>
        <p:txBody>
          <a:bodyPr/>
          <a:p/>
        </p:txBody>
      </p:sp>
      <p:sp>
        <p:nvSpPr>
          <p:cNvPr id="32" name=""/>
          <p:cNvSpPr/>
          <p:nvPr/>
        </p:nvSpPr>
        <p:spPr>
          <a:xfrm rot="0" flipH="0" flipV="0">
            <a:off x="6705600" y="0"/>
            <a:ext cx="3048000" cy="76200"/>
          </a:xfrm>
          <a:prstGeom prst="rect">
            <a:avLst/>
          </a:prstGeom>
          <a:solidFill>
            <a:srgbClr val="2E6BB0"/>
          </a:solidFill>
          <a:ln/>
        </p:spPr>
        <p:txBody>
          <a:bodyPr/>
          <a:p/>
        </p:txBody>
      </p:sp>
      <p:sp>
        <p:nvSpPr>
          <p:cNvPr id="33" name=""/>
          <p:cNvSpPr/>
          <p:nvPr/>
        </p:nvSpPr>
        <p:spPr>
          <a:xfrm rot="0" flipH="0" flipV="0">
            <a:off x="9753600" y="0"/>
            <a:ext cx="2438400" cy="76200"/>
          </a:xfrm>
          <a:prstGeom prst="rect">
            <a:avLst/>
          </a:prstGeom>
          <a:solidFill>
            <a:srgbClr val="C8A45C"/>
          </a:solidFill>
          <a:ln/>
        </p:spPr>
        <p:txBody>
          <a:bodyPr/>
          <a:p/>
        </p:txBody>
      </p:sp>
      <p:sp>
        <p:nvSpPr>
          <p:cNvPr id="34" name=""/>
          <p:cNvSpPr/>
          <p:nvPr/>
        </p:nvSpPr>
        <p:spPr>
          <a:xfrm rot="0" flipH="0" flipV="0">
            <a:off x="609600" y="533400"/>
            <a:ext cx="57150" cy="419100"/>
          </a:xfrm>
          <a:prstGeom prst="rect">
            <a:avLst/>
          </a:prstGeom>
          <a:solidFill>
            <a:srgbClr val="1B4A8C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857250" y="390525"/>
            <a:ext cx="5057775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F2733"/>
                </a:solidFill>
                <a:latin typeface="Microsoft YaHei"/>
                <a:ea typeface="Microsoft YaHei"/>
              </a:rPr>
              <a:t>意见</a:t>
            </a:r>
            <a:r>
              <a:rPr lang="en-US" sz="2550" b="1">
                <a:solidFill>
                  <a:srgbClr val="1F2733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2550" b="1">
                <a:solidFill>
                  <a:srgbClr val="1F2733"/>
                </a:solidFill>
                <a:latin typeface="Microsoft YaHei"/>
                <a:ea typeface="Microsoft YaHei"/>
              </a:rPr>
              <a:t>待办：一件事不落地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857250" y="914400"/>
            <a:ext cx="5057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A94A6"/>
                </a:solidFill>
                <a:latin typeface="Microsoft YaHei"/>
                <a:ea typeface="Microsoft YaHei"/>
              </a:rPr>
              <a:t>领导提的意见不会停在嘴上——它会变成一条有责任人、有截止时间的待办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10515600" y="581025"/>
            <a:ext cx="1066800" cy="323850"/>
          </a:xfrm>
          <a:prstGeom prst="roundRect">
            <a:avLst>
              <a:gd name="adj" fmla="val 17647"/>
            </a:avLst>
          </a:prstGeom>
          <a:solidFill>
            <a:srgbClr val="F4F6F9"/>
          </a:solidFill>
          <a:ln/>
        </p:spPr>
        <p:txBody>
          <a:bodyPr/>
          <a:p/>
        </p:txBody>
      </p:sp>
      <p:pic>
        <p:nvPicPr>
          <p:cNvPr id="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648950" y="657225"/>
            <a:ext cx="171450" cy="171450"/>
          </a:xfrm>
          <a:prstGeom prst="rect">
            <a:avLst/>
          </a:prstGeom>
          <a:ln/>
        </p:spPr>
      </p:pic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10915650" y="6667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B4A8C"/>
                </a:solidFill>
                <a:latin typeface="Microsoft YaHei"/>
                <a:ea typeface="Microsoft YaHei"/>
              </a:rPr>
              <a:t>闭环四步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609600" y="1257300"/>
            <a:ext cx="7010400" cy="704850"/>
          </a:xfrm>
          <a:prstGeom prst="roundRect">
            <a:avLst>
              <a:gd name="adj" fmla="val 10811"/>
            </a:avLst>
          </a:prstGeom>
          <a:gradFill>
            <a:gsLst>
              <a:gs pos="0">
                <a:srgbClr val="1B4A8C"/>
              </a:gs>
              <a:gs pos="100000">
                <a:srgbClr val="2E6BB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1" name=""/>
          <p:cNvSpPr/>
          <p:nvPr/>
        </p:nvSpPr>
        <p:spPr>
          <a:xfrm rot="0" flipH="0" flipV="0">
            <a:off x="781050" y="145732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885825" y="1514475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238250" y="1400175"/>
            <a:ext cx="6210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领导提出意见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1238250" y="1647825"/>
            <a:ext cx="6210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D9E4F2"/>
                </a:solidFill>
                <a:latin typeface="Microsoft YaHei"/>
                <a:ea typeface="Microsoft YaHei"/>
              </a:rPr>
              <a:t>在案件详情里写意见，可指定承办人、截止时间、紧急与重点程度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609600" y="2085975"/>
            <a:ext cx="7010400" cy="704850"/>
          </a:xfrm>
          <a:prstGeom prst="roundRect">
            <a:avLst>
              <a:gd name="adj" fmla="val 10811"/>
            </a:avLst>
          </a:prstGeom>
          <a:solidFill>
            <a:srgbClr val="F4F6F9"/>
          </a:solidFill>
          <a:ln w="12700">
            <a:solidFill>
              <a:srgbClr val="E3E8F0"/>
            </a:solidFill>
            <a:prstDash val="solid"/>
          </a:ln>
        </p:spPr>
        <p:txBody>
          <a:bodyPr/>
          <a:p/>
        </p:txBody>
      </p:sp>
      <p:sp>
        <p:nvSpPr>
          <p:cNvPr id="46" name=""/>
          <p:cNvSpPr/>
          <p:nvPr/>
        </p:nvSpPr>
        <p:spPr>
          <a:xfrm rot="0" flipH="0" flipV="0">
            <a:off x="781050" y="22860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B4A8C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885825" y="234315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238250" y="2228850"/>
            <a:ext cx="6210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2733"/>
                </a:solidFill>
                <a:latin typeface="Microsoft YaHei"/>
                <a:ea typeface="Microsoft YaHei"/>
              </a:rPr>
              <a:t>系统自动派生待办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1238250" y="2476500"/>
            <a:ext cx="6210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A6478"/>
                </a:solidFill>
                <a:latin typeface="Microsoft YaHei"/>
                <a:ea typeface="Microsoft YaHei"/>
              </a:rPr>
              <a:t>意见</a:t>
            </a:r>
            <a:r>
              <a:rPr lang="en-US" sz="1125">
                <a:solidFill>
                  <a:srgbClr val="5A6478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1125">
                <a:solidFill>
                  <a:srgbClr val="5A6478"/>
                </a:solidFill>
                <a:latin typeface="Microsoft YaHei"/>
                <a:ea typeface="Microsoft YaHei"/>
              </a:rPr>
              <a:t>待办的唯一来源，自动推送到承办人的「我的待办」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609600" y="2914650"/>
            <a:ext cx="701040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781050" y="311467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E6BB0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885825" y="3171825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238250" y="3057525"/>
            <a:ext cx="6210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2733"/>
                </a:solidFill>
                <a:latin typeface="Microsoft YaHei"/>
                <a:ea typeface="Microsoft YaHei"/>
              </a:rPr>
              <a:t>民警反馈</a:t>
            </a:r>
            <a:r>
              <a:rPr lang="en-US" sz="1425" b="1">
                <a:solidFill>
                  <a:srgbClr val="1F273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425" b="1">
                <a:solidFill>
                  <a:srgbClr val="1F2733"/>
                </a:solidFill>
                <a:latin typeface="Microsoft YaHei"/>
                <a:ea typeface="Microsoft YaHei"/>
              </a:rPr>
              <a:t>勾选子任务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1238250" y="3305175"/>
            <a:ext cx="6210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A6478"/>
                </a:solidFill>
                <a:latin typeface="Microsoft YaHei"/>
                <a:ea typeface="Microsoft YaHei"/>
              </a:rPr>
              <a:t>每条任务要写反馈才能勾完成，子任务全部完成才推进主任务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609600" y="3743325"/>
            <a:ext cx="7010400" cy="704850"/>
          </a:xfrm>
          <a:prstGeom prst="roundRect">
            <a:avLst>
              <a:gd name="adj" fmla="val 10811"/>
            </a:avLst>
          </a:prstGeom>
          <a:solidFill>
            <a:srgbClr val="F4F6F9"/>
          </a:solidFill>
          <a:ln w="12700">
            <a:solidFill>
              <a:srgbClr val="E3E8F0"/>
            </a:solidFill>
            <a:prstDash val="solid"/>
          </a:ln>
        </p:spPr>
        <p:txBody>
          <a:bodyPr/>
          <a:p/>
        </p:txBody>
      </p:sp>
      <p:sp>
        <p:nvSpPr>
          <p:cNvPr id="56" name=""/>
          <p:cNvSpPr/>
          <p:nvPr/>
        </p:nvSpPr>
        <p:spPr>
          <a:xfrm rot="0" flipH="0" flipV="0">
            <a:off x="781050" y="39433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C8A45C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885825" y="400050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1238250" y="3886200"/>
            <a:ext cx="6210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2733"/>
                </a:solidFill>
                <a:latin typeface="Microsoft YaHei"/>
                <a:ea typeface="Microsoft YaHei"/>
              </a:rPr>
              <a:t>领导确认，任务闭环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238250" y="4133850"/>
            <a:ext cx="6210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A6478"/>
                </a:solidFill>
                <a:latin typeface="Microsoft YaHei"/>
                <a:ea typeface="Microsoft YaHei"/>
              </a:rPr>
              <a:t>由领导勾选确认才真正关闭，未确认的任务一直亮在待办里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609600" y="4572000"/>
            <a:ext cx="7010400" cy="438150"/>
          </a:xfrm>
          <a:prstGeom prst="roundRect">
            <a:avLst>
              <a:gd name="adj" fmla="val 17391"/>
            </a:avLst>
          </a:prstGeom>
          <a:solidFill>
            <a:srgbClr val="C8A45C">
              <a:alpha val="12000"/>
            </a:srgbClr>
          </a:solidFill>
          <a:ln/>
        </p:spPr>
        <p:txBody>
          <a:bodyPr/>
          <a:p/>
        </p:txBody>
      </p:sp>
      <p:pic>
        <p:nvPicPr>
          <p:cNvPr id="6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81050" y="4695825"/>
            <a:ext cx="190500" cy="190500"/>
          </a:xfrm>
          <a:prstGeom prst="rect">
            <a:avLst/>
          </a:prstGeom>
          <a:ln/>
        </p:spPr>
      </p:pic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1085850" y="4695825"/>
            <a:ext cx="6362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A6A24"/>
                </a:solidFill>
                <a:latin typeface="Microsoft YaHei"/>
                <a:ea typeface="Microsoft YaHei"/>
              </a:rPr>
              <a:t>权限分层：主任务只有管理层能建，子任务归承办人；越权在前端就被挡。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7867650" y="1257300"/>
            <a:ext cx="3714750" cy="5067300"/>
          </a:xfrm>
          <a:prstGeom prst="roundRect">
            <a:avLst>
              <a:gd name="adj" fmla="val 2564"/>
            </a:avLst>
          </a:prstGeom>
          <a:solidFill>
            <a:srgbClr val="F4F6F9"/>
          </a:solidFill>
          <a:ln w="12700">
            <a:solidFill>
              <a:srgbClr val="E3E8F0"/>
            </a:solidFill>
            <a:prstDash val="solid"/>
          </a:ln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7867650" y="1257300"/>
            <a:ext cx="3714750" cy="419100"/>
          </a:xfrm>
          <a:custGeom>
            <a:pathLst>
              <a:path w="390" h="44">
                <a:moveTo>
                  <a:pt x="380" y="0"/>
                </a:moveTo>
                <a:cubicBezTo>
                  <a:pt x="386" y="0"/>
                  <a:pt x="390" y="5"/>
                  <a:pt x="390" y="10"/>
                </a:cubicBezTo>
                <a:lnTo>
                  <a:pt x="390" y="44"/>
                </a:lnTo>
                <a:lnTo>
                  <a:pt x="0" y="44"/>
                </a:ln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380" y="0"/>
                </a:lnTo>
                <a:close/>
              </a:path>
            </a:pathLst>
          </a:custGeom>
          <a:gradFill>
            <a:gsLst>
              <a:gs pos="0">
                <a:srgbClr val="1B4A8C"/>
              </a:gs>
              <a:gs pos="100000">
                <a:srgbClr val="2E6BB0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6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020050" y="1381125"/>
            <a:ext cx="171450" cy="171450"/>
          </a:xfrm>
          <a:prstGeom prst="rect">
            <a:avLst/>
          </a:prstGeom>
          <a:ln/>
        </p:spPr>
      </p:pic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8286750" y="13716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我的待办</a:t>
            </a:r>
            <a:endParaRPr/>
          </a:p>
        </p:txBody>
      </p:sp>
      <p:pic>
        <p:nvPicPr>
          <p:cNvPr id="67" name=""/>
          <p:cNvPicPr>
            <a:picLocks noChangeAspect="1"/>
          </p:cNvPicPr>
          <p:nvPr/>
        </p:nvPicPr>
        <p:blipFill>
          <a:blip r:embed="rId4"/>
          <a:srcRect l="20418" t="0" r="20418" b="0"/>
          <a:stretch>
            <a:fillRect/>
          </a:stretch>
        </p:blipFill>
        <p:spPr>
          <a:xfrm rot="0" flipH="0" flipV="0">
            <a:off x="7867650" y="1676400"/>
            <a:ext cx="3714750" cy="3924300"/>
          </a:xfrm>
          <a:prstGeom prst="rect">
            <a:avLst/>
          </a:prstGeom>
          <a:ln/>
        </p:spPr>
      </p:pic>
      <p:sp>
        <p:nvSpPr>
          <p:cNvPr id="68" name=""/>
          <p:cNvSpPr/>
          <p:nvPr/>
        </p:nvSpPr>
        <p:spPr>
          <a:xfrm rot="0" flipH="0" flipV="0">
            <a:off x="7867650" y="5600700"/>
            <a:ext cx="3714750" cy="723900"/>
          </a:xfrm>
          <a:custGeom>
            <a:pathLst>
              <a:path w="390" h="76">
                <a:moveTo>
                  <a:pt x="390" y="66"/>
                </a:moveTo>
                <a:cubicBezTo>
                  <a:pt x="390" y="72"/>
                  <a:pt x="386" y="76"/>
                  <a:pt x="380" y="76"/>
                </a:cubicBezTo>
                <a:lnTo>
                  <a:pt x="10" y="76"/>
                </a:lnTo>
                <a:cubicBezTo>
                  <a:pt x="4" y="76"/>
                  <a:pt x="0" y="72"/>
                  <a:pt x="0" y="66"/>
                </a:cubicBezTo>
                <a:lnTo>
                  <a:pt x="0" y="0"/>
                </a:lnTo>
                <a:lnTo>
                  <a:pt x="390" y="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8020050" y="5695950"/>
            <a:ext cx="34099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8A94A6"/>
                </a:solidFill>
                <a:latin typeface="Microsoft YaHei"/>
                <a:ea typeface="Microsoft YaHei"/>
              </a:rPr>
              <a:t>紧急优先、重点优先、截止临近，系统排好序再推给民警。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09600" y="6515100"/>
            <a:ext cx="2305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4A6"/>
                </a:solidFill>
                <a:latin typeface="Microsoft YaHei"/>
                <a:ea typeface="Microsoft YaHei"/>
              </a:rPr>
              <a:t>案件指派系统　·　功能汇报与使用讲解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1125200" y="65151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4A6"/>
                </a:solidFill>
                <a:latin typeface="Microsoft YaHei"/>
                <a:ea typeface="Microsoft YaHei"/>
              </a:rPr>
              <a:t>11 / 16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609600" y="6781800"/>
            <a:ext cx="6038850" cy="57150"/>
          </a:xfrm>
          <a:prstGeom prst="rect">
            <a:avLst/>
          </a:prstGeom>
          <a:solidFill>
            <a:srgbClr val="1B4A8C"/>
          </a:solidFill>
          <a:ln/>
        </p:spPr>
        <p:txBody>
          <a:bodyPr/>
          <a:p/>
        </p:txBody>
      </p:sp>
      <p:sp>
        <p:nvSpPr>
          <p:cNvPr id="73" name=""/>
          <p:cNvSpPr/>
          <p:nvPr/>
        </p:nvSpPr>
        <p:spPr>
          <a:xfrm rot="0" flipH="0" flipV="0">
            <a:off x="6648450" y="6781800"/>
            <a:ext cx="2743200" cy="57150"/>
          </a:xfrm>
          <a:prstGeom prst="rect">
            <a:avLst/>
          </a:prstGeom>
          <a:solidFill>
            <a:srgbClr val="2E6BB0"/>
          </a:solidFill>
          <a:ln/>
        </p:spPr>
        <p:txBody>
          <a:bodyPr/>
          <a:p/>
        </p:txBody>
      </p:sp>
      <p:sp>
        <p:nvSpPr>
          <p:cNvPr id="74" name=""/>
          <p:cNvSpPr/>
          <p:nvPr/>
        </p:nvSpPr>
        <p:spPr>
          <a:xfrm rot="0" flipH="0" flipV="0">
            <a:off x="9391650" y="6781800"/>
            <a:ext cx="2190750" cy="57150"/>
          </a:xfrm>
          <a:prstGeom prst="rect">
            <a:avLst/>
          </a:prstGeom>
          <a:solidFill>
            <a:srgbClr val="C8A45C"/>
          </a:solidFill>
          <a:ln/>
        </p:spPr>
        <p:txBody>
          <a:bodyPr/>
          <a:p/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75" name="" descr="&lt;Slide style={{ width: 1280, height: 720, position: 'relative', background: '#FFFFFF', overflow: 'hidden' }}&gt;&#10;    &lt;Box style={{ position: 'absolute', left: 0, top: 0, width: 1280, height: 8, flexDirection: 'row' }}&gt;&#10;        &lt;Box style={{ width: '55%', height: 8, background: '#1B4A8C' }} /&gt;&#10;        &lt;Box style={{ width: '25%', height: 8, background: '#2E6BB0' }} /&gt;&#10;        &lt;Box style={{ width: '20%', height: 8, background: '#C8A45C' }} /&gt;&#10;    &lt;/Box&gt;&#10;    &lt;Box style={{ position: 'absolute', left: 64, top: 40, width: 1152, height: 76, flexDirection: 'row', alignItems: 'center', gap: 20 }}&gt;&#10;        &lt;Box style={{ width: 6, height: 44, background: '#1B4A8C' }} /&gt;&#10;        &lt;Box style={{ flexDirection: 'column' }}&gt;&#10;            &lt;Text style={{ fontSize: 34, fontWeight: 'bold', color: '#1F2733', lineHeight: 1.2 }}&gt;办案阶段：初查 → 刑拘 → 取保&lt;/Text&gt;&#10;            &lt;Text style={{ fontSize: 16, color: '#8A94A6', marginTop: 6 }}&gt;阶段不是手填的状态，而是由任务完成情况自动推进&lt;/Text&gt;&#10;        &lt;/Box&gt;&#10;        &lt;Box style={{ marginLeft: 'auto', flexDirection: 'row', alignItems: 'center', gap: 10, background: '#F4F6F9', borderRadius: 6, paddingLeft: 14, paddingRight: 14, paddingTop: 8, paddingBottom: 8 }}&gt;&#10;            &lt;FAIcon name='random' style={{ fill: '#1B4A8C', width: 18, height: 18 }} /&gt;&#10;            &lt;Text style={{ fontSize: 14, color: '#1B4A8C' }}&gt;任务驱动流转&lt;/Text&gt;&#10;        &lt;/Box&gt;&#10;    &lt;/Box&gt;&#10;    &lt;Box style={{ position: 'absolute', left: 64, top: 132, width: 1152, height: 532, flexDirection: 'column', gap: 18 }}&gt;&#10;        {/* 刑事主干 */}&#10;        &lt;Box style={{ width: '100%', flexDirection: 'column', background: '#F4F6F9', borderRadius: 10, border: '1px solid #E3E8F0', paddingTop: 18, paddingBottom: 18, paddingLeft: 24, paddingRight: 24 }}&gt;&#10;            &lt;Box style={{ flexDirection: 'row', alignItems: 'center', gap: 12, marginBottom: 14 }}&gt;&#10;                &lt;Box style={{ width: 4, height: 20, background: '#1B4A8C' }} /&gt;&#10;                &lt;Text style={{ fontSize: 19, fontWeight: 'bold', color: '#1B4A8C' }}&gt;刑事案件 · 主干流转&lt;/Text&gt;&#10;                &lt;Text style={{ fontSize: 14, color: '#8A94A6' }}&gt;建案即铺任务，全流程完成 → 领导确认 → 阶段推进&lt;/Text&gt;&#10;            &lt;/Box&gt;&#10;            &lt;svg width={1100} height={104} viewBox='0 0 1100 104'&gt;&#10;                &lt;defs&gt;&#10;                    &lt;marker id='arw2' markerWidth='9' markerHeight='9' refX='7' refY='4.5' orient='auto'&gt;&#10;                        &lt;path d='M0,0 L9,4.5 L0,9 z' fill='#2E6BB0' /&gt;&#10;                    &lt;/marker&gt;&#10;                &lt;/defs&gt;&#10;                &lt;line x1='236' y1='44' x2='290' y2='44' stroke='#2E6BB0' strokeWidth='2.5' markerEnd='url(#arw2)' /&gt;&#10;                &lt;line x1='516' y1='44' x2='570' y2='44' stroke='#2E6BB0' strokeWidth='2.5' markerEnd='url(#arw2)' /&gt;&#10;                &lt;line x1='796' y1='44' x2='850' y2='44' stroke='#2E6BB0' strokeWidth='2.5' markerEnd='url(#arw2)' /&gt;&#10;                &lt;rect x='10' y='18' width='226' height='52' rx='8' fill='#1B4A8C' /&gt;&#10;                &lt;text x='123' y='50' fill='#FFFFFF' fontSize='19' fontWeight='bold' textAnchor='middle'&gt;初查&lt;/text&gt;&#10;                &lt;rect x='290' y='18' width='226' height='52' rx='8' fill='#1B4A8C' /&gt;&#10;                &lt;text x='403' y='50' fill='#FFFFFF' fontSize='19' fontWeight='bold' textAnchor='middle'&gt;刑事拘留&lt;/text&gt;&#10;                &lt;rect x='570' y='18' width='226' height='52' rx='8' fill='#2E6BB0' /&gt;&#10;                &lt;text x='683' y='50' fill='#FFFFFF' fontSize='19' fontWeight='bold' textAnchor='middle'&gt;取保候审 / 监视居住&lt;/text&gt;&#10;                &lt;rect x='850' y='18' width='240' height='52' rx='8' fill='#C8A45C' /&gt;&#10;                &lt;text x='970' y='50' fill='#FFFFFF' fontSize='19' fontWeight='bold' textAnchor='middle'&gt;移送审查起诉&lt;/text&gt;&#10;                &lt;text x='123' y='92' fill='#8A94A6' fontSize='14' textAnchor='middle'&gt;锁人 · 定证据方向&lt;/text&gt;&#10;                &lt;text x='403' y='92' fill='#8A94A6' fontSize='14' textAnchor='middle'&gt;3 天 / 30 天关键窗口&lt;/text&gt;&#10;                &lt;text x='683' y='92' fill='#8A94A6' fontSize='14' textAnchor='middle'&gt;7 天 / 30 天届满节点&lt;/text&gt;&#10;                &lt;text x='970' y='92' fill='#8A94A6' fontSize='14' textAnchor='middle'&gt;案卷归档留痕&lt;/text&gt;&#10;            &lt;/svg&gt;&#10;        &lt;/Box&gt;&#10;        {/* 行政单线 + 驱动说明 */}&#10;        &lt;Box style={{ width: '100%', flexDirection: 'row', gap: 20 }}&gt;&#10;            &lt;Box style={{ flex: 1, flexDirection: 'column', background: '#FFFFFF', border: '1px solid #E3E8F0', borderRadius: 10, paddingTop: 18, paddingBottom: 18, paddingLeft: 22, paddingRight: 22 }}&gt;&#10;                &lt;Box style={{ flexDirection: 'row', alignItems: 'center', gap: 12, marginBottom: 12 }}&gt;&#10;                    &lt;Box style={{ width: 4, height: 20, background: '#C8A45C' }} /&gt;&#10;                    &lt;Text style={{ fontSize: 19, fontWeight: 'bold', color: '#C8A45C' }}&gt;行政案件 · 单线&lt;/Text&gt;&#10;                &lt;/Box&gt;&#10;                &lt;svg width={500} height={60} viewBox='0 0 500 60'&gt;&#10;                    &lt;defs&gt;&#10;                        &lt;marker id='arw3' markerWidth='9' markerHeight='9' refX='7' refY='4.5' orient='auto'&gt;&#10;                            &lt;path d='M0,0 L9,4.5 L0,9 z' fill='#C8A45C' /&gt;&#10;                        &lt;/marker&gt;&#10;                    &lt;/defs&gt;&#10;                    &lt;line x1='146' y1='30' x2='182' y2='30' stroke='#C8A45C' strokeWidth='2.5' markerEnd='url(#arw3)' /&gt;&#10;                    &lt;line x1='326' y1='30' x2='362' y2='30' stroke='#C8A45C' strokeWidth='2.5' markerEnd='url(#arw3)' /&gt;&#10;                    &lt;rect x='6' y='10' width='140' height='40' rx='8' fill='#F4F6F9' stroke='#C8A45C' strokeWidth='1.5' /&gt;&#10;                    &lt;text x='76' y='36' fill='#8A6A24' fontSize='16' fontWeight='bold' textAnchor='middle'&gt;呈批材料&lt;/text&gt;&#10;                    &lt;rect x='182' y='10' width='144' height='40' rx='8' fill='#F4F6F9' stroke='#C8A45C' strokeWidth='1.5' /&gt;&#10;                    &lt;text x='254' y='36' fill='#8A6A24' fontSize='16' fontWeight='bold' textAnchor='middle'&gt;行政处罚&lt;/text&gt;&#10;                    &lt;rect x='362' y='10' width='132' height='40' rx='8' fill='#C8A45C' /&gt;&#10;                    &lt;text x='428' y='36' fill='#FFFFFF' fontSize='16' fontWeight='bold' textAnchor='middle'&gt;执行归档&lt;/text&gt;&#10;                &lt;/svg&gt;&#10;                &lt;Text style={{ fontSize: 15, color: '#5A6478', lineHeight: 1.6, marginTop: 8 }}&gt;30 / 60 天时限，节点单一但同样逾期提醒。&lt;/Text&gt;&#10;            &lt;/Box&gt;&#10;            &lt;Box style={{ flex: 1, flexDirection: 'column', background: '#F4F6F9', border: '1px solid #E3E8F0', borderRadius: 10, paddingTop: 18, paddingBottom: 18, paddingLeft: 22, paddingRight: 22 }}&gt;&#10;                &lt;Box style={{ flexDirection: 'row', alignItems: 'center', gap: 10 }}&gt;&#10;                    &lt;FAIcon name='check-double' style={{ fill: '#1B4A8C', width: 20, height: 20 }} /&gt;&#10;                    &lt;Text style={{ fontSize: 19, fontWeight: 'bold', color: '#1F2733' }}&gt;为什么这么设计&lt;/Text&gt;&#10;                &lt;/Box&gt;&#10;                &lt;Text style={{ fontSize: 16, color: '#5A6478', lineHeight: 1.75, marginTop: 12 }}&gt;阶段进度不落库、实时算：任务完成度一到，阶段条自动变长；&lt;br /&gt;要推进阶段，必须由领导点确认——避免「自己说自己办完了」。&lt;/Text&gt;&#10;            &lt;/Box&gt;&#10;        &lt;/Box&gt;&#10;    &lt;/Box&gt;&#10;    &lt;Box style={{ position: 'absolute', left: 64, top: 676, width: 1152, height: 32, flexDirection: 'row', justifyContent: 'space-between', alignItems: 'center' }}&gt;&#10;        &lt;Text style={{ fontSize: 14, color: '#8A94A6' }}&gt;案件指派系统　·　功能汇报与使用讲解&lt;/Text&gt;&#10;        &lt;Text style={{ fontSize: 14, color: '#8A94A6' }}&gt;12 / 16&lt;/Text&gt;&#10;    &lt;/Box&gt;&#10;    &lt;Box style={{ position: 'absolute', left: 64, top: 712, width: 1152, height: 6, flexDirection: 'row' }}&gt;&#10;        &lt;Box style={{ width: '55%', height: 6, background: '#1B4A8C' }} /&gt;&#10;        &lt;Box style={{ width: '25%', height: 6, background: '#2E6BB0' }} /&gt;&#10;        &lt;Box style={{ width: '20%', height: 6, background: '#C8A45C' }} /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7" name=""/>
          <p:cNvSpPr/>
          <p:nvPr/>
        </p:nvSpPr>
        <p:spPr>
          <a:xfrm rot="0" flipH="0" flipV="0">
            <a:off x="0" y="0"/>
            <a:ext cx="6705600" cy="76200"/>
          </a:xfrm>
          <a:prstGeom prst="rect">
            <a:avLst/>
          </a:prstGeom>
          <a:solidFill>
            <a:srgbClr val="1B4A8C"/>
          </a:solidFill>
          <a:ln/>
        </p:spPr>
        <p:txBody>
          <a:bodyPr/>
          <a:p/>
        </p:txBody>
      </p:sp>
      <p:sp>
        <p:nvSpPr>
          <p:cNvPr id="78" name=""/>
          <p:cNvSpPr/>
          <p:nvPr/>
        </p:nvSpPr>
        <p:spPr>
          <a:xfrm rot="0" flipH="0" flipV="0">
            <a:off x="6705600" y="0"/>
            <a:ext cx="3048000" cy="76200"/>
          </a:xfrm>
          <a:prstGeom prst="rect">
            <a:avLst/>
          </a:prstGeom>
          <a:solidFill>
            <a:srgbClr val="2E6BB0"/>
          </a:solidFill>
          <a:ln/>
        </p:spPr>
        <p:txBody>
          <a:bodyPr/>
          <a:p/>
        </p:txBody>
      </p:sp>
      <p:sp>
        <p:nvSpPr>
          <p:cNvPr id="79" name=""/>
          <p:cNvSpPr/>
          <p:nvPr/>
        </p:nvSpPr>
        <p:spPr>
          <a:xfrm rot="0" flipH="0" flipV="0">
            <a:off x="9753600" y="0"/>
            <a:ext cx="2438400" cy="76200"/>
          </a:xfrm>
          <a:prstGeom prst="rect">
            <a:avLst/>
          </a:prstGeom>
          <a:solidFill>
            <a:srgbClr val="C8A45C"/>
          </a:solidFill>
          <a:ln/>
        </p:spPr>
        <p:txBody>
          <a:bodyPr/>
          <a:p/>
        </p:txBody>
      </p:sp>
      <p:sp>
        <p:nvSpPr>
          <p:cNvPr id="80" name=""/>
          <p:cNvSpPr/>
          <p:nvPr/>
        </p:nvSpPr>
        <p:spPr>
          <a:xfrm rot="0" flipH="0" flipV="0">
            <a:off x="609600" y="533400"/>
            <a:ext cx="57150" cy="419100"/>
          </a:xfrm>
          <a:prstGeom prst="rect">
            <a:avLst/>
          </a:prstGeom>
          <a:solidFill>
            <a:srgbClr val="1B4A8C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857250" y="390525"/>
            <a:ext cx="4600575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F2733"/>
                </a:solidFill>
                <a:latin typeface="Microsoft YaHei"/>
                <a:ea typeface="Microsoft YaHei"/>
              </a:rPr>
              <a:t>办案阶段：初查</a:t>
            </a:r>
            <a:r>
              <a:rPr lang="en-US" sz="2550" b="1">
                <a:solidFill>
                  <a:srgbClr val="1F2733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2550" b="1">
                <a:solidFill>
                  <a:srgbClr val="1F2733"/>
                </a:solidFill>
                <a:latin typeface="Microsoft YaHei"/>
                <a:ea typeface="Microsoft YaHei"/>
              </a:rPr>
              <a:t>刑拘</a:t>
            </a:r>
            <a:r>
              <a:rPr lang="en-US" sz="2550" b="1">
                <a:solidFill>
                  <a:srgbClr val="1F2733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2550" b="1">
                <a:solidFill>
                  <a:srgbClr val="1F2733"/>
                </a:solidFill>
                <a:latin typeface="Microsoft YaHei"/>
                <a:ea typeface="Microsoft YaHei"/>
              </a:rPr>
              <a:t>取保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857250" y="914400"/>
            <a:ext cx="46005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A94A6"/>
                </a:solidFill>
                <a:latin typeface="Microsoft YaHei"/>
                <a:ea typeface="Microsoft YaHei"/>
              </a:rPr>
              <a:t>阶段不是手填的状态，而是由任务完成情况自动推进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10248900" y="581025"/>
            <a:ext cx="1333500" cy="323850"/>
          </a:xfrm>
          <a:prstGeom prst="roundRect">
            <a:avLst>
              <a:gd name="adj" fmla="val 17647"/>
            </a:avLst>
          </a:prstGeom>
          <a:solidFill>
            <a:srgbClr val="F4F6F9"/>
          </a:solidFill>
          <a:ln/>
        </p:spPr>
        <p:txBody>
          <a:bodyPr/>
          <a:p/>
        </p:txBody>
      </p:sp>
      <p:pic>
        <p:nvPicPr>
          <p:cNvPr id="8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382250" y="657225"/>
            <a:ext cx="171450" cy="171450"/>
          </a:xfrm>
          <a:prstGeom prst="rect">
            <a:avLst/>
          </a:prstGeom>
          <a:ln/>
        </p:spPr>
      </p:pic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0648950" y="66675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B4A8C"/>
                </a:solidFill>
                <a:latin typeface="Microsoft YaHei"/>
                <a:ea typeface="Microsoft YaHei"/>
              </a:rPr>
              <a:t>任务驱动流转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609600" y="1257300"/>
            <a:ext cx="10972800" cy="1685925"/>
          </a:xfrm>
          <a:prstGeom prst="roundRect">
            <a:avLst>
              <a:gd name="adj" fmla="val 5650"/>
            </a:avLst>
          </a:prstGeom>
          <a:solidFill>
            <a:srgbClr val="F4F6F9"/>
          </a:solidFill>
          <a:ln w="12700">
            <a:solidFill>
              <a:srgbClr val="E3E8F0"/>
            </a:solidFill>
            <a:prstDash val="solid"/>
          </a:ln>
        </p:spPr>
        <p:txBody>
          <a:bodyPr/>
          <a:p/>
        </p:txBody>
      </p:sp>
      <p:sp>
        <p:nvSpPr>
          <p:cNvPr id="87" name=""/>
          <p:cNvSpPr/>
          <p:nvPr/>
        </p:nvSpPr>
        <p:spPr>
          <a:xfrm rot="0" flipH="0" flipV="0">
            <a:off x="838200" y="1447800"/>
            <a:ext cx="38100" cy="190500"/>
          </a:xfrm>
          <a:prstGeom prst="rect">
            <a:avLst/>
          </a:prstGeom>
          <a:solidFill>
            <a:srgbClr val="1B4A8C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990600" y="1428750"/>
            <a:ext cx="1638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B4A8C"/>
                </a:solidFill>
                <a:latin typeface="Microsoft YaHei"/>
                <a:ea typeface="Microsoft YaHei"/>
              </a:rPr>
              <a:t>刑事案件</a:t>
            </a:r>
            <a:r>
              <a:rPr lang="en-US" sz="1425" b="1">
                <a:solidFill>
                  <a:srgbClr val="1B4A8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425" b="1">
                <a:solidFill>
                  <a:srgbClr val="1B4A8C"/>
                </a:solidFill>
                <a:latin typeface="Microsoft YaHei"/>
                <a:ea typeface="Microsoft YaHei"/>
              </a:rPr>
              <a:t>主干流转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2743200" y="1457325"/>
            <a:ext cx="3095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4A6"/>
                </a:solidFill>
                <a:latin typeface="Microsoft YaHei"/>
                <a:ea typeface="Microsoft YaHei"/>
              </a:rPr>
              <a:t>建案即铺任务，全流程完成</a:t>
            </a:r>
            <a:r>
              <a:rPr lang="en-US" sz="1050">
                <a:solidFill>
                  <a:srgbClr val="8A94A6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8A94A6"/>
                </a:solidFill>
                <a:latin typeface="Microsoft YaHei"/>
                <a:ea typeface="Microsoft YaHei"/>
              </a:rPr>
              <a:t>领导确认</a:t>
            </a:r>
            <a:r>
              <a:rPr lang="en-US" sz="1050">
                <a:solidFill>
                  <a:srgbClr val="8A94A6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8A94A6"/>
                </a:solidFill>
                <a:latin typeface="Microsoft YaHei"/>
                <a:ea typeface="Microsoft YaHei"/>
              </a:rPr>
              <a:t>阶段推进</a:t>
            </a:r>
            <a:endParaRPr/>
          </a:p>
        </p:txBody>
      </p:sp>
      <p:pic>
        <p:nvPicPr>
          <p:cNvPr id="9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38200" y="1781175"/>
            <a:ext cx="10477500" cy="990600"/>
          </a:xfrm>
          <a:prstGeom prst="rect">
            <a:avLst/>
          </a:prstGeom>
          <a:ln/>
        </p:spPr>
      </p:pic>
      <p:sp>
        <p:nvSpPr>
          <p:cNvPr id="91" name=""/>
          <p:cNvSpPr/>
          <p:nvPr/>
        </p:nvSpPr>
        <p:spPr>
          <a:xfrm rot="0" flipH="0" flipV="0">
            <a:off x="609600" y="3114675"/>
            <a:ext cx="5391150" cy="160020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  <p:txBody>
          <a:bodyPr/>
          <a:p/>
        </p:txBody>
      </p:sp>
      <p:sp>
        <p:nvSpPr>
          <p:cNvPr id="92" name=""/>
          <p:cNvSpPr/>
          <p:nvPr/>
        </p:nvSpPr>
        <p:spPr>
          <a:xfrm rot="0" flipH="0" flipV="0">
            <a:off x="819150" y="3305175"/>
            <a:ext cx="38100" cy="190500"/>
          </a:xfrm>
          <a:prstGeom prst="rect">
            <a:avLst/>
          </a:prstGeom>
          <a:solidFill>
            <a:srgbClr val="C8A45C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971550" y="3286125"/>
            <a:ext cx="1276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8A45C"/>
                </a:solidFill>
                <a:latin typeface="Microsoft YaHei"/>
                <a:ea typeface="Microsoft YaHei"/>
              </a:rPr>
              <a:t>行政案件</a:t>
            </a:r>
            <a:r>
              <a:rPr lang="en-US" sz="1425" b="1">
                <a:solidFill>
                  <a:srgbClr val="C8A45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425" b="1">
                <a:solidFill>
                  <a:srgbClr val="C8A45C"/>
                </a:solidFill>
                <a:latin typeface="Microsoft YaHei"/>
                <a:ea typeface="Microsoft YaHei"/>
              </a:rPr>
              <a:t>单线</a:t>
            </a:r>
            <a:endParaRPr/>
          </a:p>
        </p:txBody>
      </p:sp>
      <p:pic>
        <p:nvPicPr>
          <p:cNvPr id="9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19150" y="3619500"/>
            <a:ext cx="4762500" cy="571500"/>
          </a:xfrm>
          <a:prstGeom prst="rect">
            <a:avLst/>
          </a:prstGeom>
          <a:ln/>
        </p:spPr>
      </p:pic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819150" y="4267200"/>
            <a:ext cx="49720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5A6478"/>
                </a:solidFill>
                <a:latin typeface="Microsoft YaHei"/>
                <a:ea typeface="Microsoft YaHei"/>
              </a:rPr>
              <a:t xml:space="preserve">30 / 60 </a:t>
            </a:r>
            <a:r>
              <a:rPr lang="zh-CN" sz="1125">
                <a:solidFill>
                  <a:srgbClr val="5A6478"/>
                </a:solidFill>
                <a:latin typeface="Microsoft YaHei"/>
                <a:ea typeface="Microsoft YaHei"/>
              </a:rPr>
              <a:t>天时限，节点单一但同样逾期提醒。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6191250" y="3114675"/>
            <a:ext cx="5391150" cy="1600200"/>
          </a:xfrm>
          <a:prstGeom prst="roundRect">
            <a:avLst>
              <a:gd name="adj" fmla="val 5952"/>
            </a:avLst>
          </a:prstGeom>
          <a:solidFill>
            <a:srgbClr val="F4F6F9"/>
          </a:solidFill>
          <a:ln w="12700">
            <a:solidFill>
              <a:srgbClr val="E3E8F0"/>
            </a:solidFill>
            <a:prstDash val="solid"/>
          </a:ln>
        </p:spPr>
        <p:txBody>
          <a:bodyPr/>
          <a:p/>
        </p:txBody>
      </p:sp>
      <p:pic>
        <p:nvPicPr>
          <p:cNvPr id="9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400800" y="3305175"/>
            <a:ext cx="190500" cy="190500"/>
          </a:xfrm>
          <a:prstGeom prst="rect">
            <a:avLst/>
          </a:prstGeom>
          <a:ln/>
        </p:spPr>
      </p:pic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6686550" y="3286125"/>
            <a:ext cx="1266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2733"/>
                </a:solidFill>
                <a:latin typeface="Microsoft YaHei"/>
                <a:ea typeface="Microsoft YaHei"/>
              </a:rPr>
              <a:t>为什么这么设计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400800" y="3619500"/>
            <a:ext cx="4972050" cy="647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200">
                <a:solidFill>
                  <a:srgbClr val="5A6478"/>
                </a:solidFill>
                <a:latin typeface="Microsoft YaHei"/>
                <a:ea typeface="Microsoft YaHei"/>
              </a:rPr>
              <a:t>阶段进度不落库、实时算：任务完成度一到，阶段条自动变长；</a:t>
            </a:r>
            <a:endParaRPr/>
          </a:p>
          <a:p>
            <a:pPr>
              <a:lnSpc>
                <a:spcPct val="175000"/>
              </a:lnSpc>
            </a:pPr>
            <a:r>
              <a:rPr lang="zh-CN" sz="1200">
                <a:solidFill>
                  <a:srgbClr val="5A6478"/>
                </a:solidFill>
                <a:latin typeface="Microsoft YaHei"/>
                <a:ea typeface="Microsoft YaHei"/>
              </a:rPr>
              <a:t>要推进阶段，必须由领导点确认——避免「自己说自己办完了」。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609600" y="6515100"/>
            <a:ext cx="2305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4A6"/>
                </a:solidFill>
                <a:latin typeface="Microsoft YaHei"/>
                <a:ea typeface="Microsoft YaHei"/>
              </a:rPr>
              <a:t>案件指派系统　·　功能汇报与使用讲解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11125200" y="65151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4A6"/>
                </a:solidFill>
                <a:latin typeface="Microsoft YaHei"/>
                <a:ea typeface="Microsoft YaHei"/>
              </a:rPr>
              <a:t>12 / 16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609600" y="6781800"/>
            <a:ext cx="6038850" cy="57150"/>
          </a:xfrm>
          <a:prstGeom prst="rect">
            <a:avLst/>
          </a:prstGeom>
          <a:solidFill>
            <a:srgbClr val="1B4A8C"/>
          </a:solidFill>
          <a:ln/>
        </p:spPr>
        <p:txBody>
          <a:bodyPr/>
          <a:p/>
        </p:txBody>
      </p:sp>
      <p:sp>
        <p:nvSpPr>
          <p:cNvPr id="103" name=""/>
          <p:cNvSpPr/>
          <p:nvPr/>
        </p:nvSpPr>
        <p:spPr>
          <a:xfrm rot="0" flipH="0" flipV="0">
            <a:off x="6648450" y="6781800"/>
            <a:ext cx="2743200" cy="57150"/>
          </a:xfrm>
          <a:prstGeom prst="rect">
            <a:avLst/>
          </a:prstGeom>
          <a:solidFill>
            <a:srgbClr val="2E6BB0"/>
          </a:solidFill>
          <a:ln/>
        </p:spPr>
        <p:txBody>
          <a:bodyPr/>
          <a:p/>
        </p:txBody>
      </p:sp>
      <p:sp>
        <p:nvSpPr>
          <p:cNvPr id="104" name=""/>
          <p:cNvSpPr/>
          <p:nvPr/>
        </p:nvSpPr>
        <p:spPr>
          <a:xfrm rot="0" flipH="0" flipV="0">
            <a:off x="9391650" y="6781800"/>
            <a:ext cx="2190750" cy="57150"/>
          </a:xfrm>
          <a:prstGeom prst="rect">
            <a:avLst/>
          </a:prstGeom>
          <a:solidFill>
            <a:srgbClr val="C8A45C"/>
          </a:solidFill>
          <a:ln/>
        </p:spPr>
        <p:txBody>
          <a:bodyPr/>
          <a:p/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a16="http://schemas.microsoft.com/office/drawing/2014/main" xmlns:mc="http://schemas.openxmlformats.org/markup-compatibility/2006" mc:Ignorable="asvg a16">
  <p:cSld>
    <p:spTree>
      <p:nvGrpSpPr>
        <p:cNvPr id="105" name="" descr="&lt;Slide style={{ width: 1280, height: 720, position: 'relative', background: '#FFFFFF', overflow: 'hidden' }}&gt;&#10;    &lt;Box style={{ position: 'absolute', left: 0, top: 0, width: 1280, height: 8, flexDirection: 'row' }}&gt;&#10;        &lt;Box style={{ width: '55%', height: 8, background: '#1B4A8C' }} /&gt;&#10;        &lt;Box style={{ width: '25%', height: 8, background: '#2E6BB0' }} /&gt;&#10;        &lt;Box style={{ width: '20%', height: 8, background: '#C8A45C' }} /&gt;&#10;    &lt;/Box&gt;&#10;    &lt;Box style={{ position: 'absolute', left: 64, top: 40, width: 1152, height: 76, flexDirection: 'row', alignItems: 'center', gap: 20 }}&gt;&#10;        &lt;Box style={{ width: 6, height: 44, background: '#1B4A8C' }} /&gt;&#10;        &lt;Box style={{ flexDirection: 'column' }}&gt;&#10;            &lt;Text style={{ fontSize: 34, fontWeight: 'bold', color: '#1F2733', lineHeight: 1.2 }}&gt;权限与追溯：谁能做、做错怎么办&lt;/Text&gt;&#10;            &lt;Text style={{ fontSize: 16, color: '#8A94A6', marginTop: 6 }}&gt;四级层级 + 五类角色：权限按职务推导，越权在前端就拦下来&lt;/Text&gt;&#10;        &lt;/Box&gt;&#10;        &lt;Box style={{ marginLeft: 'auto', flexDirection: 'row', alignItems: 'center', gap: 10, background: '#F4F6F9', borderRadius: 6, paddingLeft: 14, paddingRight: 14, paddingTop: 8, paddingBottom: 8 }}&gt;&#10;            &lt;FAIcon name='user-shield' style={{ fill: '#1B4A8C', width: 18, height: 18 }} /&gt;&#10;            &lt;Text style={{ fontSize: 14, color: '#1B4A8C' }}&gt;第 3 章 · 协作与治理&lt;/Text&gt;&#10;        &lt;/Box&gt;&#10;    &lt;/Box&gt;&#10;    &lt;Box style={{ position: 'absolute', left: 64, top: 132, width: 1152, height: 532, flexDirection: 'row', gap: 26 }}&gt;&#10;        {/* 左 45% 层级 + 撤回机制 */}&#10;        &lt;Box style={{ width: 500, flexDirection: 'column', gap: 14 }}&gt;&#10;            &lt;Box style={{ width: '100%', flexDirection: 'column', background: '#F4F6F9', borderRadius: 10, border: '1px solid #E3E8F0', padding: 18 }}&gt;&#10;                &lt;Text style={{ fontSize: 18, fontWeight: 'bold', color: '#1B4A8C', marginBottom: 12 }}&gt;四级组织层级&lt;/Text&gt;&#10;                &lt;Box style={{ flexDirection: 'row', alignItems: 'center', gap: 10, marginBottom: 8 }}&gt;&#10;                    &lt;Box style={{ width: 84, height: 30, borderRadius: 6, background: '#12294A', justifyContent: 'center', alignItems: 'center' }}&gt;&#10;                        &lt;Text style={{ fontSize: 15, color: '#FFFFFF' }}&gt;总 / 副总&lt;/Text&gt;&#10;                    &lt;/Box&gt;&#10;                    &lt;Text style={{ fontSize: 15, color: '#5A6478' }}&gt;全权限，可见全部案件&lt;/Text&gt;&#10;                &lt;/Box&gt;&#10;                &lt;Box style={{ flexDirection: 'row', alignItems: 'center', gap: 10, marginBottom: 8 }}&gt;&#10;                    &lt;Box style={{ width: 84, height: 30, borderRadius: 6, background: '#1B4A8C', justifyContent: 'center', alignItems: 'center' }}&gt;&#10;                        &lt;Text style={{ fontSize: 15, color: '#FFFFFF' }}&gt;组长&lt;/Text&gt;&#10;                    &lt;/Box&gt;&#10;                    &lt;Text style={{ fontSize: 15, color: '#5A6478' }}&gt;本组案件与待办管理&lt;/Text&gt;&#10;                &lt;/Box&gt;&#10;                &lt;Box style={{ flexDirection: 'row', alignItems: 'center', gap: 10 }}&gt;&#10;                    &lt;Box style={{ width: 84, height: 30, borderRadius: 6, background: '#2E6BB0', justifyContent: 'center', alignItems: 'center' }}&gt;&#10;                        &lt;Text style={{ fontSize: 15, color: '#FFFFFF' }}&gt;员工&lt;/Text&gt;&#10;                    &lt;/Box&gt;&#10;                    &lt;Text style={{ fontSize: 15, color: '#5A6478' }}&gt;只看自己的案件与待办&lt;/Text&gt;&#10;                &lt;/Box&gt;&#10;            &lt;/Box&gt;&#10;            &lt;Box style={{ width: '100%', flexDirection: 'column', background: '#FFFFFF', borderRadius: 10, border: '1px solid #E3E8F0', borderLeft: '5px solid #C8A45C', padding: 18 }}&gt;&#10;                &lt;Box style={{ flexDirection: 'row', alignItems: 'center', gap: 10 }}&gt;&#10;                    &lt;FAIcon name='clock-rotate-left' style={{ fill: '#C8A45C', width: 20, height: 20 }} /&gt;&#10;                    &lt;Text style={{ fontSize: 18, fontWeight: 'bold', color: '#1F2733' }}&gt;双快照撤回机制&lt;/Text&gt;&#10;                &lt;/Box&gt;&#10;                &lt;Text style={{ fontSize: 16, color: '#5A6478', lineHeight: 1.7, marginTop: 10 }}&gt;每个写操作都保存修改前 / 后的两份快照；撤回 = 把「修改前」原样写回。&lt;br /&gt;撤回动作本身也记日志，所以「撤回」还能再被撤回（重做）。&lt;/Text&gt;&#10;            &lt;/Box&gt;&#10;        &lt;/Box&gt;&#10;        {/* 右 55% 权限矩阵 + 截图 */}&#10;        &lt;Box style={{ flex: 1, flexDirection: 'column', gap: 12 }}&gt;&#10;            &lt;Box style={{ width: '100%', flexDirection: 'column', background: '#F4F6F9', borderRadius: 10, border: '1px solid #E3E8F0', paddingTop: 14, paddingBottom: 14, paddingLeft: 16, paddingRight: 16 }}&gt;&#10;                &lt;Text style={{ fontSize: 18, fontWeight: 'bold', color: '#1B4A8C', marginBottom: 10 }}&gt;角色 × 能力矩阵&lt;/Text&gt;&#10;                &lt;Table style={{ width: '100%', height: 168 }} defaultTextStyle={{ fontSize: 14, textAlign: 'center', color: '#1F2733' }} defaultCellStyle={{ border: { left: { width: 1, color: '#E3E8F0' }, right: { width: 1, color: '#E3E8F0' }, top: { width: 1, color: '#E3E8F0' }, bottom: { width: 1, color: '#E3E8F0' } } }} cells={[&#10;                    [{ text: '角色', textStyle: { bold: true, color: '#FFFFFF' }, cellStyle: { background: { color: '#1B4A8C' } } }, { text: '建案指派', textStyle: { bold: true, color: '#FFFFFF' }, cellStyle: { background: { color: '#1B4A8C' } } }, { text: '提意见', textStyle: { bold: true, color: '#FFFFFF' }, cellStyle: { background: { color: '#1B4A8C' } } }, { text: '确认流转', textStyle: { bold: true, color: '#FFFFFF' }, cellStyle: { background: { color: '#1B4A8C' } } }, { text: '撤回操作', textStyle: { bold: true, color: '#FFFFFF' }, cellStyle: { background: { color: '#1B4A8C' } } }],&#10;                    ['全权限角色（领导层）', '可', '可', '可', '可'],&#10;                    [{ text: '普通民警 STAFF', cellStyle: { background: { color: '#F4F6F9' } } }, '不可', { text: '不可', cellStyle: { background: { color: '#F4F6F9' } } }, { text: '不可', cellStyle: { background: { color: '#F4F6F9' } } }, { text: '仅本人', cellStyle: { background: { color: '#F4F6F9' } } }],&#10;                    ['受限范围', '按职务与办案组', '按案件可见范围', '按层级', '按操作人'],&#10;                ]} /&gt;&#10;            &lt;/Box&gt;&#10;            &lt;Box style={{ flex: 1, flexDirection: 'row', borderRadius: 10, overflow: 'hidden', border: '1px solid #E3E8F0', background: '#F4F6F9' }}&gt;&#10;                &lt;Box style={{ flex: 1, overflow: 'hidden' }}&gt;&#10;                    &lt;Image src='assets/ui-org.png' style={{ width: '100%', height: '100%', objectFit: 'cover', objectPosition: 'left top' }} /&gt;&#10;                &lt;/Box&gt;&#10;                &lt;Box style={{ width: 240, flexDirection: 'column', justifyContent: 'center', background: '#FFFFFF', padding: 18 }}&gt;&#10;                    &lt;Text style={{ fontSize: 17, fontWeight: 'bold', color: '#1B4A8C', marginBottom: 10 }}&gt;员工图谱&lt;/Text&gt;&#10;                    &lt;Text style={{ fontSize: 15, color: '#5A6478', lineHeight: 1.65 }}&gt;部门一律下拉选已有部门；办案组别决定可承办的案件类型。&lt;/Text&gt;&#10;                    &lt;Text style={{ fontSize: 14, color: '#C8A45C', marginTop: 12 }}&gt;部门异常自动标橙提示&lt;/Text&gt;&#10;                &lt;/Box&gt;&#10;            &lt;/Box&gt;&#10;        &lt;/Box&gt;&#10;    &lt;/Box&gt;&#10;    &lt;Box style={{ position: 'absolute', left: 64, top: 676, width: 1152, height: 32, flexDirection: 'row', justifyContent: 'space-between', alignItems: 'center' }}&gt;&#10;        &lt;Text style={{ fontSize: 14, color: '#8A94A6' }}&gt;案件指派系统　·　功能汇报与使用讲解&lt;/Text&gt;&#10;        &lt;Text style={{ fontSize: 14, color: '#8A94A6' }}&gt;13 / 16&lt;/Text&gt;&#10;    &lt;/Box&gt;&#10;    &lt;Box style={{ position: 'absolute', left: 64, top: 712, width: 1152, height: 6, flexDirection: 'row' }}&gt;&#10;        &lt;Box style={{ width: '55%', height: 6, background: '#1B4A8C' }} /&gt;&#10;        &lt;Box style={{ width: '25%', height: 6, background: '#2E6BB0' }} /&gt;&#10;        &lt;Box style={{ width: '20%', height: 6, background: '#C8A45C' }} /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7" name=""/>
          <p:cNvSpPr/>
          <p:nvPr/>
        </p:nvSpPr>
        <p:spPr>
          <a:xfrm rot="0" flipH="0" flipV="0">
            <a:off x="0" y="0"/>
            <a:ext cx="6705600" cy="76200"/>
          </a:xfrm>
          <a:prstGeom prst="rect">
            <a:avLst/>
          </a:prstGeom>
          <a:solidFill>
            <a:srgbClr val="1B4A8C"/>
          </a:solidFill>
          <a:ln/>
        </p:spPr>
        <p:txBody>
          <a:bodyPr/>
          <a:p/>
        </p:txBody>
      </p:sp>
      <p:sp>
        <p:nvSpPr>
          <p:cNvPr id="108" name=""/>
          <p:cNvSpPr/>
          <p:nvPr/>
        </p:nvSpPr>
        <p:spPr>
          <a:xfrm rot="0" flipH="0" flipV="0">
            <a:off x="6705600" y="0"/>
            <a:ext cx="3048000" cy="76200"/>
          </a:xfrm>
          <a:prstGeom prst="rect">
            <a:avLst/>
          </a:prstGeom>
          <a:solidFill>
            <a:srgbClr val="2E6BB0"/>
          </a:solidFill>
          <a:ln/>
        </p:spPr>
        <p:txBody>
          <a:bodyPr/>
          <a:p/>
        </p:txBody>
      </p:sp>
      <p:sp>
        <p:nvSpPr>
          <p:cNvPr id="109" name=""/>
          <p:cNvSpPr/>
          <p:nvPr/>
        </p:nvSpPr>
        <p:spPr>
          <a:xfrm rot="0" flipH="0" flipV="0">
            <a:off x="9753600" y="0"/>
            <a:ext cx="2438400" cy="76200"/>
          </a:xfrm>
          <a:prstGeom prst="rect">
            <a:avLst/>
          </a:prstGeom>
          <a:solidFill>
            <a:srgbClr val="C8A45C"/>
          </a:solidFill>
          <a:ln/>
        </p:spPr>
        <p:txBody>
          <a:bodyPr/>
          <a:p/>
        </p:txBody>
      </p:sp>
      <p:sp>
        <p:nvSpPr>
          <p:cNvPr id="110" name=""/>
          <p:cNvSpPr/>
          <p:nvPr/>
        </p:nvSpPr>
        <p:spPr>
          <a:xfrm rot="0" flipH="0" flipV="0">
            <a:off x="609600" y="533400"/>
            <a:ext cx="57150" cy="419100"/>
          </a:xfrm>
          <a:prstGeom prst="rect">
            <a:avLst/>
          </a:prstGeom>
          <a:solidFill>
            <a:srgbClr val="1B4A8C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857250" y="390525"/>
            <a:ext cx="485775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F2733"/>
                </a:solidFill>
                <a:latin typeface="Microsoft YaHei"/>
                <a:ea typeface="Microsoft YaHei"/>
              </a:rPr>
              <a:t>权限与追溯：谁能做、做错怎么办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857250" y="914400"/>
            <a:ext cx="485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A94A6"/>
                </a:solidFill>
                <a:latin typeface="Microsoft YaHei"/>
                <a:ea typeface="Microsoft YaHei"/>
              </a:rPr>
              <a:t>四级层级</a:t>
            </a:r>
            <a:r>
              <a:rPr lang="en-US" sz="1200">
                <a:solidFill>
                  <a:srgbClr val="8A94A6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8A94A6"/>
                </a:solidFill>
                <a:latin typeface="Microsoft YaHei"/>
                <a:ea typeface="Microsoft YaHei"/>
              </a:rPr>
              <a:t>五类角色：权限按职务推导，越权在前端就拦下来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9839325" y="581025"/>
            <a:ext cx="1743075" cy="323850"/>
          </a:xfrm>
          <a:prstGeom prst="roundRect">
            <a:avLst>
              <a:gd name="adj" fmla="val 17647"/>
            </a:avLst>
          </a:prstGeom>
          <a:solidFill>
            <a:srgbClr val="F4F6F9"/>
          </a:solidFill>
          <a:ln/>
        </p:spPr>
        <p:txBody>
          <a:bodyPr/>
          <a:p/>
        </p:txBody>
      </p:sp>
      <p:pic>
        <p:nvPicPr>
          <p:cNvPr id="1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972675" y="657225"/>
            <a:ext cx="171450" cy="171450"/>
          </a:xfrm>
          <a:prstGeom prst="rect">
            <a:avLst/>
          </a:prstGeom>
          <a:ln/>
        </p:spPr>
      </p:pic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10239375" y="666750"/>
            <a:ext cx="1209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B4A8C"/>
                </a:solidFill>
                <a:latin typeface="Microsoft YaHei"/>
                <a:ea typeface="Microsoft YaHei"/>
              </a:rPr>
              <a:t>第</a:t>
            </a:r>
            <a:r>
              <a:rPr lang="en-US" sz="1050">
                <a:solidFill>
                  <a:srgbClr val="1B4A8C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050">
                <a:solidFill>
                  <a:srgbClr val="1B4A8C"/>
                </a:solidFill>
                <a:latin typeface="Microsoft YaHei"/>
                <a:ea typeface="Microsoft YaHei"/>
              </a:rPr>
              <a:t>章</a:t>
            </a:r>
            <a:r>
              <a:rPr lang="en-US" sz="1050">
                <a:solidFill>
                  <a:srgbClr val="1B4A8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1B4A8C"/>
                </a:solidFill>
                <a:latin typeface="Microsoft YaHei"/>
                <a:ea typeface="Microsoft YaHei"/>
              </a:rPr>
              <a:t>协作与治理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609600" y="1257300"/>
            <a:ext cx="4762500" cy="1676400"/>
          </a:xfrm>
          <a:prstGeom prst="roundRect">
            <a:avLst>
              <a:gd name="adj" fmla="val 5682"/>
            </a:avLst>
          </a:prstGeom>
          <a:solidFill>
            <a:srgbClr val="F4F6F9"/>
          </a:solidFill>
          <a:ln w="12700">
            <a:solidFill>
              <a:srgbClr val="E3E8F0"/>
            </a:solidFill>
            <a:prstDash val="solid"/>
          </a:ln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781050" y="1428750"/>
            <a:ext cx="4419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B4A8C"/>
                </a:solidFill>
                <a:latin typeface="Microsoft YaHei"/>
                <a:ea typeface="Microsoft YaHei"/>
              </a:rPr>
              <a:t>四级组织层级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781050" y="1752600"/>
            <a:ext cx="800100" cy="285750"/>
          </a:xfrm>
          <a:prstGeom prst="roundRect">
            <a:avLst>
              <a:gd name="adj" fmla="val 20000"/>
            </a:avLst>
          </a:prstGeom>
          <a:solidFill>
            <a:srgbClr val="12294A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895350" y="1809750"/>
            <a:ext cx="581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总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副总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676400" y="1809750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A6478"/>
                </a:solidFill>
                <a:latin typeface="Microsoft YaHei"/>
                <a:ea typeface="Microsoft YaHei"/>
              </a:rPr>
              <a:t>全权限，可见全部案件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781050" y="2114550"/>
            <a:ext cx="800100" cy="285750"/>
          </a:xfrm>
          <a:prstGeom prst="roundRect">
            <a:avLst>
              <a:gd name="adj" fmla="val 20000"/>
            </a:avLst>
          </a:prstGeom>
          <a:solidFill>
            <a:srgbClr val="1B4A8C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1038225" y="217170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组长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676400" y="2171700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A6478"/>
                </a:solidFill>
                <a:latin typeface="Microsoft YaHei"/>
                <a:ea typeface="Microsoft YaHei"/>
              </a:rPr>
              <a:t>本组案件与待办管理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781050" y="2476500"/>
            <a:ext cx="800100" cy="285750"/>
          </a:xfrm>
          <a:prstGeom prst="roundRect">
            <a:avLst>
              <a:gd name="adj" fmla="val 20000"/>
            </a:avLst>
          </a:prstGeom>
          <a:solidFill>
            <a:srgbClr val="2E6BB0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1038225" y="253365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员工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1676400" y="2533650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A6478"/>
                </a:solidFill>
                <a:latin typeface="Microsoft YaHei"/>
                <a:ea typeface="Microsoft YaHei"/>
              </a:rPr>
              <a:t>只看自己的案件与待办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657225" y="3067050"/>
            <a:ext cx="4762500" cy="1581150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8" name=""/>
          <p:cNvSpPr/>
          <p:nvPr/>
        </p:nvSpPr>
        <p:spPr>
          <a:xfrm rot="0" flipH="0" flipV="0">
            <a:off x="657225" y="3067050"/>
            <a:ext cx="4762500" cy="1581150"/>
          </a:xfrm>
          <a:custGeom>
            <a:pathLst>
              <a:path w="500" h="166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61"/>
                </a:lnTo>
                <a:cubicBezTo>
                  <a:pt x="5" y="163"/>
                  <a:pt x="7" y="165"/>
                  <a:pt x="9" y="166"/>
                </a:cubicBezTo>
                <a:cubicBezTo>
                  <a:pt x="4" y="165"/>
                  <a:pt x="0" y="161"/>
                  <a:pt x="0" y="15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C8A45C"/>
          </a:solidFill>
          <a:ln/>
        </p:spPr>
        <p:txBody>
          <a:bodyPr/>
          <a:p/>
        </p:txBody>
      </p:sp>
      <p:pic>
        <p:nvPicPr>
          <p:cNvPr id="1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28675" y="3248025"/>
            <a:ext cx="190500" cy="190500"/>
          </a:xfrm>
          <a:prstGeom prst="rect">
            <a:avLst/>
          </a:prstGeom>
          <a:ln/>
        </p:spPr>
      </p:pic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1114425" y="323850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733"/>
                </a:solidFill>
                <a:latin typeface="Microsoft YaHei"/>
                <a:ea typeface="Microsoft YaHei"/>
              </a:rPr>
              <a:t>双快照撤回机制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828675" y="3543300"/>
            <a:ext cx="437197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A6478"/>
                </a:solidFill>
                <a:latin typeface="Microsoft YaHei"/>
                <a:ea typeface="Microsoft YaHei"/>
              </a:rPr>
              <a:t>每个写操作都保存修改前</a:t>
            </a:r>
            <a:r>
              <a:rPr lang="en-US" sz="1200">
                <a:solidFill>
                  <a:srgbClr val="5A647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5A6478"/>
                </a:solidFill>
                <a:latin typeface="Microsoft YaHei"/>
                <a:ea typeface="Microsoft YaHei"/>
              </a:rPr>
              <a:t>后的两份快照；撤回</a:t>
            </a:r>
            <a:r>
              <a:rPr lang="en-US" sz="1200">
                <a:solidFill>
                  <a:srgbClr val="5A6478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1200">
                <a:solidFill>
                  <a:srgbClr val="5A6478"/>
                </a:solidFill>
                <a:latin typeface="Microsoft YaHei"/>
                <a:ea typeface="Microsoft YaHei"/>
              </a:rPr>
              <a:t>把「修改前」原样写回。</a:t>
            </a:r>
            <a:endParaRPr/>
          </a:p>
          <a:p>
            <a:pPr>
              <a:lnSpc>
                <a:spcPct val="170000"/>
              </a:lnSpc>
            </a:pPr>
            <a:r>
              <a:rPr lang="zh-CN" sz="1200">
                <a:solidFill>
                  <a:srgbClr val="5A6478"/>
                </a:solidFill>
                <a:latin typeface="Microsoft YaHei"/>
                <a:ea typeface="Microsoft YaHei"/>
              </a:rPr>
              <a:t>撤回动作本身也记日志，所以「撤回」还能再被撤回（重做）。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5619750" y="1257300"/>
            <a:ext cx="5962650" cy="2171700"/>
          </a:xfrm>
          <a:prstGeom prst="roundRect">
            <a:avLst>
              <a:gd name="adj" fmla="val 4386"/>
            </a:avLst>
          </a:prstGeom>
          <a:solidFill>
            <a:srgbClr val="F4F6F9"/>
          </a:solidFill>
          <a:ln w="12700">
            <a:solidFill>
              <a:srgbClr val="E3E8F0"/>
            </a:solidFill>
            <a:prstDash val="solid"/>
          </a:ln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5772150" y="1390650"/>
            <a:ext cx="5657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B4A8C"/>
                </a:solidFill>
                <a:latin typeface="Microsoft YaHei"/>
                <a:ea typeface="Microsoft YaHei"/>
              </a:rPr>
              <a:t>角色</a:t>
            </a:r>
            <a:r>
              <a:rPr lang="en-US" sz="1350" b="1">
                <a:solidFill>
                  <a:srgbClr val="1B4A8C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1350" b="1">
                <a:solidFill>
                  <a:srgbClr val="1B4A8C"/>
                </a:solidFill>
                <a:latin typeface="Microsoft YaHei"/>
                <a:ea typeface="Microsoft YaHei"/>
              </a:rPr>
              <a:t>能力矩阵</a:t>
            </a:r>
            <a:endParaRPr/>
          </a:p>
        </p:txBody>
      </p:sp>
      <p:graphicFrame>
        <p:nvGraphicFramePr>
          <p:cNvPr id="134" name=""/>
          <p:cNvGraphicFramePr/>
          <p:nvPr/>
        </p:nvGraphicFramePr>
        <p:xfrm rot="0" flipH="0" flipV="0">
          <a:off x="5772150" y="1695450"/>
          <a:ext cx="5657850" cy="1600200"/>
        </p:xfrm>
        <a:graphic>
          <a:graphicData uri="http://schemas.openxmlformats.org/drawingml/2006/table">
            <a:tbl>
              <a:tblGrid>
                <a:gridCol w="1706481">
                  <a:extLst>
                    <a:ext uri="{9D8B030D-6E8A-4147-A177-3AD203B41FA5}">
                      <a16:colId val="1"/>
                    </a:ext>
                  </a:extLst>
                </a:gridCol>
                <a:gridCol w="1227388">
                  <a:extLst>
                    <a:ext uri="{9D8B030D-6E8A-4147-A177-3AD203B41FA5}">
                      <a16:colId val="2"/>
                    </a:ext>
                  </a:extLst>
                </a:gridCol>
                <a:gridCol w="1227388">
                  <a:extLst>
                    <a:ext uri="{9D8B030D-6E8A-4147-A177-3AD203B41FA5}">
                      <a16:colId val="3"/>
                    </a:ext>
                  </a:extLst>
                </a:gridCol>
                <a:gridCol w="748296">
                  <a:extLst>
                    <a:ext uri="{9D8B030D-6E8A-4147-A177-3AD203B41FA5}">
                      <a16:colId val="4"/>
                    </a:ext>
                  </a:extLst>
                </a:gridCol>
                <a:gridCol w="748296">
                  <a:extLst>
                    <a:ext uri="{9D8B030D-6E8A-4147-A177-3AD203B41FA5}">
                      <a16:colId val="5"/>
                    </a:ext>
                  </a:extLst>
                </a:gridCol>
              </a:tblGrid>
              <a:tr h="4000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角色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A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建案指派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A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提意见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A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确认流转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A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撤回操作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A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000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F2733"/>
                          </a:solidFill>
                          <a:latin typeface="Microsoft YaHei"/>
                          <a:ea typeface="Microsoft YaHei"/>
                        </a:rPr>
                        <a:t>全权限角色（领导层）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F2733"/>
                          </a:solidFill>
                          <a:latin typeface="Microsoft YaHei"/>
                          <a:ea typeface="Microsoft YaHei"/>
                        </a:rPr>
                        <a:t>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F2733"/>
                          </a:solidFill>
                          <a:latin typeface="Microsoft YaHei"/>
                          <a:ea typeface="Microsoft YaHei"/>
                        </a:rPr>
                        <a:t>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F2733"/>
                          </a:solidFill>
                          <a:latin typeface="Microsoft YaHei"/>
                          <a:ea typeface="Microsoft YaHei"/>
                        </a:rPr>
                        <a:t>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F2733"/>
                          </a:solidFill>
                          <a:latin typeface="Microsoft YaHei"/>
                          <a:ea typeface="Microsoft YaHei"/>
                        </a:rPr>
                        <a:t>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000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F2733"/>
                          </a:solidFill>
                          <a:latin typeface="Microsoft YaHei"/>
                          <a:ea typeface="Microsoft YaHei"/>
                        </a:rPr>
                        <a:t>普通民警 STAFF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F2733"/>
                          </a:solidFill>
                          <a:latin typeface="Microsoft YaHei"/>
                          <a:ea typeface="Microsoft YaHei"/>
                        </a:rPr>
                        <a:t>不可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F2733"/>
                          </a:solidFill>
                          <a:latin typeface="Microsoft YaHei"/>
                          <a:ea typeface="Microsoft YaHei"/>
                        </a:rPr>
                        <a:t>不可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F2733"/>
                          </a:solidFill>
                          <a:latin typeface="Microsoft YaHei"/>
                          <a:ea typeface="Microsoft YaHei"/>
                        </a:rPr>
                        <a:t>不可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F2733"/>
                          </a:solidFill>
                          <a:latin typeface="Microsoft YaHei"/>
                          <a:ea typeface="Microsoft YaHei"/>
                        </a:rPr>
                        <a:t>仅本人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000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F2733"/>
                          </a:solidFill>
                          <a:latin typeface="Microsoft YaHei"/>
                          <a:ea typeface="Microsoft YaHei"/>
                        </a:rPr>
                        <a:t>受限范围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F2733"/>
                          </a:solidFill>
                          <a:latin typeface="Microsoft YaHei"/>
                          <a:ea typeface="Microsoft YaHei"/>
                        </a:rPr>
                        <a:t>按职务与办案组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F2733"/>
                          </a:solidFill>
                          <a:latin typeface="Microsoft YaHei"/>
                          <a:ea typeface="Microsoft YaHei"/>
                        </a:rPr>
                        <a:t>按案件可见范围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F2733"/>
                          </a:solidFill>
                          <a:latin typeface="Microsoft YaHei"/>
                          <a:ea typeface="Microsoft YaHei"/>
                        </a:rPr>
                        <a:t>按层级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F2733"/>
                          </a:solidFill>
                          <a:latin typeface="Microsoft YaHei"/>
                          <a:ea typeface="Microsoft YaHei"/>
                        </a:rPr>
                        <a:t>按操作人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</a:tbl>
          </a:graphicData>
        </a:graphic>
      </p:graphicFrame>
      <p:sp>
        <p:nvSpPr>
          <p:cNvPr id="135" name=""/>
          <p:cNvSpPr/>
          <p:nvPr/>
        </p:nvSpPr>
        <p:spPr>
          <a:xfrm rot="0" flipH="0" flipV="0">
            <a:off x="5619750" y="3543300"/>
            <a:ext cx="5962650" cy="2781300"/>
          </a:xfrm>
          <a:prstGeom prst="roundRect">
            <a:avLst>
              <a:gd name="adj" fmla="val 3425"/>
            </a:avLst>
          </a:prstGeom>
          <a:solidFill>
            <a:srgbClr val="F4F6F9"/>
          </a:solidFill>
          <a:ln w="12700">
            <a:solidFill>
              <a:srgbClr val="E3E8F0"/>
            </a:solidFill>
            <a:prstDash val="solid"/>
          </a:ln>
        </p:spPr>
        <p:txBody>
          <a:bodyPr/>
          <a:p/>
        </p:txBody>
      </p:sp>
      <p:pic>
        <p:nvPicPr>
          <p:cNvPr id="136" name=""/>
          <p:cNvPicPr>
            <a:picLocks noChangeAspect="1"/>
          </p:cNvPicPr>
          <p:nvPr/>
        </p:nvPicPr>
        <p:blipFill>
          <a:blip r:embed="rId3"/>
          <a:srcRect l="8690" t="0" r="8690" b="0"/>
          <a:stretch>
            <a:fillRect/>
          </a:stretch>
        </p:blipFill>
        <p:spPr>
          <a:xfrm rot="0" flipH="0" flipV="0">
            <a:off x="5619750" y="3543300"/>
            <a:ext cx="3676650" cy="2781300"/>
          </a:xfrm>
          <a:custGeom>
            <a:pathLst>
              <a:path w="386" h="292">
                <a:moveTo>
                  <a:pt x="386" y="292"/>
                </a:moveTo>
                <a:lnTo>
                  <a:pt x="10" y="292"/>
                </a:lnTo>
                <a:cubicBezTo>
                  <a:pt x="4" y="292"/>
                  <a:pt x="0" y="288"/>
                  <a:pt x="0" y="282"/>
                </a:cubicBez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386" y="0"/>
                </a:lnTo>
                <a:close/>
              </a:path>
            </a:pathLst>
          </a:custGeom>
          <a:ln/>
        </p:spPr>
      </p:pic>
      <p:sp>
        <p:nvSpPr>
          <p:cNvPr id="137" name=""/>
          <p:cNvSpPr/>
          <p:nvPr/>
        </p:nvSpPr>
        <p:spPr>
          <a:xfrm rot="0" flipH="0" flipV="0">
            <a:off x="9296400" y="3543300"/>
            <a:ext cx="2286000" cy="2781300"/>
          </a:xfrm>
          <a:custGeom>
            <a:pathLst>
              <a:path w="240" h="292">
                <a:moveTo>
                  <a:pt x="230" y="0"/>
                </a:moveTo>
                <a:cubicBezTo>
                  <a:pt x="236" y="0"/>
                  <a:pt x="240" y="5"/>
                  <a:pt x="240" y="10"/>
                </a:cubicBezTo>
                <a:lnTo>
                  <a:pt x="240" y="282"/>
                </a:lnTo>
                <a:cubicBezTo>
                  <a:pt x="240" y="288"/>
                  <a:pt x="236" y="292"/>
                  <a:pt x="230" y="292"/>
                </a:cubicBezTo>
                <a:lnTo>
                  <a:pt x="0" y="292"/>
                </a:lnTo>
                <a:lnTo>
                  <a:pt x="0" y="0"/>
                </a:lnTo>
                <a:lnTo>
                  <a:pt x="230" y="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9467850" y="4219575"/>
            <a:ext cx="1943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B4A8C"/>
                </a:solidFill>
                <a:latin typeface="Microsoft YaHei"/>
                <a:ea typeface="Microsoft YaHei"/>
              </a:rPr>
              <a:t>员工图谱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9467850" y="4514850"/>
            <a:ext cx="19431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A6478"/>
                </a:solidFill>
                <a:latin typeface="Microsoft YaHei"/>
                <a:ea typeface="Microsoft YaHei"/>
              </a:rPr>
              <a:t>部门一律下拉选已有部门；办案组别决定可承办的案件类型。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9467850" y="5486400"/>
            <a:ext cx="1943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8A45C"/>
                </a:solidFill>
                <a:latin typeface="Microsoft YaHei"/>
                <a:ea typeface="Microsoft YaHei"/>
              </a:rPr>
              <a:t>部门异常自动标橙提示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609600" y="6515100"/>
            <a:ext cx="2305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4A6"/>
                </a:solidFill>
                <a:latin typeface="Microsoft YaHei"/>
                <a:ea typeface="Microsoft YaHei"/>
              </a:rPr>
              <a:t>案件指派系统　·　功能汇报与使用讲解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1125200" y="65151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4A6"/>
                </a:solidFill>
                <a:latin typeface="Microsoft YaHei"/>
                <a:ea typeface="Microsoft YaHei"/>
              </a:rPr>
              <a:t>13 / 16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609600" y="6781800"/>
            <a:ext cx="6038850" cy="57150"/>
          </a:xfrm>
          <a:prstGeom prst="rect">
            <a:avLst/>
          </a:prstGeom>
          <a:solidFill>
            <a:srgbClr val="1B4A8C"/>
          </a:solidFill>
          <a:ln/>
        </p:spPr>
        <p:txBody>
          <a:bodyPr/>
          <a:p/>
        </p:txBody>
      </p:sp>
      <p:sp>
        <p:nvSpPr>
          <p:cNvPr id="144" name=""/>
          <p:cNvSpPr/>
          <p:nvPr/>
        </p:nvSpPr>
        <p:spPr>
          <a:xfrm rot="0" flipH="0" flipV="0">
            <a:off x="6648450" y="6781800"/>
            <a:ext cx="2743200" cy="57150"/>
          </a:xfrm>
          <a:prstGeom prst="rect">
            <a:avLst/>
          </a:prstGeom>
          <a:solidFill>
            <a:srgbClr val="2E6BB0"/>
          </a:solidFill>
          <a:ln/>
        </p:spPr>
        <p:txBody>
          <a:bodyPr/>
          <a:p/>
        </p:txBody>
      </p:sp>
      <p:sp>
        <p:nvSpPr>
          <p:cNvPr id="145" name=""/>
          <p:cNvSpPr/>
          <p:nvPr/>
        </p:nvSpPr>
        <p:spPr>
          <a:xfrm rot="0" flipH="0" flipV="0">
            <a:off x="9391650" y="6781800"/>
            <a:ext cx="2190750" cy="57150"/>
          </a:xfrm>
          <a:prstGeom prst="rect">
            <a:avLst/>
          </a:prstGeom>
          <a:solidFill>
            <a:srgbClr val="C8A45C"/>
          </a:solidFill>
          <a:ln/>
        </p:spPr>
        <p:txBody>
          <a:bodyPr/>
          <a:p/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46" name="" descr="&lt;Slide style={{ width: 1280, height: 720, position: 'relative', background: '#12294A', overflow: 'hidden' }}&gt;&#10;    &lt;Image src='assets/ui-staff-cases.png' style={{ position: 'absolute', left: 0, top: 0, width: 1280, height: 720, objectFit: 'cover', opacity: 0.24 }} /&gt;&#10;    &lt;Box style={{ position: 'absolute', left: 0, top: 0, width: 1280, height: 720, background: 'linear-gradient(100deg, rgba(18,41,74,0.96) 0%, rgba(27,74,140,0.86) 52%, rgba(27,74,140,0.42) 100%)' }} /&gt;&#10;    &lt;svg width={1280} height={720} viewBox='0 0 1280 720' style={{ position: 'absolute', left: 0, top: 0 }}&gt;&#10;        &lt;g fill='none' stroke='#C8A45C' strokeWidth='1' opacity='0.22'&gt;&#10;            &lt;circle cx='1040' cy='360' r='240' /&gt;&#10;            &lt;circle cx='1040' cy='360' r='300' /&gt;&#10;        &lt;/g&gt;&#10;    &lt;/svg&gt;&#10;    &lt;Box style={{ position: 'absolute', left: 96, top: 168, flexDirection: 'column' }}&gt;&#10;        &lt;Text style={{ fontSize: 20, color: '#C8A45C', letterSpacing: 6 }}&gt;PART 04&lt;/Text&gt;&#10;        &lt;Box style={{ width: 100, height: 5, background: '#C8A45C', marginTop: 22, marginBottom: 30 }} /&gt;&#10;        &lt;Text style={{ fontSize: 76, fontWeight: 'bold', color: '#FFFFFF', lineHeight: 1.14, letterSpacing: 3 }}&gt;使用讲解&lt;/Text&gt;&#10;        &lt;Text style={{ fontSize: 24, color: '#C9D6E8', marginTop: 26, letterSpacing: 1 }}&gt;民警每天只需要做三件事：看红点 · 办待办 · 盯到期&lt;/Text&gt;&#10;    &lt;/Box&gt;&#10;    &lt;Box style={{ position: 'absolute', left: 96, bottom: 76, flexDirection: 'row', alignItems: 'center', gap: 14 }}&gt;&#10;        &lt;FAIcon name='shield' style={{ fill: '#C8A45C', width: 22, height: 22 }} /&gt;&#10;        &lt;Text style={{ fontSize: 15, color: '#8A94A6' }}&gt;案件指派系统　·　功能汇报与使用讲解&lt;/Text&gt;&#10;    &lt;/Box&gt;&#10;    &lt;Text style={{ position: 'absolute', right: 96, bottom: 76, fontSize: 14, color: '#8A94A6' }}&gt;14 / 16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2294A"/>
          </a:solidFill>
          <a:ln/>
        </p:spPr>
        <p:txBody>
          <a:bodyPr/>
          <a:p/>
        </p:txBody>
      </p:sp>
      <p:pic>
        <p:nvPicPr>
          <p:cNvPr id="148" name=""/>
          <p:cNvPicPr>
            <a:picLocks noChangeAspect="1"/>
          </p:cNvPicPr>
          <p:nvPr/>
        </p:nvPicPr>
        <p:blipFill>
          <a:blip r:embed="rId1">
            <a:alphaModFix amt="24000"/>
          </a:blip>
          <a:srcRect l="0" t="5000" r="0" b="500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2294A">
                  <a:alpha val="96000"/>
                </a:srgbClr>
              </a:gs>
              <a:gs pos="52000">
                <a:srgbClr val="1B4A8C">
                  <a:alpha val="86000"/>
                </a:srgbClr>
              </a:gs>
              <a:gs pos="100000">
                <a:srgbClr val="1B4A8C">
                  <a:alpha val="42000"/>
                </a:srgbClr>
              </a:gs>
            </a:gsLst>
            <a:lin ang="600000" scaled="1"/>
          </a:gradFill>
          <a:ln/>
        </p:spPr>
        <p:txBody>
          <a:bodyPr/>
          <a:p/>
        </p:txBody>
      </p:sp>
      <p:pic>
        <p:nvPicPr>
          <p:cNvPr id="15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914400" y="1600200"/>
            <a:ext cx="54387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450">
                <a:solidFill>
                  <a:srgbClr val="C8A45C"/>
                </a:solidFill>
                <a:latin typeface="Microsoft YaHei"/>
                <a:ea typeface="Microsoft YaHei"/>
              </a:rPr>
              <a:t>PART 04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914400" y="2038350"/>
            <a:ext cx="952500" cy="47625"/>
          </a:xfrm>
          <a:prstGeom prst="rect">
            <a:avLst/>
          </a:prstGeom>
          <a:solidFill>
            <a:srgbClr val="C8A45C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914400" y="2371725"/>
            <a:ext cx="5438775" cy="990600"/>
          </a:xfrm>
          <a:prstGeom prst="rect"/>
        </p:spPr>
        <p:txBody>
          <a:bodyPr wrap="none" lIns="0" tIns="0" rIns="0" bIns="0"/>
          <a:p>
            <a:pPr>
              <a:lnSpc>
                <a:spcPct val="113999"/>
              </a:lnSpc>
            </a:pPr>
            <a:r>
              <a:rPr lang="zh-CN" sz="5700" b="1" spc="225">
                <a:solidFill>
                  <a:srgbClr val="FFFFFF"/>
                </a:solidFill>
                <a:latin typeface="Microsoft YaHei"/>
                <a:ea typeface="Microsoft YaHei"/>
              </a:rPr>
              <a:t>使用讲解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914400" y="3609975"/>
            <a:ext cx="54387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spc="75">
                <a:solidFill>
                  <a:srgbClr val="C9D6E8"/>
                </a:solidFill>
                <a:latin typeface="Microsoft YaHei"/>
                <a:ea typeface="Microsoft YaHei"/>
              </a:rPr>
              <a:t>民警每天只需要做三件事：看红点</a:t>
            </a:r>
            <a:r>
              <a:rPr lang="en-US" sz="1800" spc="75">
                <a:solidFill>
                  <a:srgbClr val="C9D6E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800" spc="75">
                <a:solidFill>
                  <a:srgbClr val="C9D6E8"/>
                </a:solidFill>
                <a:latin typeface="Microsoft YaHei"/>
                <a:ea typeface="Microsoft YaHei"/>
              </a:rPr>
              <a:t>办待办</a:t>
            </a:r>
            <a:r>
              <a:rPr lang="en-US" sz="1800" spc="75">
                <a:solidFill>
                  <a:srgbClr val="C9D6E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800" spc="75">
                <a:solidFill>
                  <a:srgbClr val="C9D6E8"/>
                </a:solidFill>
                <a:latin typeface="Microsoft YaHei"/>
                <a:ea typeface="Microsoft YaHei"/>
              </a:rPr>
              <a:t>盯到期</a:t>
            </a:r>
            <a:endParaRPr/>
          </a:p>
        </p:txBody>
      </p:sp>
      <p:pic>
        <p:nvPicPr>
          <p:cNvPr id="15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914400" y="5924550"/>
            <a:ext cx="209550" cy="209550"/>
          </a:xfrm>
          <a:prstGeom prst="rect">
            <a:avLst/>
          </a:prstGeom>
          <a:ln/>
        </p:spPr>
      </p:pic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1257300" y="5943600"/>
            <a:ext cx="2466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94A6"/>
                </a:solidFill>
                <a:latin typeface="Microsoft YaHei"/>
                <a:ea typeface="Microsoft YaHei"/>
              </a:rPr>
              <a:t>案件指派系统　·　功能汇报与使用讲解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10820400" y="59721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4A6"/>
                </a:solidFill>
                <a:latin typeface="Microsoft YaHei"/>
                <a:ea typeface="Microsoft YaHei"/>
              </a:rPr>
              <a:t>14 / 16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58" name="" descr="&lt;Slide style={{ width: 1280, height: 720, position: 'relative', background: '#FFFFFF', overflow: 'hidden' }}&gt;&#10;    &lt;Box style={{ position: 'absolute', left: 0, top: 0, width: 1280, height: 8, flexDirection: 'row' }}&gt;&#10;        &lt;Box style={{ width: '55%', height: 8, background: '#1B4A8C' }} /&gt;&#10;        &lt;Box style={{ width: '25%', height: 8, background: '#2E6BB0' }} /&gt;&#10;        &lt;Box style={{ width: '20%', height: 8, background: '#C8A45C' }} /&gt;&#10;    &lt;/Box&gt;&#10;    &lt;Box style={{ position: 'absolute', left: 64, top: 40, width: 1152, height: 76, flexDirection: 'row', alignItems: 'center', gap: 20 }}&gt;&#10;        &lt;Box style={{ width: 6, height: 44, background: '#1B4A8C' }} /&gt;&#10;        &lt;Box style={{ flexDirection: 'column' }}&gt;&#10;            &lt;Text style={{ fontSize: 34, fontWeight: 'bold', color: '#1F2733', lineHeight: 1.2 }}&gt;民警日常三件事&lt;/Text&gt;&#10;            &lt;Text style={{ fontSize: 16, color: '#8A94A6', marginTop: 6 }}&gt;登录后不用到处找，照着这三步走，手头的活儿就不会漏&lt;/Text&gt;&#10;        &lt;/Box&gt;&#10;        &lt;Box style={{ marginLeft: 'auto', flexDirection: 'row', alignItems: 'center', gap: 10, background: '#F4F6F9', borderRadius: 6, paddingLeft: 14, paddingRight: 14, paddingTop: 8, paddingBottom: 8 }}&gt;&#10;            &lt;FAIcon name='list-check' style={{ fill: '#1B4A8C', width: 18, height: 18 }} /&gt;&#10;            &lt;Text style={{ fontSize: 14, color: '#1B4A8C' }}&gt;第 4 章 · 使用讲解&lt;/Text&gt;&#10;        &lt;/Box&gt;&#10;    &lt;/Box&gt;&#10;    &lt;Box style={{ position: 'absolute', left: 64, top: 132, width: 1152, height: 532, flexDirection: 'column', gap: 16 }}&gt;&#10;        {/* 上大图 */}&#10;        &lt;Box style={{ width: '100%', height: 252, flexDirection: 'row', borderRadius: 10, overflow: 'hidden', border: '1px solid #E3E8F0', background: '#F4F6F9' }}&gt;&#10;            &lt;Box style={{ flex: 1, overflow: 'hidden' }}&gt;&#10;                &lt;Image src='assets/ui-staff-cases.png' style={{ width: '100%', height: '100%', objectFit: 'cover', objectPosition: 'left top' }} /&gt;&#10;            &lt;/Box&gt;&#10;            &lt;Box style={{ width: 300, flexDirection: 'column', justifyContent: 'center', background: 'linear-gradient(135deg, #12294A 0%, #1B4A8C 100%)', padding: 22 }}&gt;&#10;                &lt;Text style={{ fontSize: 20, fontWeight: 'bold', color: '#FFFFFF', lineHeight: 1.4 }}&gt;我的案件&lt;/Text&gt;&#10;                &lt;Box style={{ width: 60, height: 4, background: '#C8A45C', marginTop: 14, marginBottom: 14 }} /&gt;&#10;                &lt;Text style={{ fontSize: 16, color: '#C9D6E8', lineHeight: 1.7 }}&gt;名下案件数、在办数、已逾期、3 天内到期——四个数字就是今天的作业量。&lt;/Text&gt;&#10;            &lt;/Box&gt;&#10;        &lt;/Box&gt;&#10;        {/* 下三卡 */}&#10;        &lt;Box style={{ width: '100%', flex: 1, flexDirection: 'row', gap: 18 }}&gt;&#10;            &lt;Box style={{ flex: 1, flexDirection: 'column', background: '#F4F6F9', borderRadius: 10, border: '1px solid #E3E8F0', borderTop: '5px solid #1B4A8C', padding: 18 }}&gt;&#10;                &lt;Box style={{ flexDirection: 'row', alignItems: 'center', gap: 10 }}&gt;&#10;                    &lt;FAIcon name='bell' style={{ fill: '#1B4A8C', width: 24, height: 24 }} /&gt;&#10;                    &lt;Text style={{ fontSize: 20, fontWeight: 'bold', color: '#1F2733' }}&gt;一、看红点&lt;/Text&gt;&#10;                &lt;/Box&gt;&#10;                &lt;Text style={{ fontSize: 16, color: '#5A6478', lineHeight: 1.7, marginTop: 10 }}&gt;顶栏铃铛上的红点 = 有新的意见 / 待办 / 到期提醒。先点开，别让它积着。&lt;/Text&gt;&#10;            &lt;/Box&gt;&#10;            &lt;Box style={{ flex: 1, flexDirection: 'column', background: '#FFFFFF', borderRadius: 10, border: '1px solid #E3E8F0', borderTop: '5px solid #2E6BB0', padding: 18 }}&gt;&#10;                &lt;Box style={{ flexDirection: 'row', alignItems: 'center', gap: 10 }}&gt;&#10;                    &lt;FAIcon name='clipboard-check' style={{ fill: '#2E6BB0', width: 24, height: 24 }} /&gt;&#10;                    &lt;Text style={{ fontSize: 20, fontWeight: 'bold', color: '#1F2733' }}&gt;二、办待办&lt;/Text&gt;&#10;                &lt;/Box&gt;&#10;                &lt;Text style={{ fontSize: 16, color: '#5A6478', lineHeight: 1.7, marginTop: 10 }}&gt;进「我的待办」，按系统排好的顺序处理；每条都要写反馈、勾子任务，再等领导确认。&lt;/Text&gt;&#10;            &lt;/Box&gt;&#10;            &lt;Box style={{ flex: 1, flexDirection: 'column', background: '#F4F6F9', borderRadius: 10, border: '1px solid #E3E8F0', borderTop: '5px solid #C8A45C', padding: 18 }}&gt;&#10;                &lt;Box style={{ flexDirection: 'row', alignItems: 'center', gap: 10 }}&gt;&#10;                    &lt;FAIcon name='hourglass-end' style={{ fill: '#C8A45C', width: 24, height: 24 }} /&gt;&#10;                    &lt;Text style={{ fontSize: 20, fontWeight: 'bold', color: '#1F2733' }}&gt;三、盯到期&lt;/Text&gt;&#10;                &lt;/Box&gt;&#10;                &lt;Text style={{ fontSize: 16, color: '#5A6478', lineHeight: 1.7, marginTop: 10 }}&gt;「到期提醒」页看临期与逾期，橙的抓紧办、红的马上报，避免超期。&lt;/Text&gt;&#10;            &lt;/Box&gt;&#10;        &lt;/Box&gt;&#10;    &lt;/Box&gt;&#10;    &lt;Box style={{ position: 'absolute', left: 64, top: 676, width: 1152, height: 32, flexDirection: 'row', justifyContent: 'space-between', alignItems: 'center' }}&gt;&#10;        &lt;Text style={{ fontSize: 14, color: '#8A94A6' }}&gt;案件指派系统　·　功能汇报与使用讲解&lt;/Text&gt;&#10;        &lt;Text style={{ fontSize: 14, color: '#8A94A6' }}&gt;15 / 16&lt;/Text&gt;&#10;    &lt;/Box&gt;&#10;    &lt;Box style={{ position: 'absolute', left: 64, top: 712, width: 1152, height: 6, flexDirection: 'row' }}&gt;&#10;        &lt;Box style={{ width: '55%', height: 6, background: '#1B4A8C' }} /&gt;&#10;        &lt;Box style={{ width: '25%', height: 6, background: '#2E6BB0' }} /&gt;&#10;        &lt;Box style={{ width: '20%', height: 6, background: '#C8A45C' }} /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0" name=""/>
          <p:cNvSpPr/>
          <p:nvPr/>
        </p:nvSpPr>
        <p:spPr>
          <a:xfrm rot="0" flipH="0" flipV="0">
            <a:off x="0" y="0"/>
            <a:ext cx="6705600" cy="76200"/>
          </a:xfrm>
          <a:prstGeom prst="rect">
            <a:avLst/>
          </a:prstGeom>
          <a:solidFill>
            <a:srgbClr val="1B4A8C"/>
          </a:solidFill>
          <a:ln/>
        </p:spPr>
        <p:txBody>
          <a:bodyPr/>
          <a:p/>
        </p:txBody>
      </p:sp>
      <p:sp>
        <p:nvSpPr>
          <p:cNvPr id="161" name=""/>
          <p:cNvSpPr/>
          <p:nvPr/>
        </p:nvSpPr>
        <p:spPr>
          <a:xfrm rot="0" flipH="0" flipV="0">
            <a:off x="6705600" y="0"/>
            <a:ext cx="3048000" cy="76200"/>
          </a:xfrm>
          <a:prstGeom prst="rect">
            <a:avLst/>
          </a:prstGeom>
          <a:solidFill>
            <a:srgbClr val="2E6BB0"/>
          </a:solidFill>
          <a:ln/>
        </p:spPr>
        <p:txBody>
          <a:bodyPr/>
          <a:p/>
        </p:txBody>
      </p:sp>
      <p:sp>
        <p:nvSpPr>
          <p:cNvPr id="162" name=""/>
          <p:cNvSpPr/>
          <p:nvPr/>
        </p:nvSpPr>
        <p:spPr>
          <a:xfrm rot="0" flipH="0" flipV="0">
            <a:off x="9753600" y="0"/>
            <a:ext cx="2438400" cy="76200"/>
          </a:xfrm>
          <a:prstGeom prst="rect">
            <a:avLst/>
          </a:prstGeom>
          <a:solidFill>
            <a:srgbClr val="C8A45C"/>
          </a:solidFill>
          <a:ln/>
        </p:spPr>
        <p:txBody>
          <a:bodyPr/>
          <a:p/>
        </p:txBody>
      </p:sp>
      <p:sp>
        <p:nvSpPr>
          <p:cNvPr id="163" name=""/>
          <p:cNvSpPr/>
          <p:nvPr/>
        </p:nvSpPr>
        <p:spPr>
          <a:xfrm rot="0" flipH="0" flipV="0">
            <a:off x="609600" y="533400"/>
            <a:ext cx="57150" cy="419100"/>
          </a:xfrm>
          <a:prstGeom prst="rect">
            <a:avLst/>
          </a:prstGeom>
          <a:solidFill>
            <a:srgbClr val="1B4A8C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857250" y="390525"/>
            <a:ext cx="3810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F2733"/>
                </a:solidFill>
                <a:latin typeface="Microsoft YaHei"/>
                <a:ea typeface="Microsoft YaHei"/>
              </a:rPr>
              <a:t>民警日常三件事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857250" y="914400"/>
            <a:ext cx="381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A94A6"/>
                </a:solidFill>
                <a:latin typeface="Microsoft YaHei"/>
                <a:ea typeface="Microsoft YaHei"/>
              </a:rPr>
              <a:t>登录后不用到处找，照着这三步走，手头的活儿就不会漏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9972675" y="581025"/>
            <a:ext cx="1609725" cy="323850"/>
          </a:xfrm>
          <a:prstGeom prst="roundRect">
            <a:avLst>
              <a:gd name="adj" fmla="val 17647"/>
            </a:avLst>
          </a:prstGeom>
          <a:solidFill>
            <a:srgbClr val="F4F6F9"/>
          </a:solidFill>
          <a:ln/>
        </p:spPr>
        <p:txBody>
          <a:bodyPr/>
          <a:p/>
        </p:txBody>
      </p:sp>
      <p:pic>
        <p:nvPicPr>
          <p:cNvPr id="1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106025" y="657225"/>
            <a:ext cx="171450" cy="171450"/>
          </a:xfrm>
          <a:prstGeom prst="rect">
            <a:avLst/>
          </a:prstGeom>
          <a:ln/>
        </p:spPr>
      </p:pic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10372725" y="666750"/>
            <a:ext cx="1076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B4A8C"/>
                </a:solidFill>
                <a:latin typeface="Microsoft YaHei"/>
                <a:ea typeface="Microsoft YaHei"/>
              </a:rPr>
              <a:t>第</a:t>
            </a:r>
            <a:r>
              <a:rPr lang="en-US" sz="1050">
                <a:solidFill>
                  <a:srgbClr val="1B4A8C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050">
                <a:solidFill>
                  <a:srgbClr val="1B4A8C"/>
                </a:solidFill>
                <a:latin typeface="Microsoft YaHei"/>
                <a:ea typeface="Microsoft YaHei"/>
              </a:rPr>
              <a:t>章</a:t>
            </a:r>
            <a:r>
              <a:rPr lang="en-US" sz="1050">
                <a:solidFill>
                  <a:srgbClr val="1B4A8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1B4A8C"/>
                </a:solidFill>
                <a:latin typeface="Microsoft YaHei"/>
                <a:ea typeface="Microsoft YaHei"/>
              </a:rPr>
              <a:t>使用讲解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609600" y="1257300"/>
            <a:ext cx="10972800" cy="2400300"/>
          </a:xfrm>
          <a:prstGeom prst="roundRect">
            <a:avLst>
              <a:gd name="adj" fmla="val 3968"/>
            </a:avLst>
          </a:prstGeom>
          <a:solidFill>
            <a:srgbClr val="F4F6F9"/>
          </a:solidFill>
          <a:ln w="12700">
            <a:solidFill>
              <a:srgbClr val="E3E8F0"/>
            </a:solidFill>
            <a:prstDash val="solid"/>
          </a:ln>
        </p:spPr>
        <p:txBody>
          <a:bodyPr/>
          <a:p/>
        </p:txBody>
      </p:sp>
      <p:pic>
        <p:nvPicPr>
          <p:cNvPr id="170" name=""/>
          <p:cNvPicPr>
            <a:picLocks noChangeAspect="1"/>
          </p:cNvPicPr>
          <p:nvPr/>
        </p:nvPicPr>
        <p:blipFill>
          <a:blip r:embed="rId2"/>
          <a:srcRect l="0" t="26338" r="0" b="26338"/>
          <a:stretch>
            <a:fillRect/>
          </a:stretch>
        </p:blipFill>
        <p:spPr>
          <a:xfrm rot="0" flipH="0" flipV="0">
            <a:off x="609600" y="1257300"/>
            <a:ext cx="8115300" cy="2400300"/>
          </a:xfrm>
          <a:custGeom>
            <a:pathLst>
              <a:path w="852" h="252">
                <a:moveTo>
                  <a:pt x="852" y="252"/>
                </a:moveTo>
                <a:lnTo>
                  <a:pt x="10" y="252"/>
                </a:lnTo>
                <a:cubicBezTo>
                  <a:pt x="4" y="252"/>
                  <a:pt x="0" y="248"/>
                  <a:pt x="0" y="242"/>
                </a:cubicBez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852" y="0"/>
                </a:lnTo>
                <a:close/>
              </a:path>
            </a:pathLst>
          </a:custGeom>
          <a:ln/>
        </p:spPr>
      </p:pic>
      <p:sp>
        <p:nvSpPr>
          <p:cNvPr id="171" name=""/>
          <p:cNvSpPr/>
          <p:nvPr/>
        </p:nvSpPr>
        <p:spPr>
          <a:xfrm rot="0" flipH="0" flipV="0">
            <a:off x="8724900" y="1257300"/>
            <a:ext cx="2857500" cy="2400300"/>
          </a:xfrm>
          <a:custGeom>
            <a:pathLst>
              <a:path w="300" h="252">
                <a:moveTo>
                  <a:pt x="290" y="0"/>
                </a:moveTo>
                <a:cubicBezTo>
                  <a:pt x="296" y="0"/>
                  <a:pt x="300" y="5"/>
                  <a:pt x="300" y="10"/>
                </a:cubicBezTo>
                <a:lnTo>
                  <a:pt x="300" y="242"/>
                </a:lnTo>
                <a:cubicBezTo>
                  <a:pt x="300" y="248"/>
                  <a:pt x="296" y="252"/>
                  <a:pt x="290" y="252"/>
                </a:cubicBezTo>
                <a:lnTo>
                  <a:pt x="0" y="252"/>
                </a:lnTo>
                <a:lnTo>
                  <a:pt x="0" y="0"/>
                </a:lnTo>
                <a:lnTo>
                  <a:pt x="290" y="0"/>
                </a:lnTo>
                <a:close/>
              </a:path>
            </a:pathLst>
          </a:custGeom>
          <a:gradFill>
            <a:gsLst>
              <a:gs pos="0">
                <a:srgbClr val="12294A"/>
              </a:gs>
              <a:gs pos="100000">
                <a:srgbClr val="1B4A8C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8934450" y="1676400"/>
            <a:ext cx="243840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我的案件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8934450" y="2133600"/>
            <a:ext cx="571500" cy="38100"/>
          </a:xfrm>
          <a:prstGeom prst="rect">
            <a:avLst/>
          </a:prstGeom>
          <a:solidFill>
            <a:srgbClr val="C8A45C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8934450" y="2305050"/>
            <a:ext cx="24384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C9D6E8"/>
                </a:solidFill>
                <a:latin typeface="Microsoft YaHei"/>
                <a:ea typeface="Microsoft YaHei"/>
              </a:rPr>
              <a:t>名下案件数、在办数、已逾期、</a:t>
            </a:r>
            <a:r>
              <a:rPr lang="en-US" sz="1200">
                <a:solidFill>
                  <a:srgbClr val="C9D6E8"/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1200">
                <a:solidFill>
                  <a:srgbClr val="C9D6E8"/>
                </a:solidFill>
                <a:latin typeface="Microsoft YaHei"/>
                <a:ea typeface="Microsoft YaHei"/>
              </a:rPr>
              <a:t>天内到期——四个数字就是今天的作业量。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609600" y="3857625"/>
            <a:ext cx="3543300" cy="2514600"/>
          </a:xfrm>
          <a:prstGeom prst="roundRect">
            <a:avLst>
              <a:gd name="adj" fmla="val 3788"/>
            </a:avLst>
          </a:prstGeom>
          <a:solidFill>
            <a:srgbClr val="F4F6F9"/>
          </a:solidFill>
          <a:ln/>
        </p:spPr>
        <p:txBody>
          <a:bodyPr/>
          <a:p/>
        </p:txBody>
      </p:sp>
      <p:sp>
        <p:nvSpPr>
          <p:cNvPr id="176" name=""/>
          <p:cNvSpPr/>
          <p:nvPr/>
        </p:nvSpPr>
        <p:spPr>
          <a:xfrm rot="0" flipH="0" flipV="0">
            <a:off x="609600" y="3857625"/>
            <a:ext cx="3543300" cy="2514600"/>
          </a:xfrm>
          <a:custGeom>
            <a:pathLst>
              <a:path w="372" h="264">
                <a:moveTo>
                  <a:pt x="362" y="0"/>
                </a:moveTo>
                <a:cubicBezTo>
                  <a:pt x="367" y="0"/>
                  <a:pt x="371" y="4"/>
                  <a:pt x="372" y="9"/>
                </a:cubicBezTo>
                <a:cubicBezTo>
                  <a:pt x="371" y="6"/>
                  <a:pt x="369" y="5"/>
                  <a:pt x="367" y="5"/>
                </a:cubicBezTo>
                <a:lnTo>
                  <a:pt x="5" y="5"/>
                </a:lnTo>
                <a:cubicBezTo>
                  <a:pt x="3" y="5"/>
                  <a:pt x="1" y="7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2" y="0"/>
                </a:lnTo>
                <a:close/>
              </a:path>
            </a:pathLst>
          </a:custGeom>
          <a:solidFill>
            <a:srgbClr val="1B4A8C"/>
          </a:solidFill>
          <a:ln/>
        </p:spPr>
        <p:txBody>
          <a:bodyPr/>
          <a:p/>
        </p:txBody>
      </p:sp>
      <p:pic>
        <p:nvPicPr>
          <p:cNvPr id="17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81050" y="4029075"/>
            <a:ext cx="228600" cy="228600"/>
          </a:xfrm>
          <a:prstGeom prst="rect">
            <a:avLst/>
          </a:prstGeom>
          <a:ln/>
        </p:spPr>
      </p:pic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104900" y="4029075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2733"/>
                </a:solidFill>
                <a:latin typeface="Microsoft YaHei"/>
                <a:ea typeface="Microsoft YaHei"/>
              </a:rPr>
              <a:t>一、看红点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781050" y="4352925"/>
            <a:ext cx="32004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A6478"/>
                </a:solidFill>
                <a:latin typeface="Microsoft YaHei"/>
                <a:ea typeface="Microsoft YaHei"/>
              </a:rPr>
              <a:t>顶栏铃铛上的红点</a:t>
            </a:r>
            <a:r>
              <a:rPr lang="en-US" sz="1200">
                <a:solidFill>
                  <a:srgbClr val="5A6478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1200">
                <a:solidFill>
                  <a:srgbClr val="5A6478"/>
                </a:solidFill>
                <a:latin typeface="Microsoft YaHei"/>
                <a:ea typeface="Microsoft YaHei"/>
              </a:rPr>
              <a:t>有新的意见</a:t>
            </a:r>
            <a:r>
              <a:rPr lang="en-US" sz="1200">
                <a:solidFill>
                  <a:srgbClr val="5A647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5A6478"/>
                </a:solidFill>
                <a:latin typeface="Microsoft YaHei"/>
                <a:ea typeface="Microsoft YaHei"/>
              </a:rPr>
              <a:t>待办</a:t>
            </a:r>
            <a:r>
              <a:rPr lang="en-US" sz="1200">
                <a:solidFill>
                  <a:srgbClr val="5A647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5A6478"/>
                </a:solidFill>
                <a:latin typeface="Microsoft YaHei"/>
                <a:ea typeface="Microsoft YaHei"/>
              </a:rPr>
              <a:t>到期提醒。先点开，别让它积着。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4324350" y="3857625"/>
            <a:ext cx="3543300" cy="2514600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1" name=""/>
          <p:cNvSpPr/>
          <p:nvPr/>
        </p:nvSpPr>
        <p:spPr>
          <a:xfrm rot="0" flipH="0" flipV="0">
            <a:off x="4324350" y="3857625"/>
            <a:ext cx="3543300" cy="2514600"/>
          </a:xfrm>
          <a:custGeom>
            <a:pathLst>
              <a:path w="372" h="264">
                <a:moveTo>
                  <a:pt x="362" y="0"/>
                </a:moveTo>
                <a:cubicBezTo>
                  <a:pt x="367" y="0"/>
                  <a:pt x="371" y="4"/>
                  <a:pt x="372" y="9"/>
                </a:cubicBezTo>
                <a:cubicBezTo>
                  <a:pt x="371" y="6"/>
                  <a:pt x="369" y="5"/>
                  <a:pt x="367" y="5"/>
                </a:cubicBezTo>
                <a:lnTo>
                  <a:pt x="5" y="5"/>
                </a:lnTo>
                <a:cubicBezTo>
                  <a:pt x="3" y="5"/>
                  <a:pt x="1" y="7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2" y="0"/>
                </a:lnTo>
                <a:close/>
              </a:path>
            </a:pathLst>
          </a:custGeom>
          <a:solidFill>
            <a:srgbClr val="2E6BB0"/>
          </a:solidFill>
          <a:ln/>
        </p:spPr>
        <p:txBody>
          <a:bodyPr/>
          <a:p/>
        </p:txBody>
      </p:sp>
      <p:pic>
        <p:nvPicPr>
          <p:cNvPr id="18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4495800" y="4029075"/>
            <a:ext cx="228600" cy="228600"/>
          </a:xfrm>
          <a:prstGeom prst="rect">
            <a:avLst/>
          </a:prstGeom>
          <a:ln/>
        </p:spPr>
      </p:pic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4819650" y="4029075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2733"/>
                </a:solidFill>
                <a:latin typeface="Microsoft YaHei"/>
                <a:ea typeface="Microsoft YaHei"/>
              </a:rPr>
              <a:t>二、办待办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4495800" y="4352925"/>
            <a:ext cx="32004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A6478"/>
                </a:solidFill>
                <a:latin typeface="Microsoft YaHei"/>
                <a:ea typeface="Microsoft YaHei"/>
              </a:rPr>
              <a:t>进「我的待办」，按系统排好的顺序处理；每条都要写反馈、勾子任务，再等领导确认。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8039100" y="3857625"/>
            <a:ext cx="3543300" cy="2514600"/>
          </a:xfrm>
          <a:prstGeom prst="roundRect">
            <a:avLst>
              <a:gd name="adj" fmla="val 3788"/>
            </a:avLst>
          </a:prstGeom>
          <a:solidFill>
            <a:srgbClr val="F4F6F9"/>
          </a:solidFill>
          <a:ln/>
        </p:spPr>
        <p:txBody>
          <a:bodyPr/>
          <a:p/>
        </p:txBody>
      </p:sp>
      <p:sp>
        <p:nvSpPr>
          <p:cNvPr id="186" name=""/>
          <p:cNvSpPr/>
          <p:nvPr/>
        </p:nvSpPr>
        <p:spPr>
          <a:xfrm rot="0" flipH="0" flipV="0">
            <a:off x="8039100" y="3857625"/>
            <a:ext cx="3543300" cy="2514600"/>
          </a:xfrm>
          <a:custGeom>
            <a:pathLst>
              <a:path w="372" h="264">
                <a:moveTo>
                  <a:pt x="362" y="0"/>
                </a:moveTo>
                <a:cubicBezTo>
                  <a:pt x="367" y="0"/>
                  <a:pt x="371" y="4"/>
                  <a:pt x="372" y="9"/>
                </a:cubicBezTo>
                <a:cubicBezTo>
                  <a:pt x="371" y="6"/>
                  <a:pt x="369" y="5"/>
                  <a:pt x="367" y="5"/>
                </a:cubicBezTo>
                <a:lnTo>
                  <a:pt x="5" y="5"/>
                </a:lnTo>
                <a:cubicBezTo>
                  <a:pt x="3" y="5"/>
                  <a:pt x="1" y="7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2" y="0"/>
                </a:lnTo>
                <a:close/>
              </a:path>
            </a:pathLst>
          </a:custGeom>
          <a:solidFill>
            <a:srgbClr val="C8A45C"/>
          </a:solidFill>
          <a:ln/>
        </p:spPr>
        <p:txBody>
          <a:bodyPr/>
          <a:p/>
        </p:txBody>
      </p:sp>
      <p:pic>
        <p:nvPicPr>
          <p:cNvPr id="1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8210550" y="4029075"/>
            <a:ext cx="228600" cy="228600"/>
          </a:xfrm>
          <a:prstGeom prst="rect">
            <a:avLst/>
          </a:prstGeom>
          <a:ln/>
        </p:spPr>
      </p:pic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8534400" y="4029075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2733"/>
                </a:solidFill>
                <a:latin typeface="Microsoft YaHei"/>
                <a:ea typeface="Microsoft YaHei"/>
              </a:rPr>
              <a:t>三、盯到期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8210550" y="4352925"/>
            <a:ext cx="32004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A6478"/>
                </a:solidFill>
                <a:latin typeface="Microsoft YaHei"/>
                <a:ea typeface="Microsoft YaHei"/>
              </a:rPr>
              <a:t>「到期提醒」页看临期与逾期，橙的抓紧办、红的马上报，避免超期。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609600" y="6515100"/>
            <a:ext cx="2305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4A6"/>
                </a:solidFill>
                <a:latin typeface="Microsoft YaHei"/>
                <a:ea typeface="Microsoft YaHei"/>
              </a:rPr>
              <a:t>案件指派系统　·　功能汇报与使用讲解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11125200" y="65151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4A6"/>
                </a:solidFill>
                <a:latin typeface="Microsoft YaHei"/>
                <a:ea typeface="Microsoft YaHei"/>
              </a:rPr>
              <a:t>15 / 16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609600" y="6781800"/>
            <a:ext cx="6038850" cy="57150"/>
          </a:xfrm>
          <a:prstGeom prst="rect">
            <a:avLst/>
          </a:prstGeom>
          <a:solidFill>
            <a:srgbClr val="1B4A8C"/>
          </a:solidFill>
          <a:ln/>
        </p:spPr>
        <p:txBody>
          <a:bodyPr/>
          <a:p/>
        </p:txBody>
      </p:sp>
      <p:sp>
        <p:nvSpPr>
          <p:cNvPr id="193" name=""/>
          <p:cNvSpPr/>
          <p:nvPr/>
        </p:nvSpPr>
        <p:spPr>
          <a:xfrm rot="0" flipH="0" flipV="0">
            <a:off x="6648450" y="6781800"/>
            <a:ext cx="2743200" cy="57150"/>
          </a:xfrm>
          <a:prstGeom prst="rect">
            <a:avLst/>
          </a:prstGeom>
          <a:solidFill>
            <a:srgbClr val="2E6BB0"/>
          </a:solidFill>
          <a:ln/>
        </p:spPr>
        <p:txBody>
          <a:bodyPr/>
          <a:p/>
        </p:txBody>
      </p:sp>
      <p:sp>
        <p:nvSpPr>
          <p:cNvPr id="194" name=""/>
          <p:cNvSpPr/>
          <p:nvPr/>
        </p:nvSpPr>
        <p:spPr>
          <a:xfrm rot="0" flipH="0" flipV="0">
            <a:off x="9391650" y="6781800"/>
            <a:ext cx="2190750" cy="57150"/>
          </a:xfrm>
          <a:prstGeom prst="rect">
            <a:avLst/>
          </a:prstGeom>
          <a:solidFill>
            <a:srgbClr val="C8A45C"/>
          </a:solidFill>
          <a:ln/>
        </p:spPr>
        <p:txBody>
          <a:bodyPr/>
          <a:p/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95" name="" descr="&lt;Slide style={{ width: 1280, height: 720, position: 'relative', background: 'linear-gradient(135deg, #12294A 0%, #1B4A8C 100%)', overflow: 'hidden' }}&gt;&#10;    &lt;Box style={{ position: 'absolute', right: -140, top: -100, width: 660, height: 660, borderRadius: 330, background: 'radial-gradient(circle, rgba(200,164,92,0.20) 0%, rgba(200,164,92,0) 70%)' }} /&gt;&#10;    &lt;Box style={{ position: 'absolute', right: 40, bottom: -80, width: 380, height: 380, borderRadius: 190, background: 'rgba(46,107,176,0.35)' }} /&gt;&#10;    &lt;svg width={1280} height={720} viewBox='0 0 1280 720' style={{ position: 'absolute', left: 0, top: 0 }}&gt;&#10;        &lt;g fill='none' stroke='#C8A45C' strokeWidth='1' opacity='0.16'&gt;&#10;            &lt;circle cx='1000' cy='360' r='210' /&gt;&#10;            &lt;circle cx='1000' cy='360' r='268' /&gt;&#10;            &lt;circle cx='1000' cy='360' r='326' /&gt;&#10;        &lt;/g&gt;&#10;    &lt;/svg&gt;&#10;    &lt;Box style={{ position: 'absolute', left: 96, top: 176, flexDirection: 'row', alignItems: 'center', gap: 18 }}&gt;&#10;        &lt;Box style={{ width: 62, height: 62, borderRadius: 31, border: '2px solid #C8A45C', justifyContent: 'center', alignItems: 'center' }}&gt;&#10;            &lt;FAIcon name='shield' style={{ fill: '#C8A45C', width: 32, height: 32 }} /&gt;&#10;        &lt;/Box&gt;&#10;        &lt;Box style={{ width: 3, height: 40, background: '#C8A45C' }} /&gt;&#10;        &lt;Text style={{ fontSize: 22, color: '#C8A45C', letterSpacing: 5 }}&gt;CASE FLOW&lt;/Text&gt;&#10;    &lt;/Box&gt;&#10;    &lt;Box style={{ position: 'absolute', left: 96, top: 288, width: 880, flexDirection: 'column' }}&gt;&#10;        &lt;Text style={{ fontSize: 64, fontWeight: 'bold', color: '#FFFFFF', lineHeight: 1.22, letterSpacing: 2 }}&gt;让每一件案子&lt;/Text&gt;&#10;        &lt;Text style={{ fontSize: 64, fontWeight: 'bold', color: '#FFFFFF', lineHeight: 1.22, letterSpacing: 2 }}&gt;都办得有据可查&lt;/Text&gt;&#10;        &lt;Box style={{ width: 160, height: 6, background: '#C8A45C', marginTop: 30, marginBottom: 26 }} /&gt;&#10;        &lt;Text style={{ fontSize: 24, color: '#C9D6E8', lineHeight: 1.6 }}&gt;收得进 · 派得准 · 盯得住 · 结得清&lt;/Text&gt;&#10;    &lt;/Box&gt;&#10;    &lt;Box style={{ position: 'absolute', left: 96, bottom: 96, flexDirection: 'column' }}&gt;&#10;        &lt;Text style={{ fontSize: 20, color: '#FFFFFF' }}&gt;案件指派系统　·　功能汇报与使用讲解&lt;/Text&gt;&#10;        &lt;Text style={{ fontSize: 16, color: '#8A94A6', marginTop: 10 }}&gt;案件管理中心　·　演示数据　·　2026-10&lt;/Text&gt;&#10;    &lt;/Box&gt;&#10;    &lt;Box style={{ position: 'absolute', right: 96, bottom: 96, flexDirection: 'row', alignItems: 'center', gap: 14 }}&gt;&#10;        &lt;Text style={{ fontSize: 15, color: '#8A94A6' }}&gt;感谢聆听&lt;/Text&gt;&#10;        &lt;Text style={{ fontSize: 14, color: '#8A94A6' }}&gt;16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2294A"/>
              </a:gs>
              <a:gs pos="100000">
                <a:srgbClr val="1B4A8C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97" name=""/>
          <p:cNvSpPr/>
          <p:nvPr/>
        </p:nvSpPr>
        <p:spPr>
          <a:xfrm rot="0" flipH="0" flipV="0">
            <a:off x="7239000" y="-952500"/>
            <a:ext cx="6286500" cy="6286500"/>
          </a:xfrm>
          <a:custGeom>
            <a:pathLst>
              <a:path w="660" h="660">
                <a:moveTo>
                  <a:pt x="520" y="600"/>
                </a:moveTo>
                <a:lnTo>
                  <a:pt x="514" y="604"/>
                </a:lnTo>
                <a:lnTo>
                  <a:pt x="508" y="608"/>
                </a:lnTo>
                <a:lnTo>
                  <a:pt x="501" y="612"/>
                </a:lnTo>
                <a:lnTo>
                  <a:pt x="494" y="616"/>
                </a:lnTo>
                <a:lnTo>
                  <a:pt x="487" y="620"/>
                </a:lnTo>
                <a:lnTo>
                  <a:pt x="480" y="624"/>
                </a:lnTo>
                <a:lnTo>
                  <a:pt x="473" y="627"/>
                </a:lnTo>
                <a:lnTo>
                  <a:pt x="466" y="631"/>
                </a:lnTo>
                <a:lnTo>
                  <a:pt x="458" y="634"/>
                </a:lnTo>
                <a:lnTo>
                  <a:pt x="451" y="637"/>
                </a:lnTo>
                <a:lnTo>
                  <a:pt x="443" y="640"/>
                </a:lnTo>
                <a:lnTo>
                  <a:pt x="436" y="643"/>
                </a:lnTo>
                <a:lnTo>
                  <a:pt x="428" y="645"/>
                </a:lnTo>
                <a:lnTo>
                  <a:pt x="420" y="647"/>
                </a:lnTo>
                <a:lnTo>
                  <a:pt x="412" y="650"/>
                </a:lnTo>
                <a:lnTo>
                  <a:pt x="404" y="652"/>
                </a:lnTo>
                <a:lnTo>
                  <a:pt x="396" y="653"/>
                </a:lnTo>
                <a:lnTo>
                  <a:pt x="388" y="655"/>
                </a:lnTo>
                <a:lnTo>
                  <a:pt x="380" y="656"/>
                </a:lnTo>
                <a:lnTo>
                  <a:pt x="372" y="657"/>
                </a:lnTo>
                <a:lnTo>
                  <a:pt x="364" y="658"/>
                </a:lnTo>
                <a:lnTo>
                  <a:pt x="355" y="659"/>
                </a:lnTo>
                <a:lnTo>
                  <a:pt x="347" y="660"/>
                </a:lnTo>
                <a:lnTo>
                  <a:pt x="339" y="660"/>
                </a:lnTo>
                <a:lnTo>
                  <a:pt x="330" y="660"/>
                </a:lnTo>
                <a:lnTo>
                  <a:pt x="321" y="660"/>
                </a:lnTo>
                <a:lnTo>
                  <a:pt x="313" y="660"/>
                </a:lnTo>
                <a:lnTo>
                  <a:pt x="305" y="659"/>
                </a:lnTo>
                <a:lnTo>
                  <a:pt x="296" y="658"/>
                </a:lnTo>
                <a:lnTo>
                  <a:pt x="288" y="657"/>
                </a:lnTo>
                <a:lnTo>
                  <a:pt x="280" y="656"/>
                </a:lnTo>
                <a:lnTo>
                  <a:pt x="272" y="655"/>
                </a:lnTo>
                <a:lnTo>
                  <a:pt x="264" y="653"/>
                </a:lnTo>
                <a:lnTo>
                  <a:pt x="256" y="652"/>
                </a:lnTo>
                <a:lnTo>
                  <a:pt x="248" y="650"/>
                </a:lnTo>
                <a:lnTo>
                  <a:pt x="240" y="647"/>
                </a:lnTo>
                <a:lnTo>
                  <a:pt x="232" y="645"/>
                </a:lnTo>
                <a:lnTo>
                  <a:pt x="224" y="643"/>
                </a:lnTo>
                <a:lnTo>
                  <a:pt x="217" y="640"/>
                </a:lnTo>
                <a:lnTo>
                  <a:pt x="209" y="637"/>
                </a:lnTo>
                <a:lnTo>
                  <a:pt x="202" y="634"/>
                </a:lnTo>
                <a:lnTo>
                  <a:pt x="194" y="631"/>
                </a:lnTo>
                <a:lnTo>
                  <a:pt x="187" y="627"/>
                </a:lnTo>
                <a:lnTo>
                  <a:pt x="180" y="624"/>
                </a:lnTo>
                <a:lnTo>
                  <a:pt x="173" y="620"/>
                </a:lnTo>
                <a:lnTo>
                  <a:pt x="166" y="616"/>
                </a:lnTo>
                <a:lnTo>
                  <a:pt x="159" y="612"/>
                </a:lnTo>
                <a:lnTo>
                  <a:pt x="152" y="608"/>
                </a:lnTo>
                <a:lnTo>
                  <a:pt x="146" y="604"/>
                </a:lnTo>
                <a:lnTo>
                  <a:pt x="139" y="599"/>
                </a:lnTo>
                <a:lnTo>
                  <a:pt x="133" y="594"/>
                </a:lnTo>
                <a:lnTo>
                  <a:pt x="126" y="590"/>
                </a:lnTo>
                <a:lnTo>
                  <a:pt x="120" y="585"/>
                </a:lnTo>
                <a:lnTo>
                  <a:pt x="114" y="579"/>
                </a:lnTo>
                <a:lnTo>
                  <a:pt x="108" y="574"/>
                </a:lnTo>
                <a:lnTo>
                  <a:pt x="102" y="569"/>
                </a:lnTo>
                <a:lnTo>
                  <a:pt x="97" y="563"/>
                </a:lnTo>
                <a:lnTo>
                  <a:pt x="91" y="558"/>
                </a:lnTo>
                <a:lnTo>
                  <a:pt x="86" y="552"/>
                </a:lnTo>
                <a:lnTo>
                  <a:pt x="81" y="546"/>
                </a:lnTo>
                <a:lnTo>
                  <a:pt x="75" y="540"/>
                </a:lnTo>
                <a:lnTo>
                  <a:pt x="70" y="534"/>
                </a:lnTo>
                <a:lnTo>
                  <a:pt x="66" y="527"/>
                </a:lnTo>
                <a:lnTo>
                  <a:pt x="61" y="521"/>
                </a:lnTo>
                <a:lnTo>
                  <a:pt x="56" y="514"/>
                </a:lnTo>
                <a:lnTo>
                  <a:pt x="52" y="508"/>
                </a:lnTo>
                <a:lnTo>
                  <a:pt x="48" y="501"/>
                </a:lnTo>
                <a:lnTo>
                  <a:pt x="44" y="494"/>
                </a:lnTo>
                <a:lnTo>
                  <a:pt x="40" y="487"/>
                </a:lnTo>
                <a:lnTo>
                  <a:pt x="36" y="480"/>
                </a:lnTo>
                <a:lnTo>
                  <a:pt x="33" y="473"/>
                </a:lnTo>
                <a:lnTo>
                  <a:pt x="29" y="466"/>
                </a:lnTo>
                <a:lnTo>
                  <a:pt x="26" y="458"/>
                </a:lnTo>
                <a:lnTo>
                  <a:pt x="23" y="451"/>
                </a:lnTo>
                <a:lnTo>
                  <a:pt x="20" y="443"/>
                </a:lnTo>
                <a:lnTo>
                  <a:pt x="17" y="436"/>
                </a:lnTo>
                <a:lnTo>
                  <a:pt x="15" y="428"/>
                </a:lnTo>
                <a:lnTo>
                  <a:pt x="13" y="420"/>
                </a:lnTo>
                <a:lnTo>
                  <a:pt x="10" y="412"/>
                </a:lnTo>
                <a:lnTo>
                  <a:pt x="8" y="404"/>
                </a:lnTo>
                <a:lnTo>
                  <a:pt x="7" y="396"/>
                </a:lnTo>
                <a:lnTo>
                  <a:pt x="5" y="388"/>
                </a:lnTo>
                <a:lnTo>
                  <a:pt x="4" y="380"/>
                </a:lnTo>
                <a:lnTo>
                  <a:pt x="3" y="372"/>
                </a:lnTo>
                <a:lnTo>
                  <a:pt x="2" y="364"/>
                </a:lnTo>
                <a:lnTo>
                  <a:pt x="1" y="355"/>
                </a:lnTo>
                <a:lnTo>
                  <a:pt x="0" y="347"/>
                </a:lnTo>
                <a:lnTo>
                  <a:pt x="0" y="339"/>
                </a:lnTo>
                <a:lnTo>
                  <a:pt x="0" y="330"/>
                </a:lnTo>
                <a:lnTo>
                  <a:pt x="0" y="321"/>
                </a:lnTo>
                <a:lnTo>
                  <a:pt x="0" y="313"/>
                </a:lnTo>
                <a:lnTo>
                  <a:pt x="1" y="305"/>
                </a:lnTo>
                <a:lnTo>
                  <a:pt x="2" y="296"/>
                </a:lnTo>
                <a:lnTo>
                  <a:pt x="3" y="288"/>
                </a:lnTo>
                <a:lnTo>
                  <a:pt x="4" y="280"/>
                </a:lnTo>
                <a:lnTo>
                  <a:pt x="5" y="272"/>
                </a:lnTo>
                <a:lnTo>
                  <a:pt x="7" y="264"/>
                </a:lnTo>
                <a:lnTo>
                  <a:pt x="8" y="256"/>
                </a:lnTo>
                <a:lnTo>
                  <a:pt x="10" y="248"/>
                </a:lnTo>
                <a:lnTo>
                  <a:pt x="13" y="240"/>
                </a:lnTo>
                <a:lnTo>
                  <a:pt x="15" y="232"/>
                </a:lnTo>
                <a:lnTo>
                  <a:pt x="17" y="224"/>
                </a:lnTo>
                <a:lnTo>
                  <a:pt x="20" y="217"/>
                </a:lnTo>
                <a:lnTo>
                  <a:pt x="23" y="209"/>
                </a:lnTo>
                <a:lnTo>
                  <a:pt x="26" y="202"/>
                </a:lnTo>
                <a:lnTo>
                  <a:pt x="29" y="194"/>
                </a:lnTo>
                <a:lnTo>
                  <a:pt x="33" y="187"/>
                </a:lnTo>
                <a:lnTo>
                  <a:pt x="36" y="180"/>
                </a:lnTo>
                <a:lnTo>
                  <a:pt x="40" y="173"/>
                </a:lnTo>
                <a:lnTo>
                  <a:pt x="44" y="166"/>
                </a:lnTo>
                <a:lnTo>
                  <a:pt x="48" y="159"/>
                </a:lnTo>
                <a:lnTo>
                  <a:pt x="52" y="152"/>
                </a:lnTo>
                <a:lnTo>
                  <a:pt x="56" y="146"/>
                </a:lnTo>
                <a:lnTo>
                  <a:pt x="61" y="139"/>
                </a:lnTo>
                <a:lnTo>
                  <a:pt x="66" y="133"/>
                </a:lnTo>
                <a:lnTo>
                  <a:pt x="70" y="126"/>
                </a:lnTo>
                <a:lnTo>
                  <a:pt x="75" y="120"/>
                </a:lnTo>
                <a:lnTo>
                  <a:pt x="81" y="114"/>
                </a:lnTo>
                <a:lnTo>
                  <a:pt x="86" y="108"/>
                </a:lnTo>
                <a:lnTo>
                  <a:pt x="91" y="102"/>
                </a:lnTo>
                <a:lnTo>
                  <a:pt x="93" y="100"/>
                </a:lnTo>
                <a:lnTo>
                  <a:pt x="520" y="100"/>
                </a:lnTo>
                <a:close/>
              </a:path>
            </a:pathLst>
          </a:custGeom>
          <a:gradFill>
            <a:gsLst>
              <a:gs pos="0">
                <a:srgbClr val="C8A45C">
                  <a:alpha val="20000"/>
                </a:srgbClr>
              </a:gs>
              <a:gs pos="70000">
                <a:srgbClr val="C8A45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198" name=""/>
          <p:cNvSpPr/>
          <p:nvPr/>
        </p:nvSpPr>
        <p:spPr>
          <a:xfrm rot="0" flipH="0" flipV="0">
            <a:off x="8191500" y="4000500"/>
            <a:ext cx="3619500" cy="3619500"/>
          </a:xfrm>
          <a:custGeom>
            <a:pathLst>
              <a:path w="380" h="380">
                <a:moveTo>
                  <a:pt x="195" y="0"/>
                </a:moveTo>
                <a:cubicBezTo>
                  <a:pt x="265" y="2"/>
                  <a:pt x="329" y="42"/>
                  <a:pt x="360" y="105"/>
                </a:cubicBezTo>
                <a:cubicBezTo>
                  <a:pt x="391" y="168"/>
                  <a:pt x="386" y="243"/>
                  <a:pt x="345" y="300"/>
                </a:cubicBezTo>
                <a:lnTo>
                  <a:pt x="35" y="300"/>
                </a:lnTo>
                <a:cubicBezTo>
                  <a:pt x="-6" y="242"/>
                  <a:pt x="-11" y="166"/>
                  <a:pt x="21" y="103"/>
                </a:cubicBezTo>
                <a:cubicBezTo>
                  <a:pt x="54" y="40"/>
                  <a:pt x="119" y="0"/>
                  <a:pt x="190" y="0"/>
                </a:cubicBezTo>
                <a:close/>
              </a:path>
            </a:pathLst>
          </a:custGeom>
          <a:solidFill>
            <a:srgbClr val="2E6BB0">
              <a:alpha val="35000"/>
            </a:srgbClr>
          </a:solidFill>
          <a:ln/>
        </p:spPr>
        <p:txBody>
          <a:bodyPr/>
          <a:p/>
        </p:txBody>
      </p:sp>
      <p:pic>
        <p:nvPicPr>
          <p:cNvPr id="19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00" name=""/>
          <p:cNvSpPr/>
          <p:nvPr/>
        </p:nvSpPr>
        <p:spPr>
          <a:xfrm rot="0" flipH="0" flipV="0">
            <a:off x="914400" y="1676400"/>
            <a:ext cx="590550" cy="590550"/>
          </a:xfrm>
          <a:prstGeom prst="roundRect">
            <a:avLst>
              <a:gd name="adj" fmla="val 50000"/>
            </a:avLst>
          </a:prstGeom>
          <a:ln w="25400">
            <a:solidFill>
              <a:srgbClr val="C8A45C"/>
            </a:solidFill>
            <a:prstDash val="solid"/>
          </a:ln>
        </p:spPr>
        <p:txBody>
          <a:bodyPr/>
          <a:p/>
        </p:txBody>
      </p:sp>
      <p:pic>
        <p:nvPicPr>
          <p:cNvPr id="20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057275" y="1819275"/>
            <a:ext cx="304800" cy="304800"/>
          </a:xfrm>
          <a:prstGeom prst="rect">
            <a:avLst/>
          </a:prstGeom>
          <a:ln/>
        </p:spPr>
      </p:pic>
      <p:sp>
        <p:nvSpPr>
          <p:cNvPr id="202" name=""/>
          <p:cNvSpPr/>
          <p:nvPr/>
        </p:nvSpPr>
        <p:spPr>
          <a:xfrm rot="0" flipH="0" flipV="0">
            <a:off x="1676400" y="1781175"/>
            <a:ext cx="28575" cy="381000"/>
          </a:xfrm>
          <a:prstGeom prst="rect">
            <a:avLst/>
          </a:prstGeom>
          <a:solidFill>
            <a:srgbClr val="C8A45C"/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1876425" y="1847850"/>
            <a:ext cx="1619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spc="375">
                <a:solidFill>
                  <a:srgbClr val="C8A45C"/>
                </a:solidFill>
                <a:latin typeface="Microsoft YaHei"/>
                <a:ea typeface="Microsoft YaHei"/>
              </a:rPr>
              <a:t>CASE FLOW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914400" y="2743200"/>
            <a:ext cx="8382000" cy="895350"/>
          </a:xfrm>
          <a:prstGeom prst="rect"/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zh-CN" sz="4800" b="1" spc="150">
                <a:solidFill>
                  <a:srgbClr val="FFFFFF"/>
                </a:solidFill>
                <a:latin typeface="Microsoft YaHei"/>
                <a:ea typeface="Microsoft YaHei"/>
              </a:rPr>
              <a:t>让每一件案子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914400" y="3638550"/>
            <a:ext cx="8382000" cy="895350"/>
          </a:xfrm>
          <a:prstGeom prst="rect"/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zh-CN" sz="4800" b="1" spc="150">
                <a:solidFill>
                  <a:srgbClr val="FFFFFF"/>
                </a:solidFill>
                <a:latin typeface="Microsoft YaHei"/>
                <a:ea typeface="Microsoft YaHei"/>
              </a:rPr>
              <a:t>都办得有据可查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914400" y="4819650"/>
            <a:ext cx="1524000" cy="57150"/>
          </a:xfrm>
          <a:prstGeom prst="rect">
            <a:avLst/>
          </a:prstGeom>
          <a:solidFill>
            <a:srgbClr val="C8A45C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914400" y="5124450"/>
            <a:ext cx="8382000" cy="4476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800">
                <a:solidFill>
                  <a:srgbClr val="C9D6E8"/>
                </a:solidFill>
                <a:latin typeface="Microsoft YaHei"/>
                <a:ea typeface="Microsoft YaHei"/>
              </a:rPr>
              <a:t>收得进</a:t>
            </a:r>
            <a:r>
              <a:rPr lang="en-US" sz="1800">
                <a:solidFill>
                  <a:srgbClr val="C9D6E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800">
                <a:solidFill>
                  <a:srgbClr val="C9D6E8"/>
                </a:solidFill>
                <a:latin typeface="Microsoft YaHei"/>
                <a:ea typeface="Microsoft YaHei"/>
              </a:rPr>
              <a:t>派得准</a:t>
            </a:r>
            <a:r>
              <a:rPr lang="en-US" sz="1800">
                <a:solidFill>
                  <a:srgbClr val="C9D6E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800">
                <a:solidFill>
                  <a:srgbClr val="C9D6E8"/>
                </a:solidFill>
                <a:latin typeface="Microsoft YaHei"/>
                <a:ea typeface="Microsoft YaHei"/>
              </a:rPr>
              <a:t>盯得住</a:t>
            </a:r>
            <a:r>
              <a:rPr lang="en-US" sz="1800">
                <a:solidFill>
                  <a:srgbClr val="C9D6E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800">
                <a:solidFill>
                  <a:srgbClr val="C9D6E8"/>
                </a:solidFill>
                <a:latin typeface="Microsoft YaHei"/>
                <a:ea typeface="Microsoft YaHei"/>
              </a:rPr>
              <a:t>结得清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914400" y="5429250"/>
            <a:ext cx="3286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案件指派系统　·　功能汇报与使用讲解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914400" y="5753100"/>
            <a:ext cx="3286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A94A6"/>
                </a:solidFill>
                <a:latin typeface="Microsoft YaHei"/>
                <a:ea typeface="Microsoft YaHei"/>
              </a:rPr>
              <a:t>案件管理中心　·　演示数据　·　</a:t>
            </a:r>
            <a:r>
              <a:rPr lang="en-US" sz="1200">
                <a:solidFill>
                  <a:srgbClr val="8A94A6"/>
                </a:solidFill>
                <a:latin typeface="Microsoft YaHei"/>
                <a:ea typeface="Microsoft YaHei"/>
              </a:rPr>
              <a:t>2026-10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10115550" y="57721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94A6"/>
                </a:solidFill>
                <a:latin typeface="Microsoft YaHei"/>
                <a:ea typeface="Microsoft YaHei"/>
              </a:rPr>
              <a:t>感谢聆听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10820400" y="57816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4A6"/>
                </a:solidFill>
                <a:latin typeface="Microsoft YaHei"/>
                <a:ea typeface="Microsoft YaHei"/>
              </a:rPr>
              <a:t>16 / 16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2026-10-14T12:34:51Z</dcterms:created>
  <dcterms:modified xsi:type="dcterms:W3CDTF">2026-10-14T12:34:51Z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{"AIGC":{"Label":"1","ContentProducer":"00119111010856365494821B355","ProduceID":"01a1389ebb7d757e8574a0674bd81a6e","ReservedCode1":"","ContentPropagator":"00119111010856365494821B355","PropagateID":"01a1389ebb7d757e8574a0674bd81a6e","ReservedCode2":""}}</vt:lpwstr>
  </property>
</Properties>
</file>