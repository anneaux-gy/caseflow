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05750" y="0"/>
            <a:ext cx="2857500" cy="2857500"/>
          </a:xfrm>
          <a:prstGeom prst="ellipse">
            <a:avLst/>
          </a:prstGeom>
          <a:solidFill>
            <a:srgbClr val="1A3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86750" y="381000"/>
            <a:ext cx="2095500" cy="2095500"/>
          </a:xfrm>
          <a:prstGeom prst="ellipse">
            <a:avLst/>
          </a:prstGeom>
          <a:solidFill>
            <a:srgbClr val="22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915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573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545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336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7175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099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805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862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6750" y="1866900"/>
            <a:ext cx="57150" cy="2209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" y="1866900"/>
            <a:ext cx="85725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200" b="1">
                <a:solidFill>
                  <a:srgbClr val="FFFFFF"/>
                </a:solidFill>
                <a:latin typeface="宋体"/>
              </a:rPr>
              <a:t>案件指派系统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3067050"/>
            <a:ext cx="6667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C8A45C"/>
                </a:solidFill>
                <a:latin typeface="Arial"/>
              </a:rPr>
              <a:t>CaseFlow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33800"/>
            <a:ext cx="4629150" cy="5524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" y="3733800"/>
            <a:ext cx="41910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</a:rPr>
              <a:t>技术路线汇报 · 简明版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0600" y="4552950"/>
            <a:ext cx="2247900" cy="40005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4A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600" y="4552950"/>
            <a:ext cx="22479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D6E2F2"/>
                </a:solidFill>
                <a:latin typeface="微软雅黑"/>
              </a:rPr>
              <a:t>汇报对象：技术评审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7100" y="4552950"/>
            <a:ext cx="2247900" cy="40005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4A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67100" y="4552950"/>
            <a:ext cx="22479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D6E2F2"/>
                </a:solidFill>
                <a:latin typeface="微软雅黑"/>
              </a:rPr>
              <a:t>2026 年 10 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4D0"/>
                </a:solidFill>
                <a:latin typeface="微软雅黑"/>
              </a:rPr>
              <a:t>案件指派系统 CaseFlow · 技术路线汇报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4D0"/>
                </a:solidFill>
                <a:latin typeface="Arial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533400"/>
            <a:ext cx="381000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2294A"/>
                </a:solidFill>
                <a:latin typeface="宋体"/>
              </a:rPr>
              <a:t>目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666750" y="1314450"/>
            <a:ext cx="609600" cy="476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50" y="1600200"/>
            <a:ext cx="3467100" cy="1676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50" y="1600200"/>
            <a:ext cx="346710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1943100"/>
            <a:ext cx="34671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5350" y="1600200"/>
            <a:ext cx="3009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　技术路线总览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2209800"/>
            <a:ext cx="3009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五层架构与请求链路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895350" y="2819400"/>
            <a:ext cx="381000" cy="190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5350" y="2914650"/>
            <a:ext cx="3009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929E"/>
                </a:solidFill>
                <a:latin typeface="Arial"/>
              </a:rPr>
              <a:t>P 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2450" y="1600200"/>
            <a:ext cx="3467100" cy="1676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62450" y="1600200"/>
            <a:ext cx="346710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2450" y="1943100"/>
            <a:ext cx="34671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1050" y="1600200"/>
            <a:ext cx="3009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　后端技术栈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1050" y="2209800"/>
            <a:ext cx="3009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框架与数据访问选型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1050" y="2819400"/>
            <a:ext cx="381000" cy="190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1050" y="2914650"/>
            <a:ext cx="3009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929E"/>
                </a:solidFill>
                <a:latin typeface="Arial"/>
              </a:rPr>
              <a:t>P 04 - 05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8150" y="1600200"/>
            <a:ext cx="3467100" cy="1676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58150" y="1600200"/>
            <a:ext cx="346710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8150" y="1943100"/>
            <a:ext cx="34671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86750" y="1600200"/>
            <a:ext cx="3009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　数据库设计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0" y="2209800"/>
            <a:ext cx="3009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17 张表 · 四大域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6750" y="2819400"/>
            <a:ext cx="381000" cy="190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6750" y="2914650"/>
            <a:ext cx="3009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929E"/>
                </a:solidFill>
                <a:latin typeface="Arial"/>
              </a:rPr>
              <a:t>P 06 - 07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50" y="3505200"/>
            <a:ext cx="3467100" cy="1676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6750" y="3505200"/>
            <a:ext cx="346710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6750" y="3848100"/>
            <a:ext cx="34671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5350" y="3505200"/>
            <a:ext cx="3009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　接口与路由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350" y="4114800"/>
            <a:ext cx="3009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12 个控制器 · 两道拦截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5350" y="4724400"/>
            <a:ext cx="381000" cy="190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5350" y="4819650"/>
            <a:ext cx="3009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929E"/>
                </a:solidFill>
                <a:latin typeface="Arial"/>
              </a:rPr>
              <a:t>P 08 - 09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62450" y="3505200"/>
            <a:ext cx="3467100" cy="1676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62450" y="3505200"/>
            <a:ext cx="346710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62450" y="3848100"/>
            <a:ext cx="34671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1050" y="3505200"/>
            <a:ext cx="3009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　实时与权限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1050" y="4114800"/>
            <a:ext cx="3009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SSE 单一埋点 · 角色授权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1050" y="4724400"/>
            <a:ext cx="381000" cy="190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91050" y="4819650"/>
            <a:ext cx="3009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929E"/>
                </a:solidFill>
                <a:latin typeface="Arial"/>
              </a:rPr>
              <a:t>P 10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58150" y="3505200"/>
            <a:ext cx="3467100" cy="1676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58150" y="3505200"/>
            <a:ext cx="346710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58150" y="3848100"/>
            <a:ext cx="34671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6750" y="3505200"/>
            <a:ext cx="3009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　部署与运行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6750" y="4114800"/>
            <a:ext cx="3009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H2 开发 · MySQL 生产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86750" y="4724400"/>
            <a:ext cx="381000" cy="190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86750" y="4819650"/>
            <a:ext cx="3009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929E"/>
                </a:solidFill>
                <a:latin typeface="Arial"/>
              </a:rPr>
              <a:t>P 11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技术路线汇报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495300"/>
            <a:ext cx="10858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技术路线总览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" y="9525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</a:rPr>
              <a:t>一次请求从浏览器到数据库的完整链路，共五层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技术路线汇报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03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66750" y="1428750"/>
            <a:ext cx="6572250" cy="628650"/>
          </a:xfrm>
          <a:prstGeom prst="rect">
            <a:avLst/>
          </a:prstGeom>
          <a:solidFill>
            <a:srgbClr val="E8EFF8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1428750"/>
            <a:ext cx="76200" cy="6286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350" y="150495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94A"/>
                </a:solidFill>
                <a:latin typeface="微软雅黑"/>
              </a:rPr>
              <a:t>表现层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1771650"/>
            <a:ext cx="61150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</a:rPr>
              <a:t>Vue3 + Element Plus + ECharts，纯桌面端内网浏览器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5350" y="2076450"/>
            <a:ext cx="4191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6750" y="2171700"/>
            <a:ext cx="6572250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6750" y="2171700"/>
            <a:ext cx="76200" cy="628650"/>
          </a:xfrm>
          <a:prstGeom prst="rect">
            <a:avLst/>
          </a:prstGeom>
          <a:solidFill>
            <a:srgbClr val="2A5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5350" y="22479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94A"/>
                </a:solidFill>
                <a:latin typeface="微软雅黑"/>
              </a:rPr>
              <a:t>接口层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50" y="2514600"/>
            <a:ext cx="61150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</a:rPr>
              <a:t>REST + JSON，统一 /api 前缀，令牌校验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350" y="2819400"/>
            <a:ext cx="4191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6750" y="2914650"/>
            <a:ext cx="6572250" cy="628650"/>
          </a:xfrm>
          <a:prstGeom prst="rect">
            <a:avLst/>
          </a:prstGeom>
          <a:solidFill>
            <a:srgbClr val="E8EFF8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6750" y="2914650"/>
            <a:ext cx="76200" cy="6286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350" y="299085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94A"/>
                </a:solidFill>
                <a:latin typeface="微软雅黑"/>
              </a:rPr>
              <a:t>业务层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350" y="3257550"/>
            <a:ext cx="61150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</a:rPr>
              <a:t>Spring Boot 2.7 · 23 个 Service 承载全部业务规则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5350" y="3562350"/>
            <a:ext cx="4191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6750" y="3657600"/>
            <a:ext cx="6572250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6750" y="3657600"/>
            <a:ext cx="76200" cy="628650"/>
          </a:xfrm>
          <a:prstGeom prst="rect">
            <a:avLst/>
          </a:prstGeom>
          <a:solidFill>
            <a:srgbClr val="2A5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5350" y="37338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94A"/>
                </a:solidFill>
                <a:latin typeface="微软雅黑"/>
              </a:rPr>
              <a:t>数据访问层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350" y="4000500"/>
            <a:ext cx="61150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</a:rPr>
              <a:t>MyBatis-Plus 3.5.5 · Mapper 与条件构造器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5350" y="4305300"/>
            <a:ext cx="4191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6750" y="4400550"/>
            <a:ext cx="6572250" cy="628650"/>
          </a:xfrm>
          <a:prstGeom prst="rect">
            <a:avLst/>
          </a:prstGeom>
          <a:solidFill>
            <a:srgbClr val="E8EFF8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6750" y="4400550"/>
            <a:ext cx="76200" cy="6286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5350" y="447675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94A"/>
                </a:solidFill>
                <a:latin typeface="微软雅黑"/>
              </a:rPr>
              <a:t>数据层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350" y="4743450"/>
            <a:ext cx="61150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</a:rPr>
              <a:t>H2 文件库（开发）/ MySQL 8（生产）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24750" y="1428750"/>
            <a:ext cx="4000500" cy="360045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1638300"/>
            <a:ext cx="3505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/>
              </a:rPr>
              <a:t>一次请求经过的五道关卡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0" y="205740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2247900"/>
            <a:ext cx="35052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8A45C"/>
                </a:solidFill>
                <a:latin typeface="微软雅黑"/>
              </a:rPr>
              <a:t>① 路由守卫　</a:t>
            </a:r>
            <a:r>
              <a:rPr sz="1700" b="0">
                <a:solidFill>
                  <a:srgbClr val="E4ECF6"/>
                </a:solidFill>
                <a:latin typeface="微软雅黑"/>
              </a:rPr>
              <a:t>未登录跳登录页</a:t>
            </a:r>
            <a:r>
              <a:rPr sz="1700" b="1">
                <a:solidFill>
                  <a:srgbClr val="C8A45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C8A45C"/>
                </a:solidFill>
                <a:latin typeface="微软雅黑"/>
              </a:rPr>
              <a:t>② 令牌校验　</a:t>
            </a:r>
            <a:r>
              <a:rPr sz="1700" b="0">
                <a:solidFill>
                  <a:srgbClr val="E4ECF6"/>
                </a:solidFill>
                <a:latin typeface="微软雅黑"/>
              </a:rPr>
              <a:t>解析核对登录状态</a:t>
            </a:r>
            <a:r>
              <a:rPr sz="1700" b="1">
                <a:solidFill>
                  <a:srgbClr val="C8A45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C8A45C"/>
                </a:solidFill>
                <a:latin typeface="微软雅黑"/>
              </a:rPr>
              <a:t>③ 权限拦截　</a:t>
            </a:r>
            <a:r>
              <a:rPr sz="1700" b="0">
                <a:solidFill>
                  <a:srgbClr val="E4ECF6"/>
                </a:solidFill>
                <a:latin typeface="微软雅黑"/>
              </a:rPr>
              <a:t>管理层专属接口</a:t>
            </a:r>
            <a:r>
              <a:rPr sz="1700" b="1">
                <a:solidFill>
                  <a:srgbClr val="C8A45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C8A45C"/>
                </a:solidFill>
                <a:latin typeface="微软雅黑"/>
              </a:rPr>
              <a:t>④ 业务校验　</a:t>
            </a:r>
            <a:r>
              <a:rPr sz="1700" b="0">
                <a:solidFill>
                  <a:srgbClr val="E4ECF6"/>
                </a:solidFill>
                <a:latin typeface="微软雅黑"/>
              </a:rPr>
              <a:t>服务层细粒度权限</a:t>
            </a:r>
            <a:r>
              <a:rPr sz="1700" b="1">
                <a:solidFill>
                  <a:srgbClr val="C8A45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C8A45C"/>
                </a:solidFill>
                <a:latin typeface="微软雅黑"/>
              </a:rPr>
              <a:t>⑤ 落库广播　</a:t>
            </a:r>
            <a:r>
              <a:rPr sz="1700" b="0">
                <a:solidFill>
                  <a:srgbClr val="E4ECF6"/>
                </a:solidFill>
                <a:latin typeface="微软雅黑"/>
              </a:rPr>
              <a:t>写日志发通知推实时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495300"/>
            <a:ext cx="10858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后端技术栈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" y="9525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</a:rPr>
              <a:t>选型原则：内网环境兼容性优先，稳定压过新特性 —— JDK 8 + Spring Boot 2.x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技术路线汇报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04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50" y="1428750"/>
            <a:ext cx="5314950" cy="209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50" y="142875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177165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350" y="142875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运行底座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2038350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A8C"/>
                </a:solidFill>
                <a:latin typeface="微软雅黑"/>
              </a:rPr>
              <a:t>JDK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1.8（内网服务器环境限制）</a:t>
            </a:r>
            <a:r>
              <a:rPr sz="19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900" b="1">
                <a:solidFill>
                  <a:srgbClr val="1B4A8C"/>
                </a:solidFill>
                <a:latin typeface="微软雅黑"/>
              </a:rPr>
              <a:t>框架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Spring Boot 2.7.18</a:t>
            </a:r>
            <a:r>
              <a:rPr sz="19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900" b="1">
                <a:solidFill>
                  <a:srgbClr val="1B4A8C"/>
                </a:solidFill>
                <a:latin typeface="微软雅黑"/>
              </a:rPr>
              <a:t>容器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内嵌 Tomcat，端口 8080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300" y="1428750"/>
            <a:ext cx="5314950" cy="209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0300" y="142875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0300" y="177165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8900" y="142875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数据访问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900" y="2038350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A8C"/>
                </a:solidFill>
                <a:latin typeface="微软雅黑"/>
              </a:rPr>
              <a:t>ORM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MyBatis-Plus 3.5.5</a:t>
            </a:r>
            <a:r>
              <a:rPr sz="19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900" b="1">
                <a:solidFill>
                  <a:srgbClr val="1B4A8C"/>
                </a:solidFill>
                <a:latin typeface="微软雅黑"/>
              </a:rPr>
              <a:t>写法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条件构造器 + 少量手写 SQL</a:t>
            </a:r>
            <a:r>
              <a:rPr sz="19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900" b="1">
                <a:solidFill>
                  <a:srgbClr val="1B4A8C"/>
                </a:solidFill>
                <a:latin typeface="微软雅黑"/>
              </a:rPr>
              <a:t>分页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MyBatis-Plus 分页插件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50" y="3714750"/>
            <a:ext cx="5314950" cy="209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6750" y="371475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6750" y="405765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50" y="371475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通用能力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" y="4324350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A8C"/>
                </a:solidFill>
                <a:latin typeface="微软雅黑"/>
              </a:rPr>
              <a:t>口令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spring-security-crypto · BCrypt</a:t>
            </a:r>
            <a:r>
              <a:rPr sz="19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900" b="1">
                <a:solidFill>
                  <a:srgbClr val="1B4A8C"/>
                </a:solidFill>
                <a:latin typeface="微软雅黑"/>
              </a:rPr>
              <a:t>校验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spring-boot-starter-validation</a:t>
            </a:r>
            <a:r>
              <a:rPr sz="19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900" b="1">
                <a:solidFill>
                  <a:srgbClr val="1B4A8C"/>
                </a:solidFill>
                <a:latin typeface="微软雅黑"/>
              </a:rPr>
              <a:t>表格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EasyExcel 3.3.4 导入导出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300" y="3714750"/>
            <a:ext cx="5314950" cy="209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0300" y="371475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0300" y="405765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8900" y="371475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工程规模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8900" y="4324350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A8C"/>
                </a:solidFill>
                <a:latin typeface="微软雅黑"/>
              </a:rPr>
              <a:t>源文件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125 个 Java 文件</a:t>
            </a:r>
            <a:r>
              <a:rPr sz="19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900" b="1">
                <a:solidFill>
                  <a:srgbClr val="1B4A8C"/>
                </a:solidFill>
                <a:latin typeface="微软雅黑"/>
              </a:rPr>
              <a:t>代码量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14,834 行</a:t>
            </a:r>
            <a:r>
              <a:rPr sz="19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900" b="1">
                <a:solidFill>
                  <a:srgbClr val="1B4A8C"/>
                </a:solidFill>
                <a:latin typeface="微软雅黑"/>
              </a:rPr>
              <a:t>结构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12 个控制器 · 23 个服务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750" y="59055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929E"/>
                </a:solidFill>
                <a:latin typeface="微软雅黑"/>
              </a:rPr>
              <a:t>注：Spring Boot 2.x 与 JDK 8 为内网既有环境基线，升级到 3.x 需同步升级 JDK 17，暂不纳入。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495300"/>
            <a:ext cx="10858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前端技术栈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" y="9525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</a:rPr>
              <a:t>Vue3 组合式 API + Element Plus，构建工具 Vite 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技术路线汇报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05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50" y="1428750"/>
            <a:ext cx="5314950" cy="2152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50" y="142875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177165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350" y="142875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核心依赖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2038350"/>
            <a:ext cx="2324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A8C"/>
                </a:solidFill>
                <a:latin typeface="微软雅黑"/>
              </a:rPr>
              <a:t>Vue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3.4 组合式 API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Element Plus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2.6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Pinia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2.1 状态管理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Vite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5.2 构建热更新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8050" y="2038350"/>
            <a:ext cx="23241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A8C"/>
                </a:solidFill>
                <a:latin typeface="微软雅黑"/>
              </a:rPr>
              <a:t>ECharts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5.5.1 图表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axios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1.6 请求封装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dayjs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日期期限计算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SortableJS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拖拽排序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300" y="1428750"/>
            <a:ext cx="5314950" cy="2152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0300" y="142875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300" y="177165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8900" y="142875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工程约定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8900" y="2038350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A8C"/>
                </a:solidFill>
                <a:latin typeface="微软雅黑"/>
              </a:rPr>
              <a:t>规模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33 个视图与组件 · 11,262 行</a:t>
            </a:r>
            <a:r>
              <a:rPr sz="19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900" b="1">
                <a:solidFill>
                  <a:srgbClr val="1B4A8C"/>
                </a:solidFill>
                <a:latin typeface="微软雅黑"/>
              </a:rPr>
              <a:t>状态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跨组件计数与状态一律放 Pinia</a:t>
            </a:r>
            <a:r>
              <a:rPr sz="19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900" b="1">
                <a:solidFill>
                  <a:srgbClr val="1B4A8C"/>
                </a:solidFill>
                <a:latin typeface="微软雅黑"/>
              </a:rPr>
              <a:t>图表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统一 EChart.vue 封装 + 统一主题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50" y="3848100"/>
            <a:ext cx="10858500" cy="22288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6750" y="3848100"/>
            <a:ext cx="1085850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6750" y="4191000"/>
            <a:ext cx="108585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350" y="3848100"/>
            <a:ext cx="104013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三条硬约定（改代码前必读）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4457700"/>
            <a:ext cx="1040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A8C"/>
                </a:solidFill>
                <a:latin typeface="微软雅黑"/>
              </a:rPr>
              <a:t>图表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新增图表类型必须先在 EChart.vue 注册，否则静默不渲染、零报错</a:t>
            </a:r>
            <a:r>
              <a:rPr sz="19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900" b="1">
                <a:solidFill>
                  <a:srgbClr val="1B4A8C"/>
                </a:solidFill>
                <a:latin typeface="微软雅黑"/>
              </a:rPr>
              <a:t>加字段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统一走 SchemaMigration.NEW_COLUMNS，schema.sql 的建表语句不补列</a:t>
            </a:r>
            <a:r>
              <a:rPr sz="19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900" b="1">
                <a:solidFill>
                  <a:srgbClr val="1B4A8C"/>
                </a:solidFill>
                <a:latin typeface="微软雅黑"/>
              </a:rPr>
              <a:t>双副本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resources/sql 与 app/sql 两份 schema.sql 必须同步改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495300"/>
            <a:ext cx="10858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数据库设计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" y="9525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</a:rPr>
              <a:t>17 张表分四大域；建表走 schema.sql，存量库补列走 SchemaMigration（MySQL 的 ALTER 不支持 IF EXISTS）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技术路线汇报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06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50" y="1428750"/>
            <a:ext cx="5314950" cy="2190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50" y="142875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177165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350" y="142875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域一　组织与账号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2038350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A8C"/>
                </a:solidFill>
                <a:latin typeface="微软雅黑"/>
              </a:rPr>
              <a:t>sys_user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账号、角色、审核状态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org_employee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员工档案、部门、组织层级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300" y="1428750"/>
            <a:ext cx="5314950" cy="2190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0300" y="142875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0300" y="177165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8900" y="142875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域二　案件主体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900" y="2038350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A8C"/>
                </a:solidFill>
                <a:latin typeface="微软雅黑"/>
              </a:rPr>
              <a:t>case_info / case_assignee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案件本体与承办协办人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case_file / case_suspect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附件与涉案人员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case_category / case_plan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类别与流程任务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case_approval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审批记录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50" y="3810000"/>
            <a:ext cx="5314950" cy="2190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6750" y="381000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6750" y="415290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50" y="381000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域三　待办与意见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" y="4419600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A8C"/>
                </a:solidFill>
                <a:latin typeface="微软雅黑"/>
              </a:rPr>
              <a:t>case_todo / case_todo_feedback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两级待办与累积反馈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case_leader_opinion / case_question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领导意见与疑问问答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case_opinion_read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意见已读（登录人维度）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300" y="3810000"/>
            <a:ext cx="5314950" cy="2190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0300" y="381000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0300" y="415290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8900" y="381000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域四　追溯与通知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8900" y="4419600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A8C"/>
                </a:solidFill>
                <a:latin typeface="微软雅黑"/>
              </a:rPr>
              <a:t>operation_log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操作日志与双快照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case_notification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统一信箱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case_progress_comment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进展说明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495300"/>
            <a:ext cx="10858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三张核心表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" y="9525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</a:rPr>
              <a:t>看懂这三张表，就看懂了系统的主干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技术路线汇报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07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50" y="1428750"/>
            <a:ext cx="346710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50" y="1428750"/>
            <a:ext cx="346710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1771650"/>
            <a:ext cx="34671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350" y="1428750"/>
            <a:ext cx="3009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案件主体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000250"/>
            <a:ext cx="304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929E"/>
                </a:solidFill>
                <a:latin typeface="Arial"/>
              </a:rPr>
              <a:t>case_info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30505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4A8C"/>
                </a:solidFill>
                <a:latin typeface="微软雅黑"/>
              </a:rPr>
              <a:t>flow_stage　</a:t>
            </a:r>
            <a:r>
              <a:rPr sz="1600" b="0">
                <a:solidFill>
                  <a:srgbClr val="1B2430"/>
                </a:solidFill>
                <a:latin typeface="微软雅黑"/>
              </a:rPr>
              <a:t>流程阶段四态</a:t>
            </a:r>
            <a:r>
              <a:rPr sz="16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600" b="1">
                <a:solidFill>
                  <a:srgbClr val="1B4A8C"/>
                </a:solidFill>
                <a:latin typeface="微软雅黑"/>
              </a:rPr>
              <a:t>status　</a:t>
            </a:r>
            <a:r>
              <a:rPr sz="1600" b="0">
                <a:solidFill>
                  <a:srgbClr val="1B2430"/>
                </a:solidFill>
                <a:latin typeface="微软雅黑"/>
              </a:rPr>
              <a:t>状态与办结标记</a:t>
            </a:r>
            <a:r>
              <a:rPr sz="16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600" b="1">
                <a:solidFill>
                  <a:srgbClr val="1B4A8C"/>
                </a:solidFill>
                <a:latin typeface="微软雅黑"/>
              </a:rPr>
              <a:t>assignee　</a:t>
            </a:r>
            <a:r>
              <a:rPr sz="1600" b="0">
                <a:solidFill>
                  <a:srgbClr val="1B2430"/>
                </a:solidFill>
                <a:latin typeface="微软雅黑"/>
              </a:rPr>
              <a:t>主办协办分离</a:t>
            </a:r>
            <a:r>
              <a:rPr sz="16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600" b="1">
                <a:solidFill>
                  <a:srgbClr val="1B4A8C"/>
                </a:solidFill>
                <a:latin typeface="微软雅黑"/>
              </a:rPr>
              <a:t>期限　</a:t>
            </a:r>
            <a:r>
              <a:rPr sz="1600" b="0">
                <a:solidFill>
                  <a:srgbClr val="1B2430"/>
                </a:solidFill>
                <a:latin typeface="微软雅黑"/>
              </a:rPr>
              <a:t>驱动到期提醒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2450" y="1428750"/>
            <a:ext cx="346710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62450" y="1428750"/>
            <a:ext cx="346710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2450" y="1771650"/>
            <a:ext cx="34671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1050" y="1428750"/>
            <a:ext cx="3009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待办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000250"/>
            <a:ext cx="304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929E"/>
                </a:solidFill>
                <a:latin typeface="Arial"/>
              </a:rPr>
              <a:t>case_todo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30505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4A8C"/>
                </a:solidFill>
                <a:latin typeface="微软雅黑"/>
              </a:rPr>
              <a:t>parent_id　</a:t>
            </a:r>
            <a:r>
              <a:rPr sz="1600" b="0">
                <a:solidFill>
                  <a:srgbClr val="1B2430"/>
                </a:solidFill>
                <a:latin typeface="微软雅黑"/>
              </a:rPr>
              <a:t>两级主子任务</a:t>
            </a:r>
            <a:r>
              <a:rPr sz="16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600" b="1">
                <a:solidFill>
                  <a:srgbClr val="1B4A8C"/>
                </a:solidFill>
                <a:latin typeface="微软雅黑"/>
              </a:rPr>
              <a:t>opinion_id　</a:t>
            </a:r>
            <a:r>
              <a:rPr sz="1600" b="0">
                <a:solidFill>
                  <a:srgbClr val="1B2430"/>
                </a:solidFill>
                <a:latin typeface="微软雅黑"/>
              </a:rPr>
              <a:t>由意见派生</a:t>
            </a:r>
            <a:r>
              <a:rPr sz="16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600" b="1">
                <a:solidFill>
                  <a:srgbClr val="1B4A8C"/>
                </a:solidFill>
                <a:latin typeface="微软雅黑"/>
              </a:rPr>
              <a:t>status　</a:t>
            </a:r>
            <a:r>
              <a:rPr sz="1600" b="0">
                <a:solidFill>
                  <a:srgbClr val="1B2430"/>
                </a:solidFill>
                <a:latin typeface="微软雅黑"/>
              </a:rPr>
              <a:t>落实状态校验</a:t>
            </a:r>
            <a:r>
              <a:rPr sz="16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600" b="1">
                <a:solidFill>
                  <a:srgbClr val="1B4A8C"/>
                </a:solidFill>
                <a:latin typeface="微软雅黑"/>
              </a:rPr>
              <a:t>due_date　</a:t>
            </a:r>
            <a:r>
              <a:rPr sz="1600" b="0">
                <a:solidFill>
                  <a:srgbClr val="1B2430"/>
                </a:solidFill>
                <a:latin typeface="微软雅黑"/>
              </a:rPr>
              <a:t>待办级期限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58150" y="1428750"/>
            <a:ext cx="346710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58150" y="1428750"/>
            <a:ext cx="346710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58150" y="1771650"/>
            <a:ext cx="34671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6750" y="1428750"/>
            <a:ext cx="3009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操作日志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7700" y="2000250"/>
            <a:ext cx="304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929E"/>
                </a:solidFill>
                <a:latin typeface="Arial"/>
              </a:rPr>
              <a:t>operation_log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7700" y="230505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4A8C"/>
                </a:solidFill>
                <a:latin typeface="微软雅黑"/>
              </a:rPr>
              <a:t>snapshot_before　</a:t>
            </a:r>
            <a:r>
              <a:rPr sz="1600" b="0">
                <a:solidFill>
                  <a:srgbClr val="1B2430"/>
                </a:solidFill>
                <a:latin typeface="微软雅黑"/>
              </a:rPr>
              <a:t>写前快照</a:t>
            </a:r>
            <a:r>
              <a:rPr sz="16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600" b="1">
                <a:solidFill>
                  <a:srgbClr val="1B4A8C"/>
                </a:solidFill>
                <a:latin typeface="微软雅黑"/>
              </a:rPr>
              <a:t>snapshot_after　</a:t>
            </a:r>
            <a:r>
              <a:rPr sz="1600" b="0">
                <a:solidFill>
                  <a:srgbClr val="1B2430"/>
                </a:solidFill>
                <a:latin typeface="微软雅黑"/>
              </a:rPr>
              <a:t>写后快照</a:t>
            </a:r>
            <a:r>
              <a:rPr sz="16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600" b="1">
                <a:solidFill>
                  <a:srgbClr val="1B4A8C"/>
                </a:solidFill>
                <a:latin typeface="微软雅黑"/>
              </a:rPr>
              <a:t>undone　</a:t>
            </a:r>
            <a:r>
              <a:rPr sz="1600" b="0">
                <a:solidFill>
                  <a:srgbClr val="1B2430"/>
                </a:solidFill>
                <a:latin typeface="微软雅黑"/>
              </a:rPr>
              <a:t>已撤回标记</a:t>
            </a:r>
            <a:r>
              <a:rPr sz="16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600" b="1">
                <a:solidFill>
                  <a:srgbClr val="1B4A8C"/>
                </a:solidFill>
                <a:latin typeface="微软雅黑"/>
              </a:rPr>
              <a:t>undo_of　</a:t>
            </a:r>
            <a:r>
              <a:rPr sz="1600" b="0">
                <a:solidFill>
                  <a:srgbClr val="1B2430"/>
                </a:solidFill>
                <a:latin typeface="微软雅黑"/>
              </a:rPr>
              <a:t>指向原日志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50" y="4552950"/>
            <a:ext cx="10858500" cy="15240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762500"/>
            <a:ext cx="10363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/>
              </a:rPr>
              <a:t>撤回机制：一次写操作前后各存一份完整快照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516255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295900"/>
            <a:ext cx="103632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9CBE4"/>
                </a:solidFill>
                <a:latin typeface="微软雅黑"/>
              </a:rPr>
              <a:t>撤回 = 把写前快照原样写回；撤回动作本身也记一条日志，再撤一次即重做。仅案件类可撤，且必须是该案件最新一条。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495300"/>
            <a:ext cx="10858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接口与路由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" y="9525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</a:rPr>
              <a:t>统一 /api 前缀 · 12 个控制器 · 两道拦截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技术路线汇报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08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50" y="1428750"/>
            <a:ext cx="5314950" cy="2838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50" y="142875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177165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350" y="142875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控制器清单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2038350"/>
            <a:ext cx="2247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A8C"/>
                </a:solidFill>
                <a:latin typeface="微软雅黑"/>
              </a:rPr>
              <a:t>Auth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登录注册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Case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案件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Category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类别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Employee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员工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Event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实时流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File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附件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8050" y="2038350"/>
            <a:ext cx="2247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A8C"/>
                </a:solidFill>
                <a:latin typeface="微软雅黑"/>
              </a:rPr>
              <a:t>Log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操作日志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Notification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通知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Question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疑问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Todo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待办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User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账号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Watch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盯办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50" y="4381500"/>
            <a:ext cx="5314950" cy="1695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6750" y="438150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6750" y="472440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5350" y="438150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统一约定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50" y="4991100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A8C"/>
                </a:solidFill>
                <a:latin typeface="微软雅黑"/>
              </a:rPr>
              <a:t>前缀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统一 /api，网关与前端同源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响应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统一 JSON 结构与异常处理</a:t>
            </a:r>
            <a:r>
              <a:rPr sz="17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700" b="1">
                <a:solidFill>
                  <a:srgbClr val="1B4A8C"/>
                </a:solidFill>
                <a:latin typeface="微软雅黑"/>
              </a:rPr>
              <a:t>规模　</a:t>
            </a:r>
            <a:r>
              <a:rPr sz="1700" b="0">
                <a:solidFill>
                  <a:srgbClr val="1B2430"/>
                </a:solidFill>
                <a:latin typeface="微软雅黑"/>
              </a:rPr>
              <a:t>132 处接口映射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300" y="1428750"/>
            <a:ext cx="531495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0300" y="142875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300" y="177165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8900" y="142875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两道拦截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8900" y="2038350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A8C"/>
                </a:solidFill>
                <a:latin typeface="微软雅黑"/>
              </a:rPr>
              <a:t>第一道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LoginInterceptor：请求头优先、query 令牌兜底</a:t>
            </a:r>
            <a:r>
              <a:rPr sz="18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800" b="1">
                <a:solidFill>
                  <a:srgbClr val="1B4A8C"/>
                </a:solidFill>
                <a:latin typeface="微软雅黑"/>
              </a:rPr>
              <a:t>第二道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PermissionInterceptor：注解方法管理层专属</a:t>
            </a:r>
            <a:r>
              <a:rPr sz="18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800" b="1">
                <a:solidFill>
                  <a:srgbClr val="1B4A8C"/>
                </a:solidFill>
                <a:latin typeface="微软雅黑"/>
              </a:rPr>
              <a:t>覆盖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@FullAccessOnly 共 32 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0300" y="3905250"/>
            <a:ext cx="5314950" cy="21717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0300" y="390525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0300" y="424815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8900" y="390525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分层授权惯例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8900" y="4514850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A8C"/>
                </a:solidFill>
                <a:latin typeface="微软雅黑"/>
              </a:rPr>
              <a:t>主任务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领导定的清单，仅管理层可改</a:t>
            </a:r>
            <a:r>
              <a:rPr sz="18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800" b="1">
                <a:solidFill>
                  <a:srgbClr val="1B4A8C"/>
                </a:solidFill>
                <a:latin typeface="微软雅黑"/>
              </a:rPr>
              <a:t>子任务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承办人自己拆的，承办人即可</a:t>
            </a:r>
            <a:r>
              <a:rPr sz="18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800" b="1">
                <a:solidFill>
                  <a:srgbClr val="1B4A8C"/>
                </a:solidFill>
                <a:latin typeface="微软雅黑"/>
              </a:rPr>
              <a:t>要点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注解在方法执行前拦截，写在服务层无效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495300"/>
            <a:ext cx="10858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前端页面与路由守卫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" y="9525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</a:rPr>
              <a:t>13 个视图 · 6 个状态仓库 · 三条守卫规则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技术路线汇报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09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50" y="1428750"/>
            <a:ext cx="5314950" cy="31813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50" y="142875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177165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350" y="142875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页面清单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2038350"/>
            <a:ext cx="2247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B2430"/>
                </a:solidFill>
                <a:latin typeface="微软雅黑"/>
              </a:rPr>
              <a:t>我的案件</a:t>
            </a:r>
            <a:r>
              <a:rPr sz="1700" b="0">
                <a:solidFill>
                  <a:srgbClr val="1B2430"/>
                </a:solidFill>
                <a:latin typeface="微软雅黑"/>
              </a:rPr>
              <a:t/>
            </a:r>
            <a:br/>
            <a:r>
              <a:rPr sz="1700" b="0">
                <a:solidFill>
                  <a:srgbClr val="1B2430"/>
                </a:solidFill>
                <a:latin typeface="微软雅黑"/>
              </a:rPr>
              <a:t>我的待办</a:t>
            </a:r>
            <a:r>
              <a:rPr sz="1700" b="0">
                <a:solidFill>
                  <a:srgbClr val="1B2430"/>
                </a:solidFill>
                <a:latin typeface="微软雅黑"/>
              </a:rPr>
              <a:t/>
            </a:r>
            <a:br/>
            <a:r>
              <a:rPr sz="1700" b="0">
                <a:solidFill>
                  <a:srgbClr val="1B2430"/>
                </a:solidFill>
                <a:latin typeface="微软雅黑"/>
              </a:rPr>
              <a:t>工作台</a:t>
            </a:r>
            <a:r>
              <a:rPr sz="1700" b="0">
                <a:solidFill>
                  <a:srgbClr val="1B2430"/>
                </a:solidFill>
                <a:latin typeface="微软雅黑"/>
              </a:rPr>
              <a:t/>
            </a:r>
            <a:br/>
            <a:r>
              <a:rPr sz="1700" b="0">
                <a:solidFill>
                  <a:srgbClr val="1B2430"/>
                </a:solidFill>
                <a:latin typeface="微软雅黑"/>
              </a:rPr>
              <a:t>案件管理</a:t>
            </a:r>
            <a:r>
              <a:rPr sz="1700" b="0">
                <a:solidFill>
                  <a:srgbClr val="1B2430"/>
                </a:solidFill>
                <a:latin typeface="微软雅黑"/>
              </a:rPr>
              <a:t/>
            </a:r>
            <a:br/>
            <a:r>
              <a:rPr sz="1700" b="0">
                <a:solidFill>
                  <a:srgbClr val="1B2430"/>
                </a:solidFill>
                <a:latin typeface="微软雅黑"/>
              </a:rPr>
              <a:t>到期提醒</a:t>
            </a:r>
            <a:r>
              <a:rPr sz="1700" b="0">
                <a:solidFill>
                  <a:srgbClr val="1B2430"/>
                </a:solidFill>
                <a:latin typeface="微软雅黑"/>
              </a:rPr>
              <a:t/>
            </a:r>
            <a:br/>
            <a:r>
              <a:rPr sz="1700" b="0">
                <a:solidFill>
                  <a:srgbClr val="1B2430"/>
                </a:solidFill>
                <a:latin typeface="微软雅黑"/>
              </a:rPr>
              <a:t>员工图谱</a:t>
            </a:r>
            <a:r>
              <a:rPr sz="1700" b="0">
                <a:solidFill>
                  <a:srgbClr val="1B2430"/>
                </a:solidFill>
                <a:latin typeface="微软雅黑"/>
              </a:rPr>
              <a:t/>
            </a:r>
            <a:br/>
            <a:r>
              <a:rPr sz="1700" b="0">
                <a:solidFill>
                  <a:srgbClr val="1B2430"/>
                </a:solidFill>
                <a:latin typeface="微软雅黑"/>
              </a:rPr>
              <a:t>案件盯办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8050" y="2038350"/>
            <a:ext cx="2247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B2430"/>
                </a:solidFill>
                <a:latin typeface="微软雅黑"/>
              </a:rPr>
              <a:t>待办总览</a:t>
            </a:r>
            <a:r>
              <a:rPr sz="1700" b="0">
                <a:solidFill>
                  <a:srgbClr val="1B2430"/>
                </a:solidFill>
                <a:latin typeface="微软雅黑"/>
              </a:rPr>
              <a:t/>
            </a:r>
            <a:br/>
            <a:r>
              <a:rPr sz="1700" b="0">
                <a:solidFill>
                  <a:srgbClr val="1B2430"/>
                </a:solidFill>
                <a:latin typeface="微软雅黑"/>
              </a:rPr>
              <a:t>账号管理</a:t>
            </a:r>
            <a:r>
              <a:rPr sz="1700" b="0">
                <a:solidFill>
                  <a:srgbClr val="1B2430"/>
                </a:solidFill>
                <a:latin typeface="微软雅黑"/>
              </a:rPr>
              <a:t/>
            </a:r>
            <a:br/>
            <a:r>
              <a:rPr sz="1700" b="0">
                <a:solidFill>
                  <a:srgbClr val="1B2430"/>
                </a:solidFill>
                <a:latin typeface="微软雅黑"/>
              </a:rPr>
              <a:t>类别管理</a:t>
            </a:r>
            <a:r>
              <a:rPr sz="1700" b="0">
                <a:solidFill>
                  <a:srgbClr val="1B2430"/>
                </a:solidFill>
                <a:latin typeface="微软雅黑"/>
              </a:rPr>
              <a:t/>
            </a:r>
            <a:br/>
            <a:r>
              <a:rPr sz="1700" b="0">
                <a:solidFill>
                  <a:srgbClr val="1B2430"/>
                </a:solidFill>
                <a:latin typeface="微软雅黑"/>
              </a:rPr>
              <a:t>选择案件类型</a:t>
            </a:r>
            <a:r>
              <a:rPr sz="1700" b="0">
                <a:solidFill>
                  <a:srgbClr val="1B2430"/>
                </a:solidFill>
                <a:latin typeface="微软雅黑"/>
              </a:rPr>
              <a:t/>
            </a:r>
            <a:br/>
            <a:r>
              <a:rPr sz="1700" b="0">
                <a:solidFill>
                  <a:srgbClr val="1B2430"/>
                </a:solidFill>
                <a:latin typeface="微软雅黑"/>
              </a:rPr>
              <a:t>登录</a:t>
            </a:r>
            <a:r>
              <a:rPr sz="1700" b="0">
                <a:solidFill>
                  <a:srgbClr val="1B2430"/>
                </a:solidFill>
                <a:latin typeface="微软雅黑"/>
              </a:rPr>
              <a:t/>
            </a:r>
            <a:br/>
            <a:r>
              <a:rPr sz="1700" b="0">
                <a:solidFill>
                  <a:srgbClr val="1B2430"/>
                </a:solidFill>
                <a:latin typeface="微软雅黑"/>
              </a:rPr>
              <a:t>注册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50" y="4800600"/>
            <a:ext cx="5314950" cy="12763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6750" y="480060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6750" y="514350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5350" y="480060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状态仓库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50" y="5410200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user · events · caseType · category · myTodo · pending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0300" y="1428750"/>
            <a:ext cx="5314950" cy="2095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0300" y="142875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300" y="177165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8900" y="142875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路由守卫三条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8900" y="2038350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A8C"/>
                </a:solidFill>
                <a:latin typeface="微软雅黑"/>
              </a:rPr>
              <a:t>登录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未登录一律跳登录页</a:t>
            </a:r>
            <a:r>
              <a:rPr sz="18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800" b="1">
                <a:solidFill>
                  <a:srgbClr val="1B4A8C"/>
                </a:solidFill>
                <a:latin typeface="微软雅黑"/>
              </a:rPr>
              <a:t>权限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管理层页面对非管理层拦截</a:t>
            </a:r>
            <a:r>
              <a:rPr sz="18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800" b="1">
                <a:solidFill>
                  <a:srgbClr val="1B4A8C"/>
                </a:solidFill>
                <a:latin typeface="微软雅黑"/>
              </a:rPr>
              <a:t>门控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未选案件类型跳类型选择页</a:t>
            </a:r>
          </a:p>
        </p:txBody>
      </p:sp>
      <p:pic>
        <p:nvPicPr>
          <p:cNvPr id="25" name="Picture 24" descr="ui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3733800"/>
            <a:ext cx="3291840" cy="20574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210300" y="3733800"/>
            <a:ext cx="3291840" cy="2057400"/>
          </a:xfrm>
          <a:prstGeom prst="rect">
            <a:avLst/>
          </a:prstGeom>
          <a:noFill/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0300" y="5905500"/>
            <a:ext cx="53149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A929E"/>
                </a:solidFill>
                <a:latin typeface="微软雅黑"/>
              </a:rPr>
              <a:t>系统工作台实拍：待办、期限与统计一屏可见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495300"/>
            <a:ext cx="10858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实时推送与权限模型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" y="9525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</a:rPr>
              <a:t>全站埋点只有一个汇聚点：写日志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技术路线汇报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10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50" y="1428750"/>
            <a:ext cx="203454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50" y="1428750"/>
            <a:ext cx="2034540" cy="57150"/>
          </a:xfrm>
          <a:prstGeom prst="roundRect">
            <a:avLst>
              <a:gd name="adj" fmla="val 5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150" y="1600200"/>
            <a:ext cx="17297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业务写操作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1885950"/>
            <a:ext cx="17297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微软雅黑"/>
              </a:rPr>
              <a:t>服务层落库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20340" y="1828800"/>
            <a:ext cx="133350" cy="133350"/>
          </a:xfrm>
          <a:prstGeom prst="rightArrow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72740" y="1428750"/>
            <a:ext cx="203454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72740" y="1428750"/>
            <a:ext cx="2034540" cy="57150"/>
          </a:xfrm>
          <a:prstGeom prst="roundRect">
            <a:avLst>
              <a:gd name="adj" fmla="val 5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25140" y="1600200"/>
            <a:ext cx="17297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统一埋点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5140" y="1885950"/>
            <a:ext cx="17297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微软雅黑"/>
              </a:rPr>
              <a:t>LogService.log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26330" y="1828800"/>
            <a:ext cx="133350" cy="133350"/>
          </a:xfrm>
          <a:prstGeom prst="rightArrow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78730" y="1428750"/>
            <a:ext cx="203454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78730" y="1428750"/>
            <a:ext cx="2034540" cy="57150"/>
          </a:xfrm>
          <a:prstGeom prst="roundRect">
            <a:avLst>
              <a:gd name="adj" fmla="val 5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31130" y="1600200"/>
            <a:ext cx="17297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广播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1130" y="1885950"/>
            <a:ext cx="17297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微软雅黑"/>
              </a:rPr>
              <a:t>SseHub 推送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132320" y="1828800"/>
            <a:ext cx="133350" cy="133350"/>
          </a:xfrm>
          <a:prstGeom prst="rightArrow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84720" y="1428750"/>
            <a:ext cx="203454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84720" y="1428750"/>
            <a:ext cx="2034540" cy="57150"/>
          </a:xfrm>
          <a:prstGeom prst="roundRect">
            <a:avLst>
              <a:gd name="adj" fmla="val 5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37120" y="1600200"/>
            <a:ext cx="17297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前端订阅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7120" y="1885950"/>
            <a:ext cx="17297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微软雅黑"/>
              </a:rPr>
              <a:t>store/events.js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338310" y="1828800"/>
            <a:ext cx="133350" cy="133350"/>
          </a:xfrm>
          <a:prstGeom prst="rightArrow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90710" y="1428750"/>
            <a:ext cx="203454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90710" y="1428750"/>
            <a:ext cx="2034540" cy="57150"/>
          </a:xfrm>
          <a:prstGeom prst="roundRect">
            <a:avLst>
              <a:gd name="adj" fmla="val 5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3110" y="1600200"/>
            <a:ext cx="17297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页面刷新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3110" y="1885950"/>
            <a:ext cx="172974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微软雅黑"/>
              </a:rPr>
              <a:t>局部重取数据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6750" y="2686050"/>
            <a:ext cx="53149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6750" y="268605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6750" y="302895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5350" y="268605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角色体系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5350" y="3295650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A8C"/>
                </a:solidFill>
                <a:latin typeface="微软雅黑"/>
              </a:rPr>
              <a:t>全权限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局长 · 大队长 · 副大队长 · 法制员</a:t>
            </a:r>
            <a:r>
              <a:rPr sz="19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900" b="1">
                <a:solidFill>
                  <a:srgbClr val="1B4A8C"/>
                </a:solidFill>
                <a:latin typeface="微软雅黑"/>
              </a:rPr>
              <a:t>受限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民警：仅本人相关与公开栏目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0300" y="2686050"/>
            <a:ext cx="53149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10300" y="2686050"/>
            <a:ext cx="53149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0300" y="3028950"/>
            <a:ext cx="53149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38900" y="2686050"/>
            <a:ext cx="4857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通知分发口径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8900" y="3295650"/>
            <a:ext cx="485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4A8C"/>
                </a:solidFill>
                <a:latin typeface="微软雅黑"/>
              </a:rPr>
              <a:t>普通用户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本案在办的承办人与协办人</a:t>
            </a:r>
            <a:r>
              <a:rPr sz="19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900" b="1">
                <a:solidFill>
                  <a:srgbClr val="1B4A8C"/>
                </a:solidFill>
                <a:latin typeface="微软雅黑"/>
              </a:rPr>
              <a:t>管理层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全站所有用户（除自己）</a:t>
            </a:r>
            <a:r>
              <a:rPr sz="19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900" b="1">
                <a:solidFill>
                  <a:srgbClr val="1B4A8C"/>
                </a:solidFill>
                <a:latin typeface="微软雅黑"/>
              </a:rPr>
              <a:t>跳转　</a:t>
            </a:r>
            <a:r>
              <a:rPr sz="1900" b="0">
                <a:solidFill>
                  <a:srgbClr val="1B2430"/>
                </a:solidFill>
                <a:latin typeface="微软雅黑"/>
              </a:rPr>
              <a:t>带锚点精确定位并高亮目标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6750" y="4781550"/>
            <a:ext cx="10858500" cy="12954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972050"/>
            <a:ext cx="10363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为什么埋点只有一处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535305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467350"/>
            <a:ext cx="103632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9CBE4"/>
                </a:solidFill>
                <a:latin typeface="微软雅黑"/>
              </a:rPr>
              <a:t>所有写操作统一走写日志方法，落库后自动触发通知与实时广播，新功能即自动获得三件套能力。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50" y="495300"/>
            <a:ext cx="10858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部署与运行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50" y="9525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</a:rPr>
              <a:t>开发态一键启动，生产态打成一体包走内网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技术路线汇报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11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50" y="1428750"/>
            <a:ext cx="3467100" cy="3143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750" y="1428750"/>
            <a:ext cx="346710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1771650"/>
            <a:ext cx="34671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350" y="1428750"/>
            <a:ext cx="3009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开发环境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03835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A8C"/>
                </a:solidFill>
                <a:latin typeface="微软雅黑"/>
              </a:rPr>
              <a:t>数据库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H2 文件库，零安装</a:t>
            </a:r>
            <a:r>
              <a:rPr sz="18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800" b="1">
                <a:solidFill>
                  <a:srgbClr val="1B4A8C"/>
                </a:solidFill>
                <a:latin typeface="微软雅黑"/>
              </a:rPr>
              <a:t>启动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dev.py 一键拉起</a:t>
            </a:r>
            <a:r>
              <a:rPr sz="18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800" b="1">
                <a:solidFill>
                  <a:srgbClr val="1B4A8C"/>
                </a:solidFill>
                <a:latin typeface="微软雅黑"/>
              </a:rPr>
              <a:t>端口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后端 8080 / 前端 5173</a:t>
            </a:r>
            <a:r>
              <a:rPr sz="18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800" b="1">
                <a:solidFill>
                  <a:srgbClr val="1B4A8C"/>
                </a:solidFill>
                <a:latin typeface="微软雅黑"/>
              </a:rPr>
              <a:t>自检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8 个脚本覆盖核心流程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2450" y="1428750"/>
            <a:ext cx="3467100" cy="3143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62450" y="1428750"/>
            <a:ext cx="346710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2450" y="1771650"/>
            <a:ext cx="34671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1050" y="1428750"/>
            <a:ext cx="3009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生产部署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03835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A8C"/>
                </a:solidFill>
                <a:latin typeface="微软雅黑"/>
              </a:rPr>
              <a:t>数据库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本地 MySQL 8 实例</a:t>
            </a:r>
            <a:r>
              <a:rPr sz="18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800" b="1">
                <a:solidFill>
                  <a:srgbClr val="1B4A8C"/>
                </a:solidFill>
                <a:latin typeface="微软雅黑"/>
              </a:rPr>
              <a:t>打包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dist 打进后端 static</a:t>
            </a:r>
            <a:r>
              <a:rPr sz="18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800" b="1">
                <a:solidFill>
                  <a:srgbClr val="1B4A8C"/>
                </a:solidFill>
                <a:latin typeface="微软雅黑"/>
              </a:rPr>
              <a:t>访问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内网 IP:8080/api</a:t>
            </a:r>
            <a:r>
              <a:rPr sz="18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800" b="1">
                <a:solidFill>
                  <a:srgbClr val="1B4A8C"/>
                </a:solidFill>
                <a:latin typeface="微软雅黑"/>
              </a:rPr>
              <a:t>脚本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防火墙放行 + 二维码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8150" y="1428750"/>
            <a:ext cx="3467100" cy="3143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58150" y="1428750"/>
            <a:ext cx="346710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58150" y="1771650"/>
            <a:ext cx="34671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6750" y="1428750"/>
            <a:ext cx="3009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注意事项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7700" y="2038350"/>
            <a:ext cx="3048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A8C"/>
                </a:solidFill>
                <a:latin typeface="微软雅黑"/>
              </a:rPr>
              <a:t>H2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同时只能一个后端进程</a:t>
            </a:r>
            <a:r>
              <a:rPr sz="18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800" b="1">
                <a:solidFill>
                  <a:srgbClr val="1B4A8C"/>
                </a:solidFill>
                <a:latin typeface="微软雅黑"/>
              </a:rPr>
              <a:t>防火墙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放行 8080 入站</a:t>
            </a:r>
            <a:r>
              <a:rPr sz="18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800" b="1">
                <a:solidFill>
                  <a:srgbClr val="1B4A8C"/>
                </a:solidFill>
                <a:latin typeface="微软雅黑"/>
              </a:rPr>
              <a:t>脚本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批处理须 GBK + CRLF</a:t>
            </a:r>
            <a:r>
              <a:rPr sz="1800" b="1">
                <a:solidFill>
                  <a:srgbClr val="1B4A8C"/>
                </a:solidFill>
                <a:latin typeface="微软雅黑"/>
              </a:rPr>
              <a:t/>
            </a:r>
            <a:br/>
            <a:r>
              <a:rPr sz="1800" b="1">
                <a:solidFill>
                  <a:srgbClr val="1B4A8C"/>
                </a:solidFill>
                <a:latin typeface="微软雅黑"/>
              </a:rPr>
              <a:t>库文件　</a:t>
            </a:r>
            <a:r>
              <a:rPr sz="1800" b="0">
                <a:solidFill>
                  <a:srgbClr val="1B2430"/>
                </a:solidFill>
                <a:latin typeface="微软雅黑"/>
              </a:rPr>
              <a:t>演示库不进版本库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50" y="4762500"/>
            <a:ext cx="10858500" cy="131445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53000"/>
            <a:ext cx="103632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一条命令启动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33400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48300"/>
            <a:ext cx="103632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B9CBE4"/>
                </a:solidFill>
                <a:latin typeface="Arial"/>
              </a:rPr>
              <a:t>.venv\Scripts\python.exe scripts\dev.py --seed　（加 --profile mysql 切生产库，--check 先做环境自检）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05750" y="0"/>
            <a:ext cx="2857500" cy="2857500"/>
          </a:xfrm>
          <a:prstGeom prst="ellipse">
            <a:avLst/>
          </a:prstGeom>
          <a:solidFill>
            <a:srgbClr val="1A3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86750" y="381000"/>
            <a:ext cx="2095500" cy="2095500"/>
          </a:xfrm>
          <a:prstGeom prst="ellipse">
            <a:avLst/>
          </a:prstGeom>
          <a:solidFill>
            <a:srgbClr val="22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915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573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545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336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7175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099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805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862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6750" y="2247900"/>
            <a:ext cx="57150" cy="18097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" y="2247900"/>
            <a:ext cx="85725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FFFFFF"/>
                </a:solidFill>
                <a:latin typeface="宋体"/>
              </a:rPr>
              <a:t>汇报完毕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354330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C8A45C"/>
                </a:solidFill>
                <a:latin typeface="微软雅黑"/>
              </a:rPr>
              <a:t>案件指派系统 · 技术路线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4191000"/>
            <a:ext cx="2095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4953000"/>
            <a:ext cx="2095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9CBE4"/>
                </a:solidFill>
                <a:latin typeface="微软雅黑"/>
              </a:rPr>
              <a:t>张数据表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1850" y="4191000"/>
            <a:ext cx="2095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1850" y="4953000"/>
            <a:ext cx="2095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9CBE4"/>
                </a:solidFill>
                <a:latin typeface="微软雅黑"/>
              </a:rPr>
              <a:t>个控制器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53100" y="4191000"/>
            <a:ext cx="2095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2.6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53100" y="4953000"/>
            <a:ext cx="2095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9CBE4"/>
                </a:solidFill>
                <a:latin typeface="微软雅黑"/>
              </a:rPr>
              <a:t>万行代码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4D0"/>
                </a:solidFill>
                <a:latin typeface="微软雅黑"/>
              </a:rPr>
              <a:t>案件指派系统 CaseFlow · 技术路线汇报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4D0"/>
                </a:solidFill>
                <a:latin typeface="Arial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