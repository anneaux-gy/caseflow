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05750" y="0"/>
            <a:ext cx="2857500" cy="2857500"/>
          </a:xfrm>
          <a:prstGeom prst="ellipse">
            <a:avLst/>
          </a:prstGeom>
          <a:solidFill>
            <a:srgbClr val="1A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6750" y="381000"/>
            <a:ext cx="2095500" cy="2095500"/>
          </a:xfrm>
          <a:prstGeom prst="ellipse">
            <a:avLst/>
          </a:prstGeom>
          <a:solidFill>
            <a:srgbClr val="22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1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573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54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36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17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99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80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62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1428750"/>
            <a:ext cx="7620000" cy="167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宋体"/>
              </a:rPr>
              <a:t>案件指派系统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900" y="3276600"/>
            <a:ext cx="5905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50" y="3486150"/>
            <a:ext cx="7810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E8C87C"/>
                </a:solidFill>
                <a:latin typeface="Arial"/>
              </a:rPr>
              <a:t>CaseFlow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750" y="4286250"/>
            <a:ext cx="76200" cy="4953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86250"/>
            <a:ext cx="6667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微软雅黑"/>
              </a:rPr>
              <a:t>把「领导意见」到「办案落实」接成闭环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5029200"/>
            <a:ext cx="76200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9FB4D0"/>
                </a:solidFill>
                <a:latin typeface="微软雅黑"/>
              </a:rPr>
              <a:t>从收案、指派、盯办到办结归档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FB4D0"/>
                </a:solidFill>
                <a:latin typeface="微软雅黑"/>
              </a:rPr>
              <a:t>全程留痕，任一环节可回看「谁在什么时候做了什么」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" y="5962650"/>
            <a:ext cx="2495550" cy="38100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6750" y="5962650"/>
            <a:ext cx="24955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</a:rPr>
              <a:t>汇报对象：所领导 · 法制员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3750" y="5962650"/>
            <a:ext cx="1619250" cy="381000"/>
          </a:xfrm>
          <a:prstGeom prst="roundRect">
            <a:avLst>
              <a:gd name="adj" fmla="val 5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3750" y="5962650"/>
            <a:ext cx="1619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</a:rPr>
              <a:t>2026 年 10 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77250" y="1809750"/>
            <a:ext cx="3048000" cy="106680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77250" y="1809750"/>
            <a:ext cx="47625" cy="1066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01100" y="19240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8C87C"/>
                </a:solidFill>
                <a:latin typeface="Arial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1100" y="2514600"/>
            <a:ext cx="2381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FB4D0"/>
                </a:solidFill>
                <a:latin typeface="微软雅黑"/>
              </a:rPr>
              <a:t>数据表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7250" y="3105150"/>
            <a:ext cx="3048000" cy="106680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77250" y="3105150"/>
            <a:ext cx="47625" cy="1066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1100" y="32194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8C87C"/>
                </a:solidFill>
                <a:latin typeface="Arial"/>
              </a:rPr>
              <a:t>120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1100" y="3810000"/>
            <a:ext cx="2381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FB4D0"/>
                </a:solidFill>
                <a:latin typeface="微软雅黑"/>
              </a:rPr>
              <a:t>业务接口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77250" y="4400550"/>
            <a:ext cx="3048000" cy="106680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77250" y="4400550"/>
            <a:ext cx="47625" cy="10668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1100" y="4514850"/>
            <a:ext cx="238125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8C87C"/>
                </a:solidFill>
                <a:latin typeface="Arial"/>
              </a:rPr>
              <a:t>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1100" y="5105400"/>
            <a:ext cx="2381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FB4D0"/>
                </a:solidFill>
                <a:latin typeface="微软雅黑"/>
              </a:rPr>
              <a:t>自动化自检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Arial"/>
              </a:rPr>
              <a:t>01 /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3810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12294A"/>
                </a:solidFill>
                <a:latin typeface="宋体"/>
              </a:rPr>
              <a:t>汇报目录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257300"/>
            <a:ext cx="11430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4287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A929E"/>
                </a:solidFill>
                <a:latin typeface="Arial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1866900"/>
            <a:ext cx="4000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六个部分，讲清这套系统是什么、怎么搭的、怎么转的、还差什么。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38700" y="1066800"/>
            <a:ext cx="33909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38700" y="1066800"/>
            <a:ext cx="33909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38700" y="1390650"/>
            <a:ext cx="33909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67300" y="1066800"/>
            <a:ext cx="2933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8250" y="160020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宋体"/>
              </a:rPr>
              <a:t>系统全景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250" y="1943100"/>
            <a:ext cx="2971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解决的痛点、已建成的能力、两类角色的视角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8250" y="234315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45C"/>
                </a:solidFill>
                <a:latin typeface="Arial"/>
              </a:rPr>
              <a:t>第 04-08 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2000" y="1066800"/>
            <a:ext cx="33909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82000" y="1066800"/>
            <a:ext cx="33909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2000" y="1390650"/>
            <a:ext cx="33909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0600" y="1066800"/>
            <a:ext cx="2933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1550" y="160020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宋体"/>
              </a:rPr>
              <a:t>技术架构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1550" y="1943100"/>
            <a:ext cx="2971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技术选型取舍、分层架构、权限双层与快照留痕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1550" y="234315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45C"/>
                </a:solidFill>
                <a:latin typeface="Arial"/>
              </a:rPr>
              <a:t>第 10-12 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38700" y="2800350"/>
            <a:ext cx="33909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838700" y="2800350"/>
            <a:ext cx="33909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8700" y="3124200"/>
            <a:ext cx="33909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7300" y="2800350"/>
            <a:ext cx="2933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8250" y="333375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宋体"/>
              </a:rPr>
              <a:t>数据库设计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48250" y="3676650"/>
            <a:ext cx="2971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17 张表全景、核心关系、索引约束与平滑升级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8250" y="407670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45C"/>
                </a:solidFill>
                <a:latin typeface="Arial"/>
              </a:rPr>
              <a:t>第 14-16 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2000" y="2800350"/>
            <a:ext cx="33909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82000" y="2800350"/>
            <a:ext cx="33909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2000" y="3124200"/>
            <a:ext cx="33909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0600" y="2800350"/>
            <a:ext cx="2933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1550" y="333375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宋体"/>
              </a:rPr>
              <a:t>接口与路由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1550" y="3676650"/>
            <a:ext cx="2971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120 个接口的分布、路由守卫与数据可见范围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1550" y="407670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45C"/>
                </a:solidFill>
                <a:latin typeface="Arial"/>
              </a:rPr>
              <a:t>第 18-19 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38700" y="4533900"/>
            <a:ext cx="33909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838700" y="4533900"/>
            <a:ext cx="33909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38700" y="4857750"/>
            <a:ext cx="33909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67300" y="4533900"/>
            <a:ext cx="2933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8250" y="506730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宋体"/>
              </a:rPr>
              <a:t>业务操作逻辑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48250" y="5410200"/>
            <a:ext cx="2971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一条案件的完整生命周期、九条设计决策、通知机制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8250" y="581025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45C"/>
                </a:solidFill>
                <a:latin typeface="Arial"/>
              </a:rPr>
              <a:t>第 21-23 页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82000" y="4533900"/>
            <a:ext cx="33909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382000" y="4533900"/>
            <a:ext cx="33909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382000" y="4857750"/>
            <a:ext cx="33909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10600" y="4533900"/>
            <a:ext cx="29337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1550" y="5067300"/>
            <a:ext cx="2971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宋体"/>
              </a:rPr>
              <a:t>保障与展望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1550" y="5410200"/>
            <a:ext cx="2971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自动化自检体系、上线前八道门槛、后续规划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1550" y="5810250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8A45C"/>
                </a:solidFill>
                <a:latin typeface="Arial"/>
              </a:rPr>
              <a:t>第 25-27 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95250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096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8A45C"/>
                </a:solidFill>
                <a:latin typeface="Arial"/>
              </a:rPr>
              <a:t>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257300"/>
            <a:ext cx="38100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1B4A8C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36576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657600"/>
            <a:ext cx="438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2294A"/>
                </a:solidFill>
                <a:latin typeface="宋体"/>
              </a:rPr>
              <a:t>系统全景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434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从管理痛点到已建成的能力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" y="49530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8768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四个断点如何互相放大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350" y="52959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52197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五环闭环怎么转起来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350" y="56388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900" y="55626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民警端为何只留三个入口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000" y="533400"/>
            <a:ext cx="33337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传统办案</a:t>
            </a:r>
            <a:br/>
            <a:r>
              <a:rPr sz="3400" b="1">
                <a:solidFill>
                  <a:srgbClr val="12294A"/>
                </a:solidFill>
                <a:latin typeface="宋体"/>
              </a:rPr>
              <a:t>管理的四个断点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771650"/>
            <a:ext cx="800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00" y="2057400"/>
            <a:ext cx="32766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这四个断点不是孤立的。它们互相放大，最后表现为年底台账对不上、责任人说不清。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4305300"/>
            <a:ext cx="3276600" cy="161925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33900"/>
            <a:ext cx="28194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系统要解决的不是「记录」，而是让台账永远等于现场。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1500" y="1123950"/>
            <a:ext cx="7143750" cy="1104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1500" y="1123950"/>
            <a:ext cx="38100" cy="1104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7250" y="133350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A5DA6"/>
                </a:solidFill>
                <a:latin typeface="Arial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72100" y="167640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2600" y="1219200"/>
            <a:ext cx="462915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294A"/>
                </a:solidFill>
                <a:latin typeface="微软雅黑"/>
              </a:rPr>
              <a:t>意见提了没人跟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领导在意见栏提了要求，办案人什么时候做的、做完了没有，全靠口头问。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87000" y="1485900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1485900"/>
            <a:ext cx="10096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管不住过程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1500" y="2381250"/>
            <a:ext cx="7143750" cy="1104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1500" y="2381250"/>
            <a:ext cx="38100" cy="1104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7250" y="259080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A5DA6"/>
                </a:solidFill>
                <a:latin typeface="Arial"/>
              </a:rPr>
              <a:t>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72100" y="293370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2600" y="2476500"/>
            <a:ext cx="462915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294A"/>
                </a:solidFill>
                <a:latin typeface="微软雅黑"/>
              </a:rPr>
              <a:t>指派靠口头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谁主办、谁协办、有没有期限，回头查要翻本子。人员一流动就断线。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2743200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2743200"/>
            <a:ext cx="10096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查不到责任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1500" y="3638550"/>
            <a:ext cx="7143750" cy="1104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1500" y="3638550"/>
            <a:ext cx="38100" cy="1104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7250" y="384810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A5DA6"/>
                </a:solidFill>
                <a:latin typeface="Arial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72100" y="419100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62600" y="3733800"/>
            <a:ext cx="462915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294A"/>
                </a:solidFill>
                <a:latin typeface="微软雅黑"/>
              </a:rPr>
              <a:t>到期才发现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期限压在表格里，没有人会主动提醒，等到超期才看到。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7000" y="4000500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4000500"/>
            <a:ext cx="10096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盯不住期限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1500" y="4895850"/>
            <a:ext cx="7143750" cy="11049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1500" y="4895850"/>
            <a:ext cx="38100" cy="1104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7250" y="510540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A5DA6"/>
                </a:solidFill>
                <a:latin typeface="Arial"/>
              </a:rPr>
              <a:t>04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72100" y="5448300"/>
            <a:ext cx="38100" cy="381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62600" y="4991100"/>
            <a:ext cx="462915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2294A"/>
                </a:solidFill>
                <a:latin typeface="微软雅黑"/>
              </a:rPr>
              <a:t>操作无痕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做错了改不回去，也无法证明「当时是谁改的」，出了问题只能互相推。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87000" y="5257800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5257800"/>
            <a:ext cx="10096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回不了头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4953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系统把这条链路接起来了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428750"/>
            <a:ext cx="28575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>
                <a:solidFill>
                  <a:srgbClr val="1B4A8C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4050" y="2419350"/>
            <a:ext cx="228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12294A"/>
                </a:solidFill>
                <a:latin typeface="宋体"/>
              </a:rPr>
              <a:t>环闭环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" y="4038600"/>
            <a:ext cx="2857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每一条案件都必须走完这五环，任何一环缺失都会被系统挡住。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0" y="1238250"/>
            <a:ext cx="7239000" cy="37719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57750" y="1562100"/>
            <a:ext cx="6096000" cy="5905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57750" y="15621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105400" y="1695450"/>
            <a:ext cx="323850" cy="32385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5400" y="16954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700" y="1600200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领导提意见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录入即派生成待办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0" y="2171700"/>
            <a:ext cx="28575" cy="1143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57750" y="2266950"/>
            <a:ext cx="6096000" cy="5905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57750" y="226695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05400" y="2400300"/>
            <a:ext cx="323850" cy="32385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5400" y="24003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700" y="2305050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系统派发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责任到人、期限明确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0" y="2876550"/>
            <a:ext cx="28575" cy="1143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57750" y="2971800"/>
            <a:ext cx="6096000" cy="5905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57750" y="29718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05400" y="3105150"/>
            <a:ext cx="323850" cy="32385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5400" y="31051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0700" y="3009900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民警落实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汇报状态与说明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8750" y="3581400"/>
            <a:ext cx="28575" cy="1143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57750" y="3676650"/>
            <a:ext cx="6096000" cy="5905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57750" y="3676650"/>
            <a:ext cx="57150" cy="5905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05400" y="3810000"/>
            <a:ext cx="323850" cy="323850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05400" y="381000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00700" y="3714750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层层可追踪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进度、逾期、操作全留痕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8750" y="4286250"/>
            <a:ext cx="28575" cy="1143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57750" y="4381500"/>
            <a:ext cx="6096000" cy="5905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57750" y="4381500"/>
            <a:ext cx="57150" cy="59055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05400" y="4514850"/>
            <a:ext cx="323850" cy="323850"/>
          </a:xfrm>
          <a:prstGeom prst="ellipse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05400" y="45148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0700" y="4419600"/>
            <a:ext cx="47625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办结归档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状态锁定、可撤回纠错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86250" y="5143500"/>
            <a:ext cx="7239000" cy="87630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143500"/>
            <a:ext cx="666750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系统的价值在于把「责任 — 动作 — 证据」绑在同一行数据上。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E8C87C"/>
                </a:solidFill>
                <a:latin typeface="微软雅黑"/>
              </a:rPr>
              <a:t>谁提的、谁做的、何时做的、凭什么说完成 —— 全部指向同一条记录。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3048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宋体"/>
              </a:rPr>
              <a:t>已建成的</a:t>
            </a:r>
            <a:br/>
            <a:r>
              <a:rPr sz="3400" b="1">
                <a:solidFill>
                  <a:srgbClr val="FFFFFF"/>
                </a:solidFill>
                <a:latin typeface="宋体"/>
              </a:rPr>
              <a:t>能力矩阵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381250"/>
            <a:ext cx="800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67000"/>
            <a:ext cx="30099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FB4D0"/>
                </a:solidFill>
                <a:latin typeface="微软雅黑"/>
              </a:rPr>
              <a:t>12 个业务域已全部闭环。其中案件盯办与待办任务两个域最重，也是后续维护成本集中所在。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53000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E8C87C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300" y="52959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微软雅黑"/>
              </a:rPr>
              <a:t>个业务域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1000" y="1066800"/>
            <a:ext cx="245745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91000" y="1066800"/>
            <a:ext cx="2457450" cy="495300"/>
          </a:xfrm>
          <a:prstGeom prst="roundRect">
            <a:avLst>
              <a:gd name="adj" fmla="val 12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1000" y="1428750"/>
            <a:ext cx="2457450" cy="1333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1500" y="1066800"/>
            <a:ext cx="20764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收案与指派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1638300"/>
            <a:ext cx="207645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手工录入 / PDF / Word / Excel 四入口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主办协办与期限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办案组别约束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改派留痕不覆盖历史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1800" y="1066800"/>
            <a:ext cx="245745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81800" y="1066800"/>
            <a:ext cx="2457450" cy="495300"/>
          </a:xfrm>
          <a:prstGeom prst="roundRect">
            <a:avLst>
              <a:gd name="adj" fmla="val 12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81800" y="1428750"/>
            <a:ext cx="2457450" cy="1333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2300" y="1066800"/>
            <a:ext cx="20764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办案推进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1638300"/>
            <a:ext cx="207645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案件盯办三子模块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阶段→环节→任务三层流转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强制措施与期限推算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侦查终结审批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1066800"/>
            <a:ext cx="245745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72600" y="1066800"/>
            <a:ext cx="2457450" cy="495300"/>
          </a:xfrm>
          <a:prstGeom prst="roundRect">
            <a:avLst>
              <a:gd name="adj" fmla="val 12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1428750"/>
            <a:ext cx="2457450" cy="1333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63100" y="1066800"/>
            <a:ext cx="20764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任务落实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3100" y="1638300"/>
            <a:ext cx="207645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意见自动派生成待办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两级任务与反馈累积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上传声明可修订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疑问问答独立通道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91000" y="2628900"/>
            <a:ext cx="245745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91000" y="2628900"/>
            <a:ext cx="2457450" cy="495300"/>
          </a:xfrm>
          <a:prstGeom prst="roundRect">
            <a:avLst>
              <a:gd name="adj" fmla="val 12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1000" y="2990850"/>
            <a:ext cx="2457450" cy="1333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1500" y="2628900"/>
            <a:ext cx="20764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监督与治理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1500" y="3200400"/>
            <a:ext cx="2076450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全量操作留痕可撤回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统一信箱精确跳转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到期预警八条规则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组织树与账号审批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2628900"/>
            <a:ext cx="245745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3100" y="2762250"/>
            <a:ext cx="2076450" cy="1162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尚未覆盖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定时主动推送（当前打开页面才算）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统计报表导出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附件异地备份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5905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两类角色，两套视角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0" y="590550"/>
            <a:ext cx="4286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管理层 8 个入口　·　普通民警 3 个入口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1409700"/>
            <a:ext cx="6572250" cy="4305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6750" y="1409700"/>
            <a:ext cx="6572250" cy="590550"/>
          </a:xfrm>
          <a:prstGeom prst="roundRect">
            <a:avLst>
              <a:gd name="adj" fmla="val 8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1866900"/>
            <a:ext cx="6572250" cy="13335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3450" y="1409700"/>
            <a:ext cx="1905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宋体"/>
              </a:rPr>
              <a:t>管理层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1409700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8C87C"/>
                </a:solidFill>
                <a:latin typeface="微软雅黑"/>
              </a:rPr>
              <a:t>所长 / 副所长 / 法制员 / 系统管理员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50" y="226695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3450" y="226695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3950" y="231457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工作台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全局态势、趋势、近期操作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" y="308610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3450" y="308610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3950" y="313372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案件管理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全量案件筛选、指派、办理进度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" y="390525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" y="390525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23950" y="395287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案件盯办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三子模块看板、强制措施、审批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" y="472440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" y="472440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3950" y="477202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待办总览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跨案件任务完成情况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76700" y="226695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76700" y="226695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67200" y="231457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员工图谱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组织树、办案组别、人员负荷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76700" y="308610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76700" y="308610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7200" y="313372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类别管理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案件小类字典维护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76700" y="390525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76700" y="390525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67200" y="395287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账号管理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注册审核、角色分配、启停用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76700" y="4724400"/>
            <a:ext cx="285750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76700" y="472440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7200" y="4772025"/>
            <a:ext cx="2628900" cy="628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到期提醒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五档分桶预警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20000" y="1409700"/>
            <a:ext cx="3905250" cy="4305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620000" y="1409700"/>
            <a:ext cx="3905250" cy="590550"/>
          </a:xfrm>
          <a:prstGeom prst="roundRect">
            <a:avLst>
              <a:gd name="adj" fmla="val 8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620000" y="1866900"/>
            <a:ext cx="3905250" cy="1333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86700" y="1409700"/>
            <a:ext cx="1905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宋体"/>
              </a:rPr>
              <a:t>普通民警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1409700"/>
            <a:ext cx="21145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8EFF8"/>
                </a:solidFill>
                <a:latin typeface="微软雅黑"/>
              </a:rPr>
              <a:t>只看与自己相关的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86700" y="2266950"/>
            <a:ext cx="337185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86700" y="226695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2295525"/>
            <a:ext cx="29908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我的案件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本人名下案件与在办、逾期、临期统计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86700" y="3067050"/>
            <a:ext cx="337185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86700" y="306705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095625"/>
            <a:ext cx="29908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我的待办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领导意见自动派生的任务，按紧急与重点排序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86700" y="3867150"/>
            <a:ext cx="3371850" cy="704850"/>
          </a:xfrm>
          <a:prstGeom prst="roundRect">
            <a:avLst>
              <a:gd name="adj" fmla="val 10000"/>
            </a:avLst>
          </a:prstGeom>
          <a:solidFill>
            <a:srgbClr val="F8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86700" y="3867150"/>
            <a:ext cx="38100" cy="704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95725"/>
            <a:ext cx="29908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到期提醒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五档分桶，只看与自己相关的期限风险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86700" y="4724400"/>
            <a:ext cx="3371850" cy="952500"/>
          </a:xfrm>
          <a:prstGeom prst="roundRect">
            <a:avLst>
              <a:gd name="adj" fmla="val 8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4724400"/>
            <a:ext cx="2952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C87C"/>
                </a:solidFill>
                <a:latin typeface="微软雅黑"/>
              </a:rPr>
              <a:t>民警端只有 3 个入口，是刻意设计的</a:t>
            </a:r>
            <a:r>
              <a:rPr sz="1300" b="0">
                <a:solidFill>
                  <a:srgbClr val="FFFFFF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FFFFFF"/>
                </a:solidFill>
                <a:latin typeface="微软雅黑"/>
              </a:rPr>
              <a:t>越复杂越没人用 —— 功能都收到这一个入口后面去。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763000" cy="54768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763000" y="914400"/>
            <a:ext cx="47625" cy="5029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24950" y="1238250"/>
            <a:ext cx="2762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宋体"/>
              </a:rPr>
              <a:t>系统实景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4950" y="1866900"/>
            <a:ext cx="27622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E8C87C"/>
                </a:solidFill>
                <a:latin typeface="微软雅黑"/>
              </a:rPr>
              <a:t>管理层工作台</a:t>
            </a:r>
          </a:p>
        </p:txBody>
      </p:sp>
      <p:sp>
        <p:nvSpPr>
          <p:cNvPr id="7" name="Rectangle 6"/>
          <p:cNvSpPr/>
          <p:nvPr/>
        </p:nvSpPr>
        <p:spPr>
          <a:xfrm>
            <a:off x="9124950" y="2343150"/>
            <a:ext cx="571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24950" y="2552700"/>
            <a:ext cx="27813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600" b="0">
                <a:solidFill>
                  <a:srgbClr val="FFFFFF"/>
                </a:solidFill>
                <a:latin typeface="微软雅黑"/>
              </a:rPr>
              <a:t>顶部八个数字是刑事案件口径下的实时计数，按案件类型、期限、紧急程度可组合筛选；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600" b="0">
                <a:solidFill>
                  <a:srgbClr val="FFFFFF"/>
                </a:solidFill>
                <a:latin typeface="微软雅黑"/>
              </a:rPr>
              <a:t>中部三张图表可点击联动，点某一类案件列表即自动筛到该类；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600" b="0">
                <a:solidFill>
                  <a:srgbClr val="FFFFFF"/>
                </a:solidFill>
                <a:latin typeface="微软雅黑"/>
              </a:rPr>
              <a:t>下方按状态、承办人在手负载分区展示，负载条支持上下滑动查看全部人员。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24950" y="5162550"/>
            <a:ext cx="2781300" cy="78105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15450" y="5295900"/>
            <a:ext cx="24003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微软雅黑"/>
              </a:rPr>
              <a:t>统计口径由后端强制收敛，非管理层只能看到本人名下案件，前端改参数无效。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Arial"/>
              </a:rPr>
              <a:t>08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95250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096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8A45C"/>
                </a:solidFill>
                <a:latin typeface="Arial"/>
              </a:rPr>
              <a:t>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257300"/>
            <a:ext cx="38100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1B4A8C"/>
                </a:solidFill>
                <a:latin typeface="Arial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36576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657600"/>
            <a:ext cx="438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2294A"/>
                </a:solidFill>
                <a:latin typeface="宋体"/>
              </a:rPr>
              <a:t>技术架构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434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支撑系统跑起来的技术底座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" y="49530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8768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技术选型的取舍理由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350" y="52959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52197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五层分层与两处拦截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350" y="56388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900" y="55626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可靠性来自快照而非自觉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33400"/>
            <a:ext cx="304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技术选型</a:t>
            </a:r>
            <a:br/>
            <a:r>
              <a:rPr sz="3400" b="1">
                <a:solidFill>
                  <a:srgbClr val="12294A"/>
                </a:solidFill>
                <a:latin typeface="宋体"/>
              </a:rPr>
              <a:t>与取舍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6400"/>
            <a:ext cx="800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43100"/>
            <a:ext cx="3009900" cy="209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微软雅黑"/>
              </a:rPr>
              <a:t>不是为了用新而用新。这套选型的唯一标准是：在公安内网常见环境下能稳定跑起来、能长期维护。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00500"/>
            <a:ext cx="3009900" cy="18669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750" y="4229100"/>
            <a:ext cx="2590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微软雅黑"/>
              </a:rPr>
              <a:t>选 JDK 8 与 Spring Boot 2，是为了匹配内网已有的国产化中间件与运维习惯；牺牲新特性，换部署侧的确定性。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91000" y="1123950"/>
            <a:ext cx="733425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1000" y="1123950"/>
            <a:ext cx="47625" cy="1104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38650" y="1333500"/>
            <a:ext cx="1104900" cy="381000"/>
          </a:xfrm>
          <a:prstGeom prst="roundRect">
            <a:avLst>
              <a:gd name="adj" fmla="val 2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8650" y="13335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前端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4050" y="1219200"/>
            <a:ext cx="55245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Arial"/>
              </a:rPr>
              <a:t>Vue 3 + Element Plus + ECharts 5 + Pinia + Vite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统一 axios 实例注入令牌；路由守卫做权限与口径门控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1000" y="2343150"/>
            <a:ext cx="733425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91000" y="2343150"/>
            <a:ext cx="47625" cy="1104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8650" y="2552700"/>
            <a:ext cx="1104900" cy="381000"/>
          </a:xfrm>
          <a:prstGeom prst="roundRect">
            <a:avLst>
              <a:gd name="adj" fmla="val 2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8650" y="25527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接口层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34050" y="2438400"/>
            <a:ext cx="55245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Arial"/>
              </a:rPr>
              <a:t>REST（context-path = /api）· 统一响应体 {code, msg, data}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全局异常处理；登录 401 与权限 403 分开拦截器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1000" y="3562350"/>
            <a:ext cx="733425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91000" y="3562350"/>
            <a:ext cx="47625" cy="1104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38650" y="3771900"/>
            <a:ext cx="1104900" cy="381000"/>
          </a:xfrm>
          <a:prstGeom prst="roundRect">
            <a:avLst>
              <a:gd name="adj" fmla="val 2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37719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业务层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34050" y="3657600"/>
            <a:ext cx="55245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Arial"/>
              </a:rPr>
              <a:t>Spring Boot 2 + MyBatis-Plus · 26 处管理层专属标注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业务规则下沉服务层；全量埋点单点汇聚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91000" y="4781550"/>
            <a:ext cx="7334250" cy="1104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1000" y="4781550"/>
            <a:ext cx="47625" cy="11049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38650" y="4991100"/>
            <a:ext cx="1104900" cy="381000"/>
          </a:xfrm>
          <a:prstGeom prst="roundRect">
            <a:avLst>
              <a:gd name="adj" fmla="val 2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8650" y="4991100"/>
            <a:ext cx="1104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4050" y="4876800"/>
            <a:ext cx="55245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Arial"/>
              </a:rPr>
              <a:t>H2 文件库（开发） / MySQL 8（部署）· 启动时幂等补列</a:t>
            </a:r>
            <a:r>
              <a:rPr sz="15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500" b="0">
                <a:solidFill>
                  <a:srgbClr val="5A6472"/>
                </a:solidFill>
                <a:latin typeface="微软雅黑"/>
              </a:rPr>
              <a:t>单 jar 打包，内嵌 Tomcat，附件存磁盘不入库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91000" y="6038850"/>
            <a:ext cx="7334250" cy="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91000" y="5905500"/>
            <a:ext cx="733425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6667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分层架构与权限双层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390650"/>
            <a:ext cx="7239000" cy="40767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50" y="1562100"/>
            <a:ext cx="67818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请求自上而下穿过五层，横切两处拦截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1924050"/>
            <a:ext cx="72390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1924050"/>
            <a:ext cx="47625" cy="4953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1924050"/>
            <a:ext cx="11049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前端层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8350" y="1924050"/>
            <a:ext cx="56388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13 个页面 + 17 个组件 + 6 个状态仓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7200" y="2476500"/>
            <a:ext cx="38100" cy="762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500" y="2514600"/>
            <a:ext cx="6657975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2500" y="2514600"/>
            <a:ext cx="47625" cy="4953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2050" y="2514600"/>
            <a:ext cx="11049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路由守卫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2514600"/>
            <a:ext cx="5057775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五道关卡：登录 → 白名单 → 整页权限 → 类型门控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3067050"/>
            <a:ext cx="38100" cy="762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47775" y="3105150"/>
            <a:ext cx="607695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7775" y="3105150"/>
            <a:ext cx="47625" cy="4953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57325" y="3105150"/>
            <a:ext cx="11049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接口层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9375" y="3105150"/>
            <a:ext cx="4476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12 个业务域 · 120 个 REST 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67200" y="3657600"/>
            <a:ext cx="38100" cy="762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33525" y="3695700"/>
            <a:ext cx="5495925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33525" y="3695700"/>
            <a:ext cx="47625" cy="4953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43075" y="3695700"/>
            <a:ext cx="11049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业务层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5125" y="3695700"/>
            <a:ext cx="3895725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案件 / 盯办 / 流程 / 待办 / 意见 / 问答 / 通知 / 组织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7200" y="4248150"/>
            <a:ext cx="38100" cy="7620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828800" y="4286250"/>
            <a:ext cx="4914900" cy="495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0" y="4286250"/>
            <a:ext cx="47625" cy="4953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38350" y="4286250"/>
            <a:ext cx="11049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数据层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286250"/>
            <a:ext cx="33147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17 张表 · 统一响应体 · 全局异常处理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58100" y="1924050"/>
            <a:ext cx="171450" cy="1695450"/>
          </a:xfrm>
          <a:prstGeom prst="roundRect">
            <a:avLst>
              <a:gd name="adj" fmla="val 2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0" y="3657600"/>
            <a:ext cx="9906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两处拦截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1295400"/>
            <a:ext cx="352425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1B4A8C"/>
                </a:solidFill>
                <a:latin typeface="Arial"/>
              </a:rPr>
              <a:t>2</a:t>
            </a:r>
            <a:r>
              <a:rPr sz="3200" b="1">
                <a:solidFill>
                  <a:srgbClr val="12294A"/>
                </a:solidFill>
                <a:latin typeface="宋体"/>
              </a:rPr>
              <a:t> 层拦截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228850"/>
            <a:ext cx="35242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前端隐藏按钮只是体验层，真正的拦截在服务端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2781300"/>
            <a:ext cx="3524250" cy="15049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01000" y="2781300"/>
            <a:ext cx="3524250" cy="4572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01000" y="3143250"/>
            <a:ext cx="35242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781300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粗粒度：管理层专属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0550" y="3295650"/>
            <a:ext cx="3105150" cy="933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26 处「管理层专属」标注，覆盖 35 个接口。由拦截器在方法执行前统一拦住，返回带角色中文名的明确提示。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4400550"/>
            <a:ext cx="3524250" cy="1695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01000" y="4400550"/>
            <a:ext cx="3524250" cy="4572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01000" y="4762500"/>
            <a:ext cx="35242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4400550"/>
            <a:ext cx="30670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细粒度：服务层判身份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0550" y="4914900"/>
            <a:ext cx="3105150" cy="1123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在服务层判断「是不是本案现职承办人」「是不是这条反馈的提交人」。因为主任务归管理层、子任务归承办人，这种分层注解表达不了。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6667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留痕与回退：写操作可撤回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390650"/>
            <a:ext cx="10858500" cy="245745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6750" y="1771650"/>
            <a:ext cx="1981200" cy="1695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6750" y="1771650"/>
            <a:ext cx="1981200" cy="476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1924050"/>
            <a:ext cx="1638300" cy="144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执行写操作</a:t>
            </a:r>
            <a:r>
              <a:rPr sz="14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新建 / 修改 / 指派 /</a:t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状态流转 / 删除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2712" y="255270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3687" y="251460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6075" y="1771650"/>
            <a:ext cx="1981200" cy="1695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6075" y="1771650"/>
            <a:ext cx="1981200" cy="476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7525" y="1924050"/>
            <a:ext cx="1638300" cy="144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存修改前快照</a:t>
            </a:r>
            <a:r>
              <a:rPr sz="14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整份对象序列化</a:t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含指派、附件、嫌疑人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2037" y="255270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53012" y="251460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05400" y="1771650"/>
            <a:ext cx="1981200" cy="1695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5400" y="1771650"/>
            <a:ext cx="1981200" cy="476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850" y="1924050"/>
            <a:ext cx="1638300" cy="144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执行并落库</a:t>
            </a:r>
            <a:r>
              <a:rPr sz="14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业务事务内完成</a:t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同时写操作日志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91362" y="255270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72337" y="251460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24725" y="1771650"/>
            <a:ext cx="1981200" cy="1695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24725" y="1771650"/>
            <a:ext cx="1981200" cy="476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6175" y="1924050"/>
            <a:ext cx="1638300" cy="144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存修改后快照</a:t>
            </a:r>
            <a:r>
              <a:rPr sz="14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同一结构再存一份</a:t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便于展示变更对照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10687" y="255270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91662" y="251460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44050" y="1771650"/>
            <a:ext cx="1981200" cy="1695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44050" y="1771650"/>
            <a:ext cx="1981200" cy="476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5500" y="1924050"/>
            <a:ext cx="1638300" cy="144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撤回 = 原样写回</a:t>
            </a:r>
            <a:r>
              <a:rPr sz="14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把修改前快照直接写回</a:t>
            </a:r>
            <a:br/>
            <a:r>
              <a:rPr sz="1400" b="0">
                <a:solidFill>
                  <a:srgbClr val="5A6472"/>
                </a:solidFill>
                <a:latin typeface="微软雅黑"/>
              </a:rPr>
              <a:t>不是「反向操作」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384810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关键收益：</a:t>
            </a:r>
            <a:r>
              <a:rPr sz="1600" b="0">
                <a:solidFill>
                  <a:srgbClr val="5A6472"/>
                </a:solidFill>
                <a:latin typeface="微软雅黑"/>
              </a:rPr>
              <a:t>快照整体序列化案件对象 —— 以后每加一个新字段，自动就获得撤回能力，零额外成本。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6750" y="4038600"/>
            <a:ext cx="3467100" cy="20383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6750" y="4038600"/>
            <a:ext cx="3467100" cy="4572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6750" y="4381500"/>
            <a:ext cx="3467100" cy="1143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7250" y="4038600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四条安全规则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7250" y="4552950"/>
            <a:ext cx="3086100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仅案件类写操作可撤回（登录、传附件不行）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已撤回的不能重复撤；必须是该案件最新一条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撤回本身也记日志 —— 所以撤回之后还能再撤回（等价重做）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62450" y="4038600"/>
            <a:ext cx="3467100" cy="20383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362450" y="4038600"/>
            <a:ext cx="3467100" cy="457200"/>
          </a:xfrm>
          <a:prstGeom prst="roundRect">
            <a:avLst>
              <a:gd name="adj" fmla="val 1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62450" y="4381500"/>
            <a:ext cx="3467100" cy="1143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52950" y="4038600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为什么不撤回全部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2950" y="4552950"/>
            <a:ext cx="3086100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批注与领导意见属「旁注」语义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撤回某条进度时不应连带回滚旁注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旁注要留档，不能随进度一起消失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58150" y="4038600"/>
            <a:ext cx="3467100" cy="20383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058150" y="4038600"/>
            <a:ext cx="3467100" cy="457200"/>
          </a:xfrm>
          <a:prstGeom prst="roundRect">
            <a:avLst>
              <a:gd name="adj" fmla="val 10000"/>
            </a:avLst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58150" y="4381500"/>
            <a:ext cx="3467100" cy="11430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8650" y="4038600"/>
            <a:ext cx="30861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工程实现要点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48650" y="4552950"/>
            <a:ext cx="3086100" cy="146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写操作前后各存一份完整快照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清空字段须显式写「置空」，否则撤不回来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新增列自动进入快照，无需改撤回代码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95250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096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8A45C"/>
                </a:solidFill>
                <a:latin typeface="Arial"/>
              </a:rPr>
              <a:t>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257300"/>
            <a:ext cx="38100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1B4A8C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36576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657600"/>
            <a:ext cx="438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2294A"/>
                </a:solidFill>
                <a:latin typeface="宋体"/>
              </a:rPr>
              <a:t>数据库设计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434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17 张表如何支撑起整条业务链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" y="49530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8768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四个数据域的表分布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350" y="52959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52197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意见派生待办的唯一链路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350" y="56388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900" y="55626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加列为何要放在启动时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123950"/>
            <a:ext cx="285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宋体"/>
              </a:rPr>
              <a:t>数据结构全景</a:t>
            </a:r>
            <a:br/>
            <a:r>
              <a:rPr sz="3400" b="1">
                <a:solidFill>
                  <a:srgbClr val="FFFFFF"/>
                </a:solidFill>
                <a:latin typeface="宋体"/>
              </a:rPr>
              <a:t>17 张表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2286000"/>
            <a:ext cx="800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9100" y="2552700"/>
            <a:ext cx="285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FB4D0"/>
                </a:solidFill>
                <a:latin typeface="微软雅黑"/>
              </a:rPr>
              <a:t>不建独立的「员工绑定关系表」—— 账号直接挂员工编号，并在服务层保证一人一档案，避免两个人共用档案互相看到对方的案件。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4724400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>
                <a:solidFill>
                  <a:srgbClr val="E8C87C"/>
                </a:solidFill>
                <a:latin typeface="Arial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50673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微软雅黑"/>
              </a:rPr>
              <a:t>张业务表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500" y="1028700"/>
            <a:ext cx="752475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00500" y="1028700"/>
            <a:ext cx="47625" cy="13716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8150" y="116205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微软雅黑"/>
              </a:rPr>
              <a:t>账号与组织</a:t>
            </a:r>
            <a:r>
              <a:rPr sz="1700" b="1">
                <a:solidFill>
                  <a:srgbClr val="C8A45C"/>
                </a:solidFill>
                <a:latin typeface="Arial"/>
              </a:rPr>
              <a:t>　2 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48150" y="1485900"/>
            <a:ext cx="70294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账号表：登录名唯一、密码加盐存储、角色分级、注册需审核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员工表：组织层级、办案组别、档案来源标记（导入/手工/自助注册）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500" y="2495550"/>
            <a:ext cx="752475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00500" y="2495550"/>
            <a:ext cx="47625" cy="13716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8150" y="26289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微软雅黑"/>
              </a:rPr>
              <a:t>案件主从</a:t>
            </a:r>
            <a:r>
              <a:rPr sz="1700" b="1">
                <a:solidFill>
                  <a:srgbClr val="C8A45C"/>
                </a:solidFill>
                <a:latin typeface="Arial"/>
              </a:rPr>
              <a:t>　6 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8150" y="2952750"/>
            <a:ext cx="70294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案件主表 24 个字段（全库最宽），涵盖类型、状态、期限、流程阶段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承办人（改派留痕）、附件、嫌疑人、类别字典、审批记录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0500" y="3962400"/>
            <a:ext cx="6467475" cy="18192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00500" y="3962400"/>
            <a:ext cx="47625" cy="181927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48150" y="409575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微软雅黑"/>
              </a:rPr>
              <a:t>待办与任务</a:t>
            </a:r>
            <a:r>
              <a:rPr sz="1700" b="1">
                <a:solidFill>
                  <a:srgbClr val="C8A45C"/>
                </a:solidFill>
                <a:latin typeface="Arial"/>
              </a:rPr>
              <a:t>　3 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48150" y="4419600"/>
            <a:ext cx="5972175" cy="1266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待办表：意见派生、自关联两级任务、紧急与重点双档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反馈表：累积式记录（唯一带级联删除的外键）、上传声明三要素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阶段任务表：环节、任务键、是否标准任务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00500" y="5876925"/>
            <a:ext cx="7524750" cy="181927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00500" y="5876925"/>
            <a:ext cx="47625" cy="18192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8150" y="6010275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2294A"/>
                </a:solidFill>
                <a:latin typeface="微软雅黑"/>
              </a:rPr>
              <a:t>意见 · 问答 · 通知 · 日志</a:t>
            </a:r>
            <a:r>
              <a:rPr sz="1700" b="1">
                <a:solidFill>
                  <a:srgbClr val="C8A45C"/>
                </a:solidFill>
                <a:latin typeface="Arial"/>
              </a:rPr>
              <a:t>　6 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48150" y="6334125"/>
            <a:ext cx="7029450" cy="1266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领导意见（可拖拽排序、A/B/C 分级）、疑问问答（回答可修订）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统一信箱（带定位锚点）、意见已读记录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操作日志（含前后快照）、办理进度批注（不进撤回体系）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7239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核心关系：意见是唯一事实源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24750" y="438150"/>
            <a:ext cx="4000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>
                <a:solidFill>
                  <a:srgbClr val="1B4A8C"/>
                </a:solidFill>
                <a:latin typeface="Arial"/>
              </a:rPr>
              <a:t>1</a:t>
            </a:r>
            <a:r>
              <a:rPr sz="2600" b="1">
                <a:solidFill>
                  <a:srgbClr val="12294A"/>
                </a:solidFill>
                <a:latin typeface="宋体"/>
              </a:rPr>
              <a:t> 条意见 → </a:t>
            </a:r>
            <a:r>
              <a:rPr sz="6800" b="1">
                <a:solidFill>
                  <a:srgbClr val="C8A45C"/>
                </a:solidFill>
                <a:latin typeface="Arial"/>
              </a:rPr>
              <a:t>1</a:t>
            </a:r>
            <a:r>
              <a:rPr sz="2600" b="1">
                <a:solidFill>
                  <a:srgbClr val="12294A"/>
                </a:solidFill>
                <a:latin typeface="宋体"/>
              </a:rPr>
              <a:t> 条待办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1447800"/>
            <a:ext cx="7048500" cy="35433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4000" y="1695450"/>
            <a:ext cx="533400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24000" y="1695450"/>
            <a:ext cx="47625" cy="6858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3550" y="1762125"/>
            <a:ext cx="46672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领导意见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录入即派生（同事务）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19850" y="1885950"/>
            <a:ext cx="285750" cy="24765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850" y="1885950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71950" y="2400300"/>
            <a:ext cx="38100" cy="1714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05275" y="2533650"/>
            <a:ext cx="17145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90700" y="2609850"/>
            <a:ext cx="480060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90700" y="2609850"/>
            <a:ext cx="47625" cy="6858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00250" y="2676525"/>
            <a:ext cx="41338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主任务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管理层定清单 · 待办事实源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53150" y="2800350"/>
            <a:ext cx="285750" cy="24765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53150" y="2800350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71950" y="3314700"/>
            <a:ext cx="38100" cy="1714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05275" y="3448050"/>
            <a:ext cx="17145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114550" y="3524250"/>
            <a:ext cx="4152900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14550" y="3524250"/>
            <a:ext cx="47625" cy="6858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4100" y="3590925"/>
            <a:ext cx="348615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子任务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承办人自己拆 · 两级封顶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29300" y="3714750"/>
            <a:ext cx="285750" cy="24765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29300" y="3714750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71950" y="4229100"/>
            <a:ext cx="38100" cy="1714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05275" y="4362450"/>
            <a:ext cx="171450" cy="381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28875" y="4438650"/>
            <a:ext cx="3514725" cy="6858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28875" y="4438650"/>
            <a:ext cx="47625" cy="68580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8425" y="4505325"/>
            <a:ext cx="2847975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反馈记录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累积式 · 可修订可撤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05450" y="4629150"/>
            <a:ext cx="285750" cy="247650"/>
          </a:xfrm>
          <a:prstGeom prst="roundRect">
            <a:avLst>
              <a:gd name="adj" fmla="val 30000"/>
            </a:avLst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05450" y="4629150"/>
            <a:ext cx="285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34000" y="1828800"/>
            <a:ext cx="203835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34000" y="1828800"/>
            <a:ext cx="38100" cy="4381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1828800"/>
            <a:ext cx="1866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微软雅黑"/>
              </a:rPr>
              <a:t>意见改正文 → 同步待办副本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34000" y="2362200"/>
            <a:ext cx="203835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34000" y="2362200"/>
            <a:ext cx="38100" cy="43815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0" y="2362200"/>
            <a:ext cx="1866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微软雅黑"/>
              </a:rPr>
              <a:t>待办完成 → 回写意见落实状态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34000" y="2895600"/>
            <a:ext cx="2038350" cy="43815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34000" y="2895600"/>
            <a:ext cx="38100" cy="43815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0" y="2895600"/>
            <a:ext cx="18669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472"/>
                </a:solidFill>
                <a:latin typeface="微软雅黑"/>
              </a:rPr>
              <a:t>意见移除 → 级联删除待办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20000" y="1409700"/>
            <a:ext cx="3905250" cy="19050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7650" y="1581150"/>
            <a:ext cx="3409950" cy="158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>
                <a:solidFill>
                  <a:srgbClr val="E8C87C"/>
                </a:solidFill>
                <a:latin typeface="微软雅黑"/>
              </a:rPr>
              <a:t>待办是单一事实源，</a:t>
            </a:r>
            <a:br/>
            <a:r>
              <a:rPr sz="1900" b="1">
                <a:solidFill>
                  <a:srgbClr val="E8C87C"/>
                </a:solidFill>
                <a:latin typeface="微软雅黑"/>
              </a:rPr>
              <a:t>意见的落实状态从待办派生。</a:t>
            </a:r>
          </a:p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/>
              </a:rPr>
              <a:t>两边各存一份，立刻出现「两处数据对不上」，</a:t>
            </a:r>
            <a:br/>
            <a:r>
              <a:rPr sz="1400" b="0">
                <a:solidFill>
                  <a:srgbClr val="FFFFFF"/>
                </a:solidFill>
                <a:latin typeface="微软雅黑"/>
              </a:rPr>
              <a:t>且没有天然的仲裁口径。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620000" y="3429000"/>
            <a:ext cx="3905250" cy="16383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620000" y="3429000"/>
            <a:ext cx="39052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620000" y="3771900"/>
            <a:ext cx="39052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48600" y="3429000"/>
            <a:ext cx="34480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派生放在同一事务里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29550" y="3943350"/>
            <a:ext cx="34861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派发失败就整体回滚，绝不出现「有意见但没待办」的漏项。部门反查之类的软失败在内部已兜底。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6750" y="5200650"/>
            <a:ext cx="10858500" cy="7239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750" y="5200650"/>
            <a:ext cx="47625" cy="723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3450" y="5200650"/>
            <a:ext cx="1032510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这是本项目最核心的一次方向修正：</a:t>
            </a:r>
            <a:r>
              <a:rPr sz="1900" b="0">
                <a:solidFill>
                  <a:srgbClr val="5A6472"/>
                </a:solidFill>
                <a:latin typeface="微软雅黑"/>
              </a:rPr>
              <a:t>  原先意见和待办各存一份，实际用起来对不上；现在只留一个事实源，另一边全部由它派生。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7239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索引、约束与平滑升级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428750"/>
            <a:ext cx="4095750" cy="238125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1638300"/>
            <a:ext cx="36195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>
                <a:solidFill>
                  <a:srgbClr val="E8C87C"/>
                </a:solidFill>
                <a:latin typeface="Arial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857500"/>
            <a:ext cx="35433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微软雅黑"/>
              </a:rPr>
              <a:t>个历史新增列已登记，启动时自动幂等补齐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4000500"/>
            <a:ext cx="4095750" cy="19240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4000500"/>
            <a:ext cx="4095750" cy="476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29100"/>
            <a:ext cx="3619500" cy="156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为什么不能靠建表脚本？</a:t>
            </a:r>
          </a:p>
          <a:p>
            <a:pPr algn="l">
              <a:lnSpc>
                <a:spcPct val="15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建表语句里的「已存在则跳过」对已建好的表不会补新列；而数据库层面加列又不支持「不存在才加」这种写法，两种数据库行为不一致。所以判断逻辑放到应用启动时做 —— 一套代码两边通用，且可重复执行。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57750" y="1428750"/>
            <a:ext cx="6667500" cy="2247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57750" y="1428750"/>
            <a:ext cx="66675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7750" y="1771650"/>
            <a:ext cx="66675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6350" y="1428750"/>
            <a:ext cx="62103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约束只加在真正需要的地方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86350" y="2038350"/>
            <a:ext cx="47625" cy="3238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850" y="2000250"/>
            <a:ext cx="5810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4 处唯一约束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登录名唯一、案件编号唯一、同类下小类名不重复、同一人对同一条意见只记一条已读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86350" y="2457450"/>
            <a:ext cx="47625" cy="32385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850" y="2419350"/>
            <a:ext cx="5810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1 处外键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反馈记录挂任务并级联删除 —— 删任务不留孤儿反馈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6350" y="2876550"/>
            <a:ext cx="47625" cy="3238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850" y="2838450"/>
            <a:ext cx="5810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1 处取值约束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意见分级只能是 A / B / 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86350" y="3295650"/>
            <a:ext cx="47625" cy="323850"/>
          </a:xfrm>
          <a:prstGeom prst="rect">
            <a:avLst/>
          </a:prstGeom>
          <a:solidFill>
            <a:srgbClr val="8A9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76850" y="3257550"/>
            <a:ext cx="58102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跨表引用一律不加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全靠服务层保证，删除与留档更灵活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57750" y="3829050"/>
            <a:ext cx="6667500" cy="20383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57750" y="3829050"/>
            <a:ext cx="6667500" cy="438150"/>
          </a:xfrm>
          <a:prstGeom prst="roundRect">
            <a:avLst>
              <a:gd name="adj" fmla="val 10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57750" y="4171950"/>
            <a:ext cx="6667500" cy="9525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86350" y="3829050"/>
            <a:ext cx="62103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13 条索引独立成文件</a:t>
            </a:r>
            <a:r>
              <a:rPr sz="1500" b="0">
                <a:solidFill>
                  <a:srgbClr val="E8C87C"/>
                </a:solidFill>
                <a:latin typeface="微软雅黑"/>
              </a:rPr>
              <a:t>　不写进通用建表脚本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86350" y="4362450"/>
            <a:ext cx="6210300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索引语法两种数据库不通用，混在建表脚本里会让生产环境直接失败；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组织树按上级查下属、按链路取整棵子树 —— 两者都建索引；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承办人关系按「案件 + 是否现行」与「人员 + 是否现行」双向建索引；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操作日志按「对象 + 时间」建索引，时间线因此不扫全表。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95250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096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8A45C"/>
                </a:solidFill>
                <a:latin typeface="Arial"/>
              </a:rPr>
              <a:t>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257300"/>
            <a:ext cx="38100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1B4A8C"/>
                </a:solidFill>
                <a:latin typeface="Arial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36576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657600"/>
            <a:ext cx="438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2294A"/>
                </a:solidFill>
                <a:latin typeface="宋体"/>
              </a:rPr>
              <a:t>接口与路由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434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系统对外的契约与数据边界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" y="49530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8768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12 个业务域共 120 个接口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350" y="52959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52197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路由守卫的五道关卡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350" y="56388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900" y="55626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数据范围由后端强制收敛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195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9100" y="1123950"/>
            <a:ext cx="285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宋体"/>
              </a:rPr>
              <a:t>120 个接口</a:t>
            </a:r>
            <a:br/>
            <a:r>
              <a:rPr sz="3400" b="1">
                <a:solidFill>
                  <a:srgbClr val="FFFFFF"/>
                </a:solidFill>
                <a:latin typeface="宋体"/>
              </a:rPr>
              <a:t>12 个业务域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9100" y="2286000"/>
            <a:ext cx="800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9100" y="2552700"/>
            <a:ext cx="2857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9FB4D0"/>
                </a:solidFill>
                <a:latin typeface="微软雅黑"/>
              </a:rPr>
              <a:t>接口数量不等于工作量，但它反映了复杂度的重心分布：盯办与待办两块最重，也是后续维护成本集中的地方。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100" y="4476750"/>
            <a:ext cx="2476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E8C87C"/>
                </a:solidFill>
                <a:latin typeface="Arial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" y="5200650"/>
            <a:ext cx="2667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微软雅黑"/>
              </a:rPr>
              <a:t>个 REST 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500" y="12382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案件盯办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95950" y="1295400"/>
            <a:ext cx="3143250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4450" y="13144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5950" y="15430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三子模块 + 计划 + 流转 + 措施 + 审批 + 批注 + 意见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0500" y="17335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待办与任务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95950" y="1790700"/>
            <a:ext cx="2266950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8150" y="18097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5950" y="20383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民警端 + 主子任务 + 反馈 + 材料 + 管理员总览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500" y="22288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案件管理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95950" y="2286000"/>
            <a:ext cx="1619250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0450" y="23050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5950" y="25336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增删改查 + 指派 + 状态 + 嫌疑人 + 提醒 + 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0500" y="27241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账号管理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95950" y="2781300"/>
            <a:ext cx="1076325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67525" y="28003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95950" y="30289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注册审核 + 角色 + 启停用 + 重置密码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0500" y="32194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员工图谱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95950" y="3276600"/>
            <a:ext cx="971550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2750" y="32956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95950" y="35242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组织树 + 扁平检索 + 增删改 + 导入导出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0500" y="37147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登录与注册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95950" y="3771900"/>
            <a:ext cx="866775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7975" y="37909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5950" y="40195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登录注册 + 字典 + 公开候选接口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0500" y="42100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操作日志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95950" y="4267200"/>
            <a:ext cx="752475" cy="228600"/>
          </a:xfrm>
          <a:prstGeom prst="roundRect">
            <a:avLst>
              <a:gd name="adj" fmla="val 3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3675" y="42862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8A45C"/>
                </a:solidFill>
                <a:latin typeface="Arial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5950" y="45148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全部管理层专属，含撤回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00500" y="47053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疑问问答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95950" y="4762500"/>
            <a:ext cx="647700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8900" y="47815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95950" y="50101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提问回答 + 回答修订 + 增删改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00500" y="52006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类别 / 信箱 / 附件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95950" y="5257800"/>
            <a:ext cx="1514475" cy="22860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05675" y="52768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4A8C"/>
                </a:solidFill>
                <a:latin typeface="Arial"/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95950" y="55054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字典维护 + 未读已读 + 上传下载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00500" y="5695950"/>
            <a:ext cx="16383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294A"/>
                </a:solidFill>
                <a:latin typeface="微软雅黑"/>
              </a:rPr>
              <a:t>事件流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95950" y="5753100"/>
            <a:ext cx="104775" cy="228600"/>
          </a:xfrm>
          <a:prstGeom prst="roundRect">
            <a:avLst>
              <a:gd name="adj" fmla="val 3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5975" y="5772150"/>
            <a:ext cx="438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8A45C"/>
                </a:solidFill>
                <a:latin typeface="Arial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95950" y="6000750"/>
            <a:ext cx="5524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29E"/>
                </a:solidFill>
                <a:latin typeface="微软雅黑"/>
              </a:rPr>
              <a:t>实时推送长连接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7239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路由守卫与数据可见范围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390650"/>
            <a:ext cx="6953250" cy="37719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2500" y="1619250"/>
            <a:ext cx="638175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52500" y="1619250"/>
            <a:ext cx="47625" cy="6096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2050" y="1771650"/>
            <a:ext cx="304800" cy="30480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2050" y="17716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1676400"/>
            <a:ext cx="5334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登录校验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未登录一律回登录页；公开页放行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95400" y="2228850"/>
            <a:ext cx="38100" cy="9525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2500" y="2324100"/>
            <a:ext cx="638175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2500" y="2324100"/>
            <a:ext cx="47625" cy="6096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62050" y="2476500"/>
            <a:ext cx="304800" cy="30480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2050" y="24765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9250" y="2381250"/>
            <a:ext cx="5334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民警白名单回落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普通民警访问管理层页面 → 自动回「我的案件」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95400" y="2933700"/>
            <a:ext cx="38100" cy="9525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52500" y="3028950"/>
            <a:ext cx="638175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2500" y="3028950"/>
            <a:ext cx="47625" cy="6096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62050" y="3181350"/>
            <a:ext cx="304800" cy="30480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62050" y="31813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9250" y="3086100"/>
            <a:ext cx="5334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整页权限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标注为管理层专属的页面直接回落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95400" y="3638550"/>
            <a:ext cx="38100" cy="9525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2500" y="3733800"/>
            <a:ext cx="638175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2500" y="3733800"/>
            <a:ext cx="47625" cy="6096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62050" y="3886200"/>
            <a:ext cx="304800" cy="304800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2050" y="38862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9250" y="3790950"/>
            <a:ext cx="5334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案件类型门控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四个主栏目必须先选案件类型才放行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95400" y="4343400"/>
            <a:ext cx="38100" cy="95250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2500" y="4438650"/>
            <a:ext cx="6381750" cy="609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2500" y="4438650"/>
            <a:ext cx="47625" cy="609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62050" y="4591050"/>
            <a:ext cx="304800" cy="304800"/>
          </a:xfrm>
          <a:prstGeom prst="ellipse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2050" y="459105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9250" y="4495800"/>
            <a:ext cx="5334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数据范围收敛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接口按登录人身份强制收敛，非管理层只看本人名下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0500" y="1390650"/>
            <a:ext cx="3714750" cy="180975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39100" y="1600200"/>
            <a:ext cx="325755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E8C87C"/>
                </a:solidFill>
                <a:latin typeface="微软雅黑"/>
              </a:rPr>
              <a:t>用白名单，不用黑名单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</a:rPr>
              <a:t>以后新增页面时，默认就是管理层专属，不会因为漏配而把不该开的页面开放给民警。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0500" y="3352800"/>
            <a:ext cx="3714750" cy="1809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10500" y="3352800"/>
            <a:ext cx="37147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0500" y="3695700"/>
            <a:ext cx="37147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39100" y="3352800"/>
            <a:ext cx="32575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数据范围由后端强制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0050" y="3924300"/>
            <a:ext cx="3295650" cy="1162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统计与列表接口在服务端按登录人身份收敛到本人名下案件，前端改查询参数无效。拦截顺序是「先查登录、再查权限」，保证任何时候都知道操作人是谁。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6750" y="5353050"/>
            <a:ext cx="10858500" cy="59055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6750" y="5353050"/>
            <a:ext cx="47625" cy="5905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3450" y="5353050"/>
            <a:ext cx="10325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实测踩过的坑：</a:t>
            </a:r>
            <a:r>
              <a:rPr sz="1700" b="0">
                <a:solidFill>
                  <a:srgbClr val="5A6472"/>
                </a:solidFill>
                <a:latin typeface="微软雅黑"/>
              </a:rPr>
              <a:t>  类型选择页本身也必须对民警开放，否则点菜单 → 跳选择页 → 被白名单弹回，表现为「菜单点不动」。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95250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096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8A45C"/>
                </a:solidFill>
                <a:latin typeface="Arial"/>
              </a:rPr>
              <a:t>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257300"/>
            <a:ext cx="38100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1B4A8C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36576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657600"/>
            <a:ext cx="438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2294A"/>
                </a:solidFill>
                <a:latin typeface="宋体"/>
              </a:rPr>
              <a:t>业务操作逻辑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434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系统在实际办案场景里怎么转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" y="49530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8768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一条案件的完整生命周期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350" y="52959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52197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九条关键设计决策及理由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350" y="56388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900" y="55626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通知与实时同步机制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6667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一条案件的完整生命周期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0" y="438150"/>
            <a:ext cx="39052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0" b="1">
                <a:solidFill>
                  <a:srgbClr val="1B4A8C"/>
                </a:solidFill>
                <a:latin typeface="Arial"/>
              </a:rPr>
              <a:t>4</a:t>
            </a:r>
            <a:r>
              <a:rPr sz="2600" b="1">
                <a:solidFill>
                  <a:srgbClr val="12294A"/>
                </a:solidFill>
                <a:latin typeface="宋体"/>
              </a:rPr>
              <a:t> 个阶段 · </a:t>
            </a:r>
            <a:r>
              <a:rPr sz="3000" b="1">
                <a:solidFill>
                  <a:srgbClr val="C8A45C"/>
                </a:solidFill>
                <a:latin typeface="宋体"/>
              </a:rPr>
              <a:t>全程留痕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1333500"/>
            <a:ext cx="10858500" cy="23241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6750" y="1619250"/>
            <a:ext cx="1866900" cy="1657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1619250"/>
            <a:ext cx="1866900" cy="476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8200" y="1809750"/>
            <a:ext cx="323850" cy="32385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200" y="18097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190750"/>
            <a:ext cx="1524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收案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四类来源统一入库</a:t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手工 / PDF / Word / 表格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9850" y="241935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38125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14650" y="1619250"/>
            <a:ext cx="1866900" cy="1657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14650" y="1619250"/>
            <a:ext cx="1866900" cy="476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86100" y="1809750"/>
            <a:ext cx="323850" cy="32385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6100" y="18097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6100" y="2190750"/>
            <a:ext cx="1524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指派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定主办协办与期限</a:t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办案组别不符会被拦下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57750" y="241935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38725" y="238125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62550" y="1619250"/>
            <a:ext cx="1866900" cy="1657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2550" y="1619250"/>
            <a:ext cx="1866900" cy="476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34000" y="1809750"/>
            <a:ext cx="323850" cy="323850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34000" y="18097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0" y="2190750"/>
            <a:ext cx="1524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定任务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领导提意见 → 自动派发</a:t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子任务由承办人自己拆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05650" y="241935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6625" y="238125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10450" y="1619250"/>
            <a:ext cx="1866900" cy="1657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10450" y="1619250"/>
            <a:ext cx="1866900" cy="476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81900" y="1809750"/>
            <a:ext cx="323850" cy="32385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1900" y="18097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1900" y="2190750"/>
            <a:ext cx="1524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盯办推进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强制措施 / 阶段流转</a:t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审批与强制措施登记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53550" y="2419350"/>
            <a:ext cx="2286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4525" y="2381250"/>
            <a:ext cx="57150" cy="1047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58350" y="1619250"/>
            <a:ext cx="1866900" cy="16573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58350" y="1619250"/>
            <a:ext cx="1866900" cy="47625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829800" y="1809750"/>
            <a:ext cx="323850" cy="323850"/>
          </a:xfrm>
          <a:prstGeom prst="ellipse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29800" y="1809750"/>
            <a:ext cx="32385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190750"/>
            <a:ext cx="1524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294A"/>
                </a:solidFill>
                <a:latin typeface="微软雅黑"/>
              </a:rPr>
              <a:t>办结归档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管理层确认办结</a:t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状态锁定、留痕可查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50" y="3752850"/>
            <a:ext cx="3467100" cy="2000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6750" y="37528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6750" y="4076700"/>
            <a:ext cx="3467100" cy="1143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7250" y="3752850"/>
            <a:ext cx="30861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办案人怎么完成任务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250" y="4267200"/>
            <a:ext cx="30861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勾选任务 → 弹出汇报窗口，选落实状态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写落实说明；上传材料填「平台 + 文件名」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主任务需至少一条反馈说明，子任务全完成才能勾主任务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62450" y="3752850"/>
            <a:ext cx="3467100" cy="2000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62450" y="37528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62450" y="4076700"/>
            <a:ext cx="3467100" cy="1143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52950" y="3752850"/>
            <a:ext cx="30861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谁可以做什么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52950" y="4267200"/>
            <a:ext cx="30861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定主任务、改内容、删任务、办结撤销 → 管理层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拆子任务、勾子任务、写反馈 → 承办人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改反馈 → 提交人本人或管理层（留修订痕迹）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58150" y="3752850"/>
            <a:ext cx="3467100" cy="2000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058150" y="3752850"/>
            <a:ext cx="3467100" cy="438150"/>
          </a:xfrm>
          <a:prstGeom prst="roundRect">
            <a:avLst>
              <a:gd name="adj" fmla="val 10000"/>
            </a:avLst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58150" y="4076700"/>
            <a:ext cx="3467100" cy="11430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8650" y="3752850"/>
            <a:ext cx="30861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盯办的三个子模块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48650" y="4267200"/>
            <a:ext cx="30861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初查 / 刑拘在办 / 取保监居，由「强制措施」字段表达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侦查终结需审批，退回补侦要填意见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300" b="0">
                <a:solidFill>
                  <a:srgbClr val="5A6472"/>
                </a:solidFill>
                <a:latin typeface="微软雅黑"/>
              </a:rPr>
              <a:t>八条预警规则自动算逾期与临期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543300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000" y="476250"/>
            <a:ext cx="285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九条关键</a:t>
            </a:r>
            <a:br/>
            <a:r>
              <a:rPr sz="3400" b="1">
                <a:solidFill>
                  <a:srgbClr val="12294A"/>
                </a:solidFill>
                <a:latin typeface="宋体"/>
              </a:rPr>
              <a:t>设计决策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1600200"/>
            <a:ext cx="8001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000" y="1866900"/>
            <a:ext cx="28194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A6472"/>
                </a:solidFill>
                <a:latin typeface="微软雅黑"/>
              </a:rPr>
              <a:t>这九条不是过度设计，每一条都对应一个真实踩过的坑 —— 「为什么不那么做」比「做了什么」更重要。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1000" y="3886200"/>
            <a:ext cx="2819400" cy="203835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0550" y="4114800"/>
            <a:ext cx="2400300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共同的判断标准：让人「保存不了」比让人「填错」更糟；数据缺失可以补，口径不一致要返工。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11049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057650" y="12192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7650" y="12192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6750" y="11049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类型门控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72300" y="1238250"/>
            <a:ext cx="28575" cy="2476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43750" y="11049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四个主栏目必须先选案件类型，统计口径从一开始锁定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05250" y="16764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057650" y="17907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57650" y="17907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6750" y="16764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办案组别约束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72300" y="1809750"/>
            <a:ext cx="28575" cy="2476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3750" y="16764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初查组 / 清案组 / 不限，空值一律按「不限」处理 —— 存量员工不改也能被指派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5250" y="22479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57650" y="23622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7650" y="23622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6750" y="22479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层级由职务推导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72300" y="2381250"/>
            <a:ext cx="28575" cy="2476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43750" y="22479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不用上下级连线决定层级，连线只决定同层挂在谁名下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05250" y="28194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057650" y="29337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7650" y="29337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6750" y="28194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待办单一事实源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72300" y="2952750"/>
            <a:ext cx="28575" cy="2476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43750" y="28194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意见不另存一份，落实状态从待办派生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05250" y="33909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057650" y="35052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7650" y="35052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6750" y="33909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上传声明独立成列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72300" y="3524250"/>
            <a:ext cx="28575" cy="2476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43750" y="33909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时间 / 平台 / 文件名各自独立，不拼成一整句话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05250" y="39624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057650" y="40767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57650" y="40767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6750" y="39624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快照式撤回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72300" y="4095750"/>
            <a:ext cx="28575" cy="2476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43750" y="39624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写操作前后各存一份完整快照，撤回等于原样写回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05250" y="45339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057650" y="46482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7650" y="46482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76750" y="45339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注解粗粒度 + 服务细粒度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72300" y="4667250"/>
            <a:ext cx="28575" cy="24765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43750" y="45339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26 处管理层专属标注做门禁；是否本人承办下沉服务层判断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905250" y="51054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057650" y="52197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57650" y="52197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76750" y="51054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反馈累积不覆盖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72300" y="5238750"/>
            <a:ext cx="28575" cy="24765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43750" y="51054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每次反馈都留一条记录，历史记录保留当时的状态快照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05250" y="5676900"/>
            <a:ext cx="7620000" cy="5143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057650" y="5791200"/>
            <a:ext cx="285750" cy="285750"/>
          </a:xfrm>
          <a:prstGeom prst="roundRect">
            <a:avLst>
              <a:gd name="adj" fmla="val 30000"/>
            </a:avLst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7650" y="57912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76750" y="5676900"/>
            <a:ext cx="245745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2294A"/>
                </a:solidFill>
                <a:latin typeface="微软雅黑"/>
              </a:rPr>
              <a:t>异常值一律归一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972300" y="5810250"/>
            <a:ext cx="28575" cy="24765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43750" y="5676900"/>
            <a:ext cx="4267200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空值、非法值、旧数据兜底为「不限」—— 宁可宽松，不可瘫痪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66675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通知与实时同步机制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390650"/>
            <a:ext cx="3810000" cy="146685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5350" y="1600200"/>
            <a:ext cx="3352800" cy="1123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E8C87C"/>
                </a:solidFill>
                <a:latin typeface="微软雅黑"/>
              </a:rPr>
              <a:t>埋点只有一个汇聚点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</a:rPr>
              <a:t>所有写操作在日志落库后统一广播。任何入口的写操作都逃不过，不存在「漏埋」的可能。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50" y="3009900"/>
            <a:ext cx="3810000" cy="1447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6750" y="3009900"/>
            <a:ext cx="38100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333750"/>
            <a:ext cx="38100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350" y="3009900"/>
            <a:ext cx="3352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分发按收件人维度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562350"/>
            <a:ext cx="33909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B4A8C"/>
                </a:solidFill>
                <a:latin typeface="微软雅黑"/>
              </a:rPr>
              <a:t>民警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 只收本人承办案件相关的；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1B4A8C"/>
                </a:solidFill>
                <a:latin typeface="微软雅黑"/>
              </a:rPr>
              <a:t>管理层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 收全站所有其他人的操作（他们要总览全局）；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4A8C"/>
                </a:solidFill>
                <a:latin typeface="微软雅黑"/>
              </a:rPr>
              <a:t>任何人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 不收自己触发的操作。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50" y="4610100"/>
            <a:ext cx="3810000" cy="1314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6750" y="4610100"/>
            <a:ext cx="3810000" cy="4191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" y="4933950"/>
            <a:ext cx="38100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350" y="4610100"/>
            <a:ext cx="33528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白名单降噪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5143500"/>
            <a:ext cx="3390900" cy="723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2"/>
                </a:solidFill>
                <a:latin typeface="微软雅黑"/>
              </a:rPr>
              <a:t>只通知有业务含义的变更（约 30 类动作）；拖拽排序、排序重排、撤回这类内部噪声一律不发。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62500" y="1390650"/>
            <a:ext cx="6762750" cy="285750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91100" y="1562100"/>
            <a:ext cx="63055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A6472"/>
                </a:solidFill>
                <a:latin typeface="微软雅黑"/>
              </a:rPr>
              <a:t>一次写操作引发的连锁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43500" y="1905000"/>
            <a:ext cx="6000750" cy="5524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43500" y="1905000"/>
            <a:ext cx="47625" cy="5524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1150" y="1933575"/>
            <a:ext cx="54292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任意写操作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新建 / 修改 / 指派 / 流转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4825" y="2457450"/>
            <a:ext cx="381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43500" y="2552700"/>
            <a:ext cx="6000750" cy="5524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43500" y="2552700"/>
            <a:ext cx="47625" cy="5524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1150" y="2581275"/>
            <a:ext cx="54292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操作日志落库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全量埋点的唯一汇聚点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4825" y="3105150"/>
            <a:ext cx="381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143500" y="3200400"/>
            <a:ext cx="6000750" cy="5524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43500" y="3200400"/>
            <a:ext cx="47625" cy="5524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1150" y="3228975"/>
            <a:ext cx="54292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实时广播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全站在线页面即时刷新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24825" y="3752850"/>
            <a:ext cx="381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43500" y="3848100"/>
            <a:ext cx="6000750" cy="5524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143500" y="3848100"/>
            <a:ext cx="47625" cy="5524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1150" y="3876675"/>
            <a:ext cx="54292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派生信箱通知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按收件人维度分发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62500" y="4400550"/>
            <a:ext cx="6762750" cy="152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762500" y="4400550"/>
            <a:ext cx="67627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62500" y="4743450"/>
            <a:ext cx="67627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91100" y="4400550"/>
            <a:ext cx="63055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点信件直达具体内容，并短暂高亮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91100" y="4991100"/>
            <a:ext cx="63055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日志本身只记录到案件一级，无法事后反查具体是哪条任务、哪条疑问；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所以埋点时由业务方法显式把目标传下来，落在通知记录里；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点开信件 → 打开任务详情浮窗 → 滚动定位 → 高亮 2.6 秒后淡出。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0"/>
            <a:ext cx="95250" cy="68580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0096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8A45C"/>
                </a:solidFill>
                <a:latin typeface="Arial"/>
              </a:rPr>
              <a:t>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257300"/>
            <a:ext cx="3810000" cy="205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0" b="1">
                <a:solidFill>
                  <a:srgbClr val="1B4A8C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3657600"/>
            <a:ext cx="57150" cy="5905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3657600"/>
            <a:ext cx="4381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2294A"/>
                </a:solidFill>
                <a:latin typeface="宋体"/>
              </a:rPr>
              <a:t>保障与展望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343400"/>
            <a:ext cx="4381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A6472"/>
                </a:solidFill>
                <a:latin typeface="微软雅黑"/>
              </a:rPr>
              <a:t>质量怎么保，还差什么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350" y="49530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4900" y="48768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14 个自动化自检脚本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5350" y="52959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4900" y="52197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上线前八道硬门槛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5350" y="5638800"/>
            <a:ext cx="76200" cy="7620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04900" y="5562600"/>
            <a:ext cx="3810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三阶段路线与资源需求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7239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质量保障不是靠人工抽查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447800"/>
            <a:ext cx="3810000" cy="22479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1550" y="1619250"/>
            <a:ext cx="323850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0" b="1">
                <a:solidFill>
                  <a:srgbClr val="E8C87C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781300"/>
            <a:ext cx="32766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微软雅黑"/>
              </a:rPr>
              <a:t>个自动化自检脚本</a:t>
            </a:r>
            <a:br/>
            <a:r>
              <a:rPr sz="2000" b="0">
                <a:solidFill>
                  <a:srgbClr val="FFFFFF"/>
                </a:solidFill>
                <a:latin typeface="微软雅黑"/>
              </a:rPr>
              <a:t>每次改动都跑回归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50" y="3829050"/>
            <a:ext cx="381000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3829050"/>
            <a:ext cx="3810000" cy="476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5350" y="4019550"/>
            <a:ext cx="33528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为什么必须落成脚本？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4400550"/>
            <a:ext cx="3352800" cy="1390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2"/>
                </a:solidFill>
                <a:latin typeface="微软雅黑"/>
              </a:rPr>
              <a:t>「统计口径对不对」这类问题，靠人眼看页面极易漏。比如完成规则从「必须有佐证材料」改成「必须有反馈说明」，全库体检若不跟着改规则，就会误报十几处不一致。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57750" y="1333500"/>
            <a:ext cx="6667500" cy="1485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57750" y="1333500"/>
            <a:ext cx="47625" cy="148590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5400" y="14668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业务正确性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61722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字段完整性自检（32 项）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流程流转与进度归零（41 项）、指派与状态流转（20 项）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撤回机制专项校验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57750" y="2914650"/>
            <a:ext cx="6667500" cy="1485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57750" y="2914650"/>
            <a:ext cx="47625" cy="14859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5400" y="304800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权限与口径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400" y="3352800"/>
            <a:ext cx="61722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数据范围收敛校验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局域网全量回归（41 项）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持久化落库校验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57750" y="4495800"/>
            <a:ext cx="6667500" cy="1485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57750" y="4495800"/>
            <a:ext cx="47625" cy="1485900"/>
          </a:xfrm>
          <a:prstGeom prst="rect">
            <a:avLst/>
          </a:prstGeom>
          <a:solidFill>
            <a:srgbClr val="1E8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5400" y="4629150"/>
            <a:ext cx="381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2294A"/>
                </a:solidFill>
                <a:latin typeface="微软雅黑"/>
              </a:rPr>
              <a:t>交互链路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5400" y="4933950"/>
            <a:ext cx="617220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待办与子任务（32 项）、意见操作（29 项）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子任务详情与反馈修订（21 项）、回答修订（13 项）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8E58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信箱与通知（8 项）、全库数据自洽性体检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7239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上线前的八道硬门槛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6750" y="1314450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5A6472"/>
                </a:solidFill>
                <a:latin typeface="微软雅黑"/>
              </a:rPr>
              <a:t>这八项不是功能缺失，是安全与可运维性缺口 —— 上线前必须逐项整改。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50" y="17145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6750" y="17145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6300" y="18669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6300" y="18669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18097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密码明文存储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演示版为明文比对，需改为加盐哈希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50" y="28194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6750" y="28194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6300" y="29718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6300" y="29718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9146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登录态在进程内存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重启全员掉线；多实例部署互不认识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50" y="39243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66750" y="39243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6300" y="40767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6300" y="40767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300" y="40195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跨域全开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任意网站可带用户凭据调接口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50" y="50292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6750" y="50292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6300" y="51816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6300" y="51816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300" y="51244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撤回无并发保护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两人同时操作可能互相覆盖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17145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17145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24350" y="18669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24350" y="18669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24350" y="18097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附件下载不记痕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无法证明谁看过案件材料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0" y="28194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0" y="28194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24350" y="29718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4350" y="29718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4350" y="29146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配置带默认密码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弱口令，必须去掉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39243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9243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324350" y="40767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24350" y="40767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4350" y="40195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建表无版本管理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只能加表不能改列，需引入迁移工具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0" y="5029200"/>
            <a:ext cx="3219450" cy="990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0" y="5029200"/>
            <a:ext cx="47625" cy="990600"/>
          </a:xfrm>
          <a:prstGeom prst="rect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24350" y="5181600"/>
            <a:ext cx="304800" cy="304800"/>
          </a:xfrm>
          <a:prstGeom prst="roundRect">
            <a:avLst>
              <a:gd name="adj" fmla="val 30000"/>
            </a:avLst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4350" y="5181600"/>
            <a:ext cx="30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24350" y="5124450"/>
            <a:ext cx="2800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2294A"/>
                </a:solidFill>
                <a:latin typeface="微软雅黑"/>
              </a:rPr>
              <a:t>文件路径存在越界风险</a:t>
            </a:r>
            <a:r>
              <a:rPr sz="1300" b="0">
                <a:solidFill>
                  <a:srgbClr val="5A6472"/>
                </a:solidFill>
                <a:latin typeface="微软雅黑"/>
              </a:rPr>
              <a:t/>
            </a:r>
            <a:br/>
            <a:r>
              <a:rPr sz="1300" b="0">
                <a:solidFill>
                  <a:srgbClr val="5A6472"/>
                </a:solidFill>
                <a:latin typeface="微软雅黑"/>
              </a:rPr>
              <a:t>存储路径被污染可能跳出目录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20000" y="1714500"/>
            <a:ext cx="3905250" cy="198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620000" y="1714500"/>
            <a:ext cx="3905250" cy="43815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620000" y="2057400"/>
            <a:ext cx="390525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48600" y="1714500"/>
            <a:ext cx="34480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附件存储风险最高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29550" y="2286000"/>
            <a:ext cx="3486150" cy="135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只有一份、异地无副本 —— 磁盘故障即永久丢失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没有版本与防篡改 —— 事后无法证明当时提交的是什么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删除是真删 —— 误删不可恢复</a:t>
            </a:r>
          </a:p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与代码同盘 —— 重装或迁移时容易被一起清掉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20000" y="3848100"/>
            <a:ext cx="3905250" cy="20955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848600" y="4076700"/>
            <a:ext cx="344805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E8C87C"/>
                </a:solidFill>
                <a:latin typeface="微软雅黑"/>
              </a:rPr>
              <a:t>不要为了省事把附件塞进数据库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微软雅黑"/>
              </a:rPr>
              <a:t>数据库会被附件撑到几十 GB，备份变慢、恢复变慢，而且从此数据库备份和附件备份绑死。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8C87C"/>
                </a:solidFill>
                <a:latin typeface="微软雅黑"/>
              </a:rPr>
              <a:t>现在的架构是对的：</a:t>
            </a:r>
            <a:r>
              <a:rPr sz="1500" b="0">
                <a:solidFill>
                  <a:srgbClr val="FFFFFF"/>
                </a:solidFill>
                <a:latin typeface="微软雅黑"/>
              </a:rPr>
              <a:t>库内存路径、磁盘存文件。缺的是备份与版本控制，不是架构。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50" y="495300"/>
            <a:ext cx="72390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2294A"/>
                </a:solidFill>
                <a:latin typeface="宋体"/>
              </a:rPr>
              <a:t>后续规划与资源需求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66750" y="1123950"/>
            <a:ext cx="9525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50" y="1390650"/>
            <a:ext cx="10858500" cy="2343150"/>
          </a:xfrm>
          <a:prstGeom prst="roundRect">
            <a:avLst>
              <a:gd name="adj" fmla="val 4000"/>
            </a:avLst>
          </a:prstGeom>
          <a:solidFill>
            <a:srgbClr val="F8FAFD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38250" y="2266950"/>
            <a:ext cx="9715500" cy="28575"/>
          </a:xfrm>
          <a:prstGeom prst="rect">
            <a:avLst/>
          </a:prstGeom>
          <a:solidFill>
            <a:srgbClr val="DF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14600" y="2162175"/>
            <a:ext cx="209550" cy="209550"/>
          </a:xfrm>
          <a:prstGeom prst="ellipse">
            <a:avLst/>
          </a:prstGeom>
          <a:solidFill>
            <a:srgbClr val="C6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7750" y="1714500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62A2A"/>
                </a:solidFill>
                <a:latin typeface="微软雅黑"/>
              </a:rPr>
              <a:t>第一阶段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7750" y="251460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294A"/>
                </a:solidFill>
                <a:latin typeface="宋体"/>
              </a:rPr>
              <a:t>上线前必须整改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2819400"/>
            <a:ext cx="2762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八项安全与运维缺口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附件每日备份脚本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62A2A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密码加盐 + 登录态迁出会话存储</a:t>
            </a:r>
          </a:p>
        </p:txBody>
      </p:sp>
      <p:sp>
        <p:nvSpPr>
          <p:cNvPr id="11" name="Oval 10"/>
          <p:cNvSpPr/>
          <p:nvPr/>
        </p:nvSpPr>
        <p:spPr>
          <a:xfrm>
            <a:off x="6372225" y="2162175"/>
            <a:ext cx="209550" cy="209550"/>
          </a:xfrm>
          <a:prstGeom prst="ellipse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5375" y="1714500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A45C"/>
                </a:solidFill>
                <a:latin typeface="微软雅黑"/>
              </a:rPr>
              <a:t>第二阶段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5375" y="251460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294A"/>
                </a:solidFill>
                <a:latin typeface="宋体"/>
              </a:rPr>
              <a:t>稳定运维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5875" y="2819400"/>
            <a:ext cx="2762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到期提醒改为主动推送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健康检查与运行指标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补单元测试与接口测试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C8A45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操作日志归档与瘦身</a:t>
            </a:r>
          </a:p>
        </p:txBody>
      </p:sp>
      <p:sp>
        <p:nvSpPr>
          <p:cNvPr id="15" name="Oval 14"/>
          <p:cNvSpPr/>
          <p:nvPr/>
        </p:nvSpPr>
        <p:spPr>
          <a:xfrm>
            <a:off x="10229850" y="2162175"/>
            <a:ext cx="209550" cy="209550"/>
          </a:xfrm>
          <a:prstGeom prst="ellipse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3000" y="1714500"/>
            <a:ext cx="3143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4A8C"/>
                </a:solidFill>
                <a:latin typeface="微软雅黑"/>
              </a:rPr>
              <a:t>第三阶段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0" y="2514600"/>
            <a:ext cx="31432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2294A"/>
                </a:solidFill>
                <a:latin typeface="宋体"/>
              </a:rPr>
              <a:t>工程化与体验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0" y="2819400"/>
            <a:ext cx="2762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/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接口文档自动生成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前端按需加载与懒加载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操作日志记「变更前后值」供审计</a:t>
            </a:r>
          </a:p>
          <a:p>
            <a:pPr algn="ctr">
              <a:lnSpc>
                <a:spcPct val="138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1B4A8C"/>
                </a:solidFill>
                <a:latin typeface="微软雅黑"/>
              </a:rPr>
              <a:t>· </a:t>
            </a:r>
            <a:r>
              <a:rPr sz="1400" b="0">
                <a:solidFill>
                  <a:srgbClr val="5A6472"/>
                </a:solidFill>
                <a:latin typeface="微软雅黑"/>
              </a:rPr>
              <a:t>统计报表导出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50" y="3810000"/>
            <a:ext cx="5295900" cy="1981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F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750" y="3810000"/>
            <a:ext cx="5295900" cy="457200"/>
          </a:xfrm>
          <a:prstGeom prst="roundRect">
            <a:avLst>
              <a:gd name="adj" fmla="val 10000"/>
            </a:avLst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6750" y="4171950"/>
            <a:ext cx="5295900" cy="95250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" y="3810000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资源需求实测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362450"/>
            <a:ext cx="4838700" cy="1352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12294A"/>
                </a:solidFill>
                <a:latin typeface="微软雅黑"/>
              </a:rPr>
              <a:t>实测：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本机 32 GB 内存、20 核，后端约 400–700 MB，数据库约 300–500 MB，合计 1 GB 以内，占可用内存不到 7%。</a:t>
            </a:r>
          </a:p>
          <a:p>
            <a:pPr algn="l">
              <a:lnSpc>
                <a:spcPct val="14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2294A"/>
                </a:solidFill>
                <a:latin typeface="微软雅黑"/>
              </a:rPr>
              <a:t>判断：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50 人单位同时在线通常不到 10 人，</a:t>
            </a:r>
            <a:r>
              <a:rPr sz="1500" b="1">
                <a:solidFill>
                  <a:srgbClr val="C8A45C"/>
                </a:solidFill>
                <a:latin typeface="微软雅黑"/>
              </a:rPr>
              <a:t>数据库不需要单独部署</a:t>
            </a:r>
            <a:r>
              <a:rPr sz="1500" b="0">
                <a:solidFill>
                  <a:srgbClr val="5A6472"/>
                </a:solidFill>
                <a:latin typeface="微软雅黑"/>
              </a:rPr>
              <a:t>，一套普通办公服务器即可。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29350" y="3810000"/>
            <a:ext cx="5295900" cy="1981200"/>
          </a:xfrm>
          <a:prstGeom prst="roundRect">
            <a:avLst>
              <a:gd name="adj" fmla="val 6000"/>
            </a:avLst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6050" y="3981450"/>
            <a:ext cx="4762500" cy="163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1000"/>
              </a:spcAft>
            </a:pPr>
            <a:r>
              <a:rPr sz="2100" b="1">
                <a:solidFill>
                  <a:srgbClr val="E8C87C"/>
                </a:solidFill>
                <a:latin typeface="微软雅黑"/>
              </a:rPr>
              <a:t>优先级的建议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微软雅黑"/>
              </a:rPr>
              <a:t>八项安全缺口里，「密码明文」与「跨域全开」影响面最大，建议优先；附件备份脚本成本最低、收益最直接，可同步进行。到期主动推送涉及新增定时任务能力，建议放在第二阶段。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8A929E"/>
                </a:solidFill>
                <a:latin typeface="Arial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05750" y="0"/>
            <a:ext cx="2857500" cy="2857500"/>
          </a:xfrm>
          <a:prstGeom prst="ellipse">
            <a:avLst/>
          </a:prstGeom>
          <a:solidFill>
            <a:srgbClr val="1A3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86750" y="381000"/>
            <a:ext cx="2095500" cy="2095500"/>
          </a:xfrm>
          <a:prstGeom prst="ellipse">
            <a:avLst/>
          </a:prstGeom>
          <a:solidFill>
            <a:srgbClr val="224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810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91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573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954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36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717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099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4805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86200" y="4476750"/>
            <a:ext cx="19050" cy="1428750"/>
          </a:xfrm>
          <a:prstGeom prst="rect">
            <a:avLst/>
          </a:prstGeom>
          <a:solidFill>
            <a:srgbClr val="1C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750" y="1600200"/>
            <a:ext cx="7620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FFFFFF"/>
                </a:solidFill>
                <a:latin typeface="宋体"/>
              </a:rPr>
              <a:t>汇报完毕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850" y="2647950"/>
            <a:ext cx="1524000" cy="2857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6750" y="2914650"/>
            <a:ext cx="7239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E8C87C"/>
                </a:solidFill>
                <a:latin typeface="微软雅黑"/>
              </a:rPr>
              <a:t>请领导指示下一步的优先级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3619500"/>
            <a:ext cx="7620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FFFFFF"/>
                </a:solidFill>
                <a:latin typeface="微软雅黑"/>
              </a:rPr>
              <a:t>闭环已经成型、门槛清晰可查。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9FB4D0"/>
                </a:solidFill>
                <a:latin typeface="微软雅黑"/>
              </a:rPr>
              <a:t>需要请示的是：整改与推送两件事的先后顺序。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0" y="1676400"/>
            <a:ext cx="1485900" cy="120015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0" y="1676400"/>
            <a:ext cx="47625" cy="12001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20150" y="1847850"/>
            <a:ext cx="1143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8C87C"/>
                </a:solidFill>
                <a:latin typeface="Arial"/>
              </a:rPr>
              <a:t>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0150" y="2476500"/>
            <a:ext cx="114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张数据表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8900" y="1676400"/>
            <a:ext cx="1485900" cy="120015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48900" y="1676400"/>
            <a:ext cx="47625" cy="12001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96550" y="1847850"/>
            <a:ext cx="1143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8C87C"/>
                </a:solidFill>
                <a:latin typeface="Arial"/>
              </a:rPr>
              <a:t>120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96550" y="2476500"/>
            <a:ext cx="114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个业务接口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2500" y="3105150"/>
            <a:ext cx="1485900" cy="120015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72500" y="3105150"/>
            <a:ext cx="47625" cy="12001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0150" y="3276600"/>
            <a:ext cx="1143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8C87C"/>
                </a:solidFill>
                <a:latin typeface="Arial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0150" y="3905250"/>
            <a:ext cx="114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个自检脚本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8900" y="3105150"/>
            <a:ext cx="1485900" cy="1200150"/>
          </a:xfrm>
          <a:prstGeom prst="roundRect">
            <a:avLst>
              <a:gd name="adj" fmla="val 8000"/>
            </a:avLst>
          </a:prstGeom>
          <a:solidFill>
            <a:srgbClr val="183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48900" y="3105150"/>
            <a:ext cx="47625" cy="1200150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96550" y="3276600"/>
            <a:ext cx="11430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E8C87C"/>
                </a:solidFill>
                <a:latin typeface="Arial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6550" y="3905250"/>
            <a:ext cx="11430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微软雅黑"/>
              </a:rPr>
              <a:t>项待整改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24600"/>
            <a:ext cx="6339840" cy="85725"/>
          </a:xfrm>
          <a:prstGeom prst="rect">
            <a:avLst/>
          </a:prstGeom>
          <a:solidFill>
            <a:srgbClr val="1B4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39840" y="6324600"/>
            <a:ext cx="3657600" cy="85725"/>
          </a:xfrm>
          <a:prstGeom prst="rect">
            <a:avLst/>
          </a:prstGeom>
          <a:solidFill>
            <a:srgbClr val="122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997440" y="6324600"/>
            <a:ext cx="2194560" cy="85725"/>
          </a:xfrm>
          <a:prstGeom prst="rect">
            <a:avLst/>
          </a:prstGeom>
          <a:solidFill>
            <a:srgbClr val="C8A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6750" y="6496050"/>
            <a:ext cx="10858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微软雅黑"/>
              </a:rPr>
              <a:t>案件指派系统 CaseFlow · 技术汇报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1250" y="649605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9FB4D0"/>
                </a:solidFill>
                <a:latin typeface="Arial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